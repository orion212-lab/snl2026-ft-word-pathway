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1" r:id="rId5"/>
  </p:sldMasterIdLst>
  <p:notesMasterIdLst>
    <p:notesMasterId r:id="rId7"/>
  </p:notesMasterIdLst>
  <p:sldIdLst>
    <p:sldId id="260" r:id="rId6"/>
  </p:sldIdLst>
  <p:sldSz cx="42479913" cy="30240288"/>
  <p:notesSz cx="6858000" cy="9144000"/>
  <p:defaultTextStyle>
    <a:defPPr>
      <a:defRPr lang="en-US"/>
    </a:defPPr>
    <a:lvl1pPr marL="0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1pPr>
    <a:lvl2pPr marL="415487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2pPr>
    <a:lvl3pPr marL="830979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3pPr>
    <a:lvl4pPr marL="1246467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4pPr>
    <a:lvl5pPr marL="1661959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5pPr>
    <a:lvl6pPr marL="2077446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6pPr>
    <a:lvl7pPr marL="2492934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7pPr>
    <a:lvl8pPr marL="2908425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8pPr>
    <a:lvl9pPr marL="3323913" algn="l" defTabSz="415487" rtl="0" eaLnBrk="1" latinLnBrk="0" hangingPunct="1">
      <a:defRPr sz="163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3F1"/>
    <a:srgbClr val="44546A"/>
    <a:srgbClr val="941100"/>
    <a:srgbClr val="009051"/>
    <a:srgbClr val="005493"/>
    <a:srgbClr val="945200"/>
    <a:srgbClr val="FFB9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8B63F5-5966-4BD3-A570-8D8C02CD7020}" v="6" dt="2026-09-26T17:31:13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14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en Senziani" userId="5c3d0745-2dbb-4368-afd4-85530d3cc825" providerId="ADAL" clId="{4FFB5284-8569-49DA-85A1-DF3EC24A4688}"/>
    <pc:docChg chg="modSld">
      <pc:chgData name="Kishen Senziani" userId="5c3d0745-2dbb-4368-afd4-85530d3cc825" providerId="ADAL" clId="{4FFB5284-8569-49DA-85A1-DF3EC24A4688}" dt="2026-09-26T17:31:11.138" v="4"/>
      <pc:docMkLst>
        <pc:docMk/>
      </pc:docMkLst>
      <pc:sldChg chg="addSp modSp">
        <pc:chgData name="Kishen Senziani" userId="5c3d0745-2dbb-4368-afd4-85530d3cc825" providerId="ADAL" clId="{4FFB5284-8569-49DA-85A1-DF3EC24A4688}" dt="2026-09-26T17:31:11.138" v="4"/>
        <pc:sldMkLst>
          <pc:docMk/>
          <pc:sldMk cId="3420165698" sldId="260"/>
        </pc:sldMkLst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28" creationId="{1A085EFA-1F61-EAE4-5BA6-528184BAB2ED}"/>
          </ac:spMkLst>
        </pc:spChg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29" creationId="{588EFFAC-C076-83D9-EDA2-7819D2C63AE6}"/>
          </ac:spMkLst>
        </pc:spChg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33" creationId="{0D225E36-F953-6599-3082-C93852093DD2}"/>
          </ac:spMkLst>
        </pc:spChg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35" creationId="{54EDE0E6-04C4-9CD4-2716-5027CDD7D361}"/>
          </ac:spMkLst>
        </pc:spChg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46" creationId="{1CFB4DE7-A8C8-64ED-481F-84096C01B2FE}"/>
          </ac:spMkLst>
        </pc:spChg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47" creationId="{EA6D791B-4493-E867-7DF7-B8FB2DAD79D8}"/>
          </ac:spMkLst>
        </pc:spChg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48" creationId="{781C5D87-469B-B9D5-498F-864FDB656A23}"/>
          </ac:spMkLst>
        </pc:spChg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50" creationId="{A0E0BA0D-9DCC-E25A-0B64-9B737339EC42}"/>
          </ac:spMkLst>
        </pc:spChg>
        <pc:spChg chg="mod">
          <ac:chgData name="Kishen Senziani" userId="5c3d0745-2dbb-4368-afd4-85530d3cc825" providerId="ADAL" clId="{4FFB5284-8569-49DA-85A1-DF3EC24A4688}" dt="2026-09-26T17:01:18.896" v="0"/>
          <ac:spMkLst>
            <pc:docMk/>
            <pc:sldMk cId="3420165698" sldId="260"/>
            <ac:spMk id="69" creationId="{5F1A9723-0ED0-E867-2C25-DBD820E752B4}"/>
          </ac:spMkLst>
        </pc:spChg>
        <pc:spChg chg="mod">
          <ac:chgData name="Kishen Senziani" userId="5c3d0745-2dbb-4368-afd4-85530d3cc825" providerId="ADAL" clId="{4FFB5284-8569-49DA-85A1-DF3EC24A4688}" dt="2026-09-26T17:01:43.421" v="1"/>
          <ac:spMkLst>
            <pc:docMk/>
            <pc:sldMk cId="3420165698" sldId="260"/>
            <ac:spMk id="70" creationId="{7906A941-CE34-5819-64CD-9232BB90D1C2}"/>
          </ac:spMkLst>
        </pc:spChg>
        <pc:picChg chg="mod">
          <ac:chgData name="Kishen Senziani" userId="5c3d0745-2dbb-4368-afd4-85530d3cc825" providerId="ADAL" clId="{4FFB5284-8569-49DA-85A1-DF3EC24A4688}" dt="2026-09-26T17:31:11.138" v="4"/>
          <ac:picMkLst>
            <pc:docMk/>
            <pc:sldMk cId="3420165698" sldId="260"/>
            <ac:picMk id="280" creationId="{00000000-0000-0000-0000-000000000000}"/>
          </ac:picMkLst>
        </pc:picChg>
      </pc:sldChg>
      <pc:sldChg chg="addSp">
        <pc:chgData name="Kishen Senziani" userId="5c3d0745-2dbb-4368-afd4-85530d3cc825" providerId="ADAL" clId="{4FFB5284-8569-49DA-85A1-DF3EC24A4688}" dt="2026-09-26T17:20:59.318" v="2"/>
        <pc:sldMkLst>
          <pc:docMk/>
          <pc:sldMk cId="3503878868" sldId="261"/>
        </pc:sldMkLst>
        <pc:picChg chg="add">
          <ac:chgData name="Kishen Senziani" userId="5c3d0745-2dbb-4368-afd4-85530d3cc825" providerId="ADAL" clId="{4FFB5284-8569-49DA-85A1-DF3EC24A4688}" dt="2026-09-26T17:20:59.318" v="2"/>
          <ac:picMkLst>
            <pc:docMk/>
            <pc:sldMk cId="3503878868" sldId="261"/>
            <ac:picMk id="3" creationId="{C77384D1-5A05-2061-298B-9BEA7D383C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C1E60-FD55-4E45-A2D4-50E4E470247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62063" y="1143000"/>
            <a:ext cx="4333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0B6EB-D8EB-4799-A129-9F2E0437958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60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0B6EB-D8EB-4799-A129-9F2E0437958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39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2" y="0"/>
            <a:ext cx="6857470" cy="30240288"/>
          </a:xfrm>
          <a:prstGeom prst="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435297" y="2043801"/>
            <a:ext cx="27797571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38504" y="4849417"/>
            <a:ext cx="23587879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692670" y="17177769"/>
            <a:ext cx="5527608" cy="10510502"/>
          </a:xfrm>
          <a:prstGeom prst="roundRect">
            <a:avLst/>
          </a:prstGeom>
          <a:solidFill>
            <a:schemeClr val="bg1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5874" y="18039344"/>
            <a:ext cx="4581192" cy="8787352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98786" y="8422429"/>
            <a:ext cx="16402157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35301" y="8422429"/>
            <a:ext cx="15414132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5295" y="13017586"/>
            <a:ext cx="15414136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295" y="15329445"/>
            <a:ext cx="15414136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35295" y="23770092"/>
            <a:ext cx="15414136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97740" y="15329447"/>
            <a:ext cx="16402157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97740" y="20012007"/>
            <a:ext cx="16402157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35295" y="20351028"/>
            <a:ext cx="15414136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74702" y="5577111"/>
            <a:ext cx="5527608" cy="4526298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4474108" y="8422427"/>
            <a:ext cx="0" cy="19297837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61" y="1412957"/>
            <a:ext cx="5709534" cy="29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2" y="0"/>
            <a:ext cx="6857470" cy="30240288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435297" y="2043801"/>
            <a:ext cx="27797571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38504" y="4849417"/>
            <a:ext cx="23587879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692670" y="17177769"/>
            <a:ext cx="5527608" cy="10510502"/>
          </a:xfrm>
          <a:prstGeom prst="roundRect">
            <a:avLst/>
          </a:prstGeom>
          <a:solidFill>
            <a:schemeClr val="bg1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5874" y="18039344"/>
            <a:ext cx="4581192" cy="8787352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98786" y="8422429"/>
            <a:ext cx="16402157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35301" y="8422429"/>
            <a:ext cx="15414132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5295" y="13017586"/>
            <a:ext cx="15414136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295" y="15329445"/>
            <a:ext cx="15414136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35295" y="23770092"/>
            <a:ext cx="15414136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97740" y="15329447"/>
            <a:ext cx="16402157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97740" y="20012007"/>
            <a:ext cx="16402157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35295" y="20351028"/>
            <a:ext cx="15414136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74702" y="5577111"/>
            <a:ext cx="5527608" cy="4526298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4474108" y="8422427"/>
            <a:ext cx="0" cy="19297837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61" y="1412957"/>
            <a:ext cx="5709534" cy="29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7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4" y="0"/>
            <a:ext cx="2700498" cy="30240288"/>
          </a:xfrm>
          <a:prstGeom prst="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33381" y="2043801"/>
            <a:ext cx="28299491" cy="2367292"/>
          </a:xfrm>
        </p:spPr>
        <p:txBody>
          <a:bodyPr anchor="ctr">
            <a:normAutofit/>
          </a:bodyPr>
          <a:lstStyle>
            <a:lvl1pPr algn="l">
              <a:defRPr sz="8800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09389" y="4846961"/>
            <a:ext cx="24013784" cy="1156706"/>
          </a:xfrm>
        </p:spPr>
        <p:txBody>
          <a:bodyPr anchor="ctr">
            <a:normAutofit/>
          </a:bodyPr>
          <a:lstStyle>
            <a:lvl1pPr marL="0" indent="0" algn="l">
              <a:buNone/>
              <a:defRPr sz="7200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3221105" y="8422429"/>
            <a:ext cx="18279836" cy="6568003"/>
          </a:xfrm>
        </p:spPr>
        <p:txBody>
          <a:bodyPr>
            <a:normAutofit/>
          </a:bodyPr>
          <a:lstStyle>
            <a:lvl1pPr marL="0" indent="0">
              <a:buNone/>
              <a:defRPr sz="5400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2676" y="8422429"/>
            <a:ext cx="17099426" cy="4256142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2671" y="13017586"/>
            <a:ext cx="17099426" cy="1972846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2669" y="15329445"/>
            <a:ext cx="17099430" cy="4682562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2669" y="23770092"/>
            <a:ext cx="17099430" cy="3950172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20058" y="15329447"/>
            <a:ext cx="18279836" cy="4303244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220058" y="20012007"/>
            <a:ext cx="18279836" cy="7708257"/>
          </a:xfrm>
        </p:spPr>
        <p:txBody>
          <a:bodyPr/>
          <a:lstStyle>
            <a:lvl1pPr marL="0" indent="0">
              <a:buNone/>
              <a:defRPr sz="5400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72669" y="20351028"/>
            <a:ext cx="17099430" cy="3080051"/>
          </a:xfrm>
        </p:spPr>
        <p:txBody>
          <a:bodyPr>
            <a:normAutofit/>
          </a:bodyPr>
          <a:lstStyle>
            <a:lvl1pPr marL="0" indent="0">
              <a:buNone/>
              <a:defRPr sz="5400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2546079" y="8422427"/>
            <a:ext cx="0" cy="19297837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3E82C9-9443-8BCC-24AA-78A6C8E271E9}"/>
              </a:ext>
            </a:extLst>
          </p:cNvPr>
          <p:cNvSpPr/>
          <p:nvPr userDrawn="1"/>
        </p:nvSpPr>
        <p:spPr>
          <a:xfrm>
            <a:off x="1228171" y="1603912"/>
            <a:ext cx="5713969" cy="4682562"/>
          </a:xfrm>
          <a:prstGeom prst="round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3" y="2343741"/>
            <a:ext cx="4979876" cy="27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8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4" y="0"/>
            <a:ext cx="2700498" cy="30240288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33381" y="2043801"/>
            <a:ext cx="28299491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09389" y="4846961"/>
            <a:ext cx="24013784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3221105" y="8422429"/>
            <a:ext cx="18279836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2676" y="8422429"/>
            <a:ext cx="17099426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2671" y="13017586"/>
            <a:ext cx="17099426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2669" y="15329445"/>
            <a:ext cx="17099430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2669" y="23770092"/>
            <a:ext cx="17099430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220058" y="15329447"/>
            <a:ext cx="18279836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220058" y="20012007"/>
            <a:ext cx="18279836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72669" y="20351028"/>
            <a:ext cx="17099430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2546079" y="8422427"/>
            <a:ext cx="0" cy="19297837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3E82C9-9443-8BCC-24AA-78A6C8E271E9}"/>
              </a:ext>
            </a:extLst>
          </p:cNvPr>
          <p:cNvSpPr/>
          <p:nvPr userDrawn="1"/>
        </p:nvSpPr>
        <p:spPr>
          <a:xfrm>
            <a:off x="1228171" y="1603912"/>
            <a:ext cx="5713969" cy="4682562"/>
          </a:xfrm>
          <a:prstGeom prst="round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3" y="2343741"/>
            <a:ext cx="4979876" cy="27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9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2" y="0"/>
            <a:ext cx="6857470" cy="30240288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435297" y="2043801"/>
            <a:ext cx="27797571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38504" y="4849417"/>
            <a:ext cx="23587879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692670" y="18969782"/>
            <a:ext cx="5527608" cy="10510502"/>
          </a:xfrm>
          <a:prstGeom prst="roundRect">
            <a:avLst/>
          </a:prstGeom>
          <a:solidFill>
            <a:schemeClr val="bg1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65874" y="19831357"/>
            <a:ext cx="4581192" cy="8787352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98786" y="8422429"/>
            <a:ext cx="16402157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35301" y="8422429"/>
            <a:ext cx="15414132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5295" y="13017586"/>
            <a:ext cx="15414136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295" y="15329445"/>
            <a:ext cx="15414136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35295" y="23770092"/>
            <a:ext cx="15414136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97740" y="15329447"/>
            <a:ext cx="16402157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97740" y="20012007"/>
            <a:ext cx="16402157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35295" y="20351028"/>
            <a:ext cx="15414136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2670" y="7032212"/>
            <a:ext cx="5527608" cy="4526298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4474108" y="8422427"/>
            <a:ext cx="0" cy="19297837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3" y="1445025"/>
            <a:ext cx="4979876" cy="27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8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2" y="0"/>
            <a:ext cx="8959441" cy="30240288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77126" y="2043801"/>
            <a:ext cx="26455740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77126" y="4849417"/>
            <a:ext cx="22449257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783691" y="21400205"/>
            <a:ext cx="7392054" cy="8080079"/>
          </a:xfrm>
          <a:prstGeom prst="roundRect">
            <a:avLst/>
          </a:prstGeom>
          <a:solidFill>
            <a:schemeClr val="bg1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16512" y="22039879"/>
            <a:ext cx="6126413" cy="6755384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5098786" y="8422429"/>
            <a:ext cx="16402157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7128" y="8422429"/>
            <a:ext cx="14072305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77125" y="13017586"/>
            <a:ext cx="14072310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77125" y="15329445"/>
            <a:ext cx="14072310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77121" y="23770092"/>
            <a:ext cx="14072310" cy="395017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97740" y="15329447"/>
            <a:ext cx="16402157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97740" y="20012007"/>
            <a:ext cx="16402157" cy="7708257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777125" y="20351028"/>
            <a:ext cx="14072310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3691" y="7032212"/>
            <a:ext cx="7392054" cy="4682562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768329" y="2043799"/>
            <a:ext cx="4730451" cy="41285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4474108" y="8422427"/>
            <a:ext cx="0" cy="19297837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6E26E8-44E8-5CA6-692B-1F087086B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67" y="1445027"/>
            <a:ext cx="6425102" cy="35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66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13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1100"/>
          </a:solidFill>
          <a:ln>
            <a:solidFill>
              <a:srgbClr val="94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1857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239959" y="8422429"/>
            <a:ext cx="20260984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9"/>
            <a:ext cx="17231638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1315" y="13017586"/>
            <a:ext cx="17231638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5329445"/>
            <a:ext cx="17231638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1315" y="23770099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39959" y="15329447"/>
            <a:ext cx="20259938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9959" y="20012007"/>
            <a:ext cx="20259938" cy="683814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20351028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0681259" y="8422427"/>
            <a:ext cx="0" cy="18427721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25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0054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02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5493"/>
          </a:solidFill>
          <a:ln>
            <a:solidFill>
              <a:srgbClr val="005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91610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5200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239959" y="8422429"/>
            <a:ext cx="20260984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9"/>
            <a:ext cx="17231638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1315" y="13017586"/>
            <a:ext cx="17231638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5329445"/>
            <a:ext cx="17231638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1315" y="23770099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39959" y="15329447"/>
            <a:ext cx="20259938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9959" y="20012007"/>
            <a:ext cx="20259938" cy="683814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20351028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0681259" y="8422427"/>
            <a:ext cx="0" cy="18427721"/>
          </a:xfrm>
          <a:prstGeom prst="line">
            <a:avLst/>
          </a:prstGeom>
          <a:ln w="76200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457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5200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945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15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945200"/>
          </a:solidFill>
          <a:ln>
            <a:solidFill>
              <a:srgbClr val="945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89699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239959" y="8422429"/>
            <a:ext cx="20260984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9"/>
            <a:ext cx="17231638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1315" y="13017586"/>
            <a:ext cx="17231638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5329445"/>
            <a:ext cx="17231638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1315" y="23770099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39959" y="15329447"/>
            <a:ext cx="20259938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9959" y="20012007"/>
            <a:ext cx="20259938" cy="683814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20351028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0681259" y="8422427"/>
            <a:ext cx="0" cy="18427721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366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71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28298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905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239959" y="8422429"/>
            <a:ext cx="20260984" cy="65680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9"/>
            <a:ext cx="17231638" cy="425614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1315" y="13017586"/>
            <a:ext cx="17231638" cy="1972846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5329445"/>
            <a:ext cx="17231638" cy="468256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4F70222-63AA-B0E7-8673-8DCAE28D5C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21315" y="23770099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39959" y="15329447"/>
            <a:ext cx="20259938" cy="430324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9959" y="20012007"/>
            <a:ext cx="20259938" cy="683814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20351028"/>
            <a:ext cx="17231638" cy="308005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A49A27-2CCC-4D3D-C74A-838065CE4C33}"/>
              </a:ext>
            </a:extLst>
          </p:cNvPr>
          <p:cNvCxnSpPr>
            <a:cxnSpLocks/>
          </p:cNvCxnSpPr>
          <p:nvPr userDrawn="1"/>
        </p:nvCxnSpPr>
        <p:spPr>
          <a:xfrm>
            <a:off x="20681259" y="8422427"/>
            <a:ext cx="0" cy="18427721"/>
          </a:xfrm>
          <a:prstGeom prst="line">
            <a:avLst/>
          </a:prstGeom>
          <a:ln w="76200">
            <a:solidFill>
              <a:srgbClr val="009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2257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905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5BBD4-C6C5-D594-0CF1-FB29DFFA31D5}"/>
              </a:ext>
            </a:extLst>
          </p:cNvPr>
          <p:cNvSpPr/>
          <p:nvPr userDrawn="1"/>
        </p:nvSpPr>
        <p:spPr>
          <a:xfrm>
            <a:off x="2920492" y="27438484"/>
            <a:ext cx="38578288" cy="2240039"/>
          </a:xfrm>
          <a:prstGeom prst="roundRect">
            <a:avLst/>
          </a:prstGeom>
          <a:solidFill>
            <a:schemeClr val="bg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C4D9A4-F21E-B5D2-0263-E4420F51A2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5955" y="27622111"/>
            <a:ext cx="37029503" cy="1872795"/>
          </a:xfrm>
        </p:spPr>
        <p:txBody>
          <a:bodyPr>
            <a:normAutofit/>
          </a:bodyPr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References</a:t>
            </a:r>
            <a:endParaRPr lang="en-CH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0EE3770-30AF-A980-4495-16C0A3221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920492" y="19210443"/>
            <a:ext cx="17231638" cy="5347482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D90D032-C6AE-3782-4A28-4F278FFE8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1315" y="8422427"/>
            <a:ext cx="38577464" cy="222365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Background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BF027F1-B732-8EC0-528D-FE7FE069FD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0492" y="10985100"/>
            <a:ext cx="38577464" cy="1234508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Research question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6D5FE3B-DE47-DD76-1437-9155AABE7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315" y="13258263"/>
            <a:ext cx="38576641" cy="1861881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Methods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304A044-8E7A-F3F1-DC0F-E3B7819F17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76243" y="19210445"/>
            <a:ext cx="20121713" cy="5327503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Results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4CE6973-046C-526E-FE02-A01B9DCFF0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0492" y="25021784"/>
            <a:ext cx="38576641" cy="1761265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pPr lvl="0"/>
            <a:r>
              <a:rPr lang="en-US" dirty="0"/>
              <a:t>Conclusion and perspectives</a:t>
            </a:r>
          </a:p>
          <a:p>
            <a:pPr lvl="0"/>
            <a:r>
              <a:rPr lang="en-US" dirty="0"/>
              <a:t>Text</a:t>
            </a:r>
            <a:endParaRPr lang="en-CH" dirty="0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75A555B1-8516-5A7F-EA47-BEEA0FC558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21315" y="15615804"/>
            <a:ext cx="38576641" cy="2539624"/>
          </a:xfrm>
        </p:spPr>
        <p:txBody>
          <a:bodyPr/>
          <a:lstStyle>
            <a:lvl1pPr marL="0" indent="0">
              <a:buNone/>
              <a:defRPr sz="1309"/>
            </a:lvl1pPr>
          </a:lstStyle>
          <a:p>
            <a:r>
              <a:rPr lang="en-US" dirty="0"/>
              <a:t>Figure</a:t>
            </a:r>
            <a:endParaRPr lang="en-CH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7C81AE8-4A7A-C5F2-35FB-B8DA40C318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905627" y="5929809"/>
            <a:ext cx="4594203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/>
            </a:lvl1pPr>
          </a:lstStyle>
          <a:p>
            <a:r>
              <a:rPr lang="en-US" dirty="0"/>
              <a:t>QR-Code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C2BE1A-2F11-68BE-1D09-BAF414149923}"/>
              </a:ext>
            </a:extLst>
          </p:cNvPr>
          <p:cNvCxnSpPr/>
          <p:nvPr userDrawn="1"/>
        </p:nvCxnSpPr>
        <p:spPr>
          <a:xfrm>
            <a:off x="2920492" y="18696329"/>
            <a:ext cx="38576641" cy="0"/>
          </a:xfrm>
          <a:prstGeom prst="line">
            <a:avLst/>
          </a:prstGeom>
          <a:ln w="76200">
            <a:solidFill>
              <a:srgbClr val="009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EFA30-3D08-00FF-070C-6CE0E8C8520A}"/>
              </a:ext>
            </a:extLst>
          </p:cNvPr>
          <p:cNvCxnSpPr/>
          <p:nvPr userDrawn="1"/>
        </p:nvCxnSpPr>
        <p:spPr>
          <a:xfrm>
            <a:off x="2920492" y="12761891"/>
            <a:ext cx="38576641" cy="0"/>
          </a:xfrm>
          <a:prstGeom prst="line">
            <a:avLst/>
          </a:prstGeom>
          <a:ln w="76200">
            <a:solidFill>
              <a:srgbClr val="009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242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85BC79-42D9-C151-53FB-40F406B1EACF}"/>
              </a:ext>
            </a:extLst>
          </p:cNvPr>
          <p:cNvSpPr/>
          <p:nvPr userDrawn="1"/>
        </p:nvSpPr>
        <p:spPr>
          <a:xfrm>
            <a:off x="0" y="2699061"/>
            <a:ext cx="42479913" cy="4995772"/>
          </a:xfrm>
          <a:prstGeom prst="rect">
            <a:avLst/>
          </a:prstGeom>
          <a:solidFill>
            <a:srgbClr val="009051"/>
          </a:solidFill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589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0496" y="3124497"/>
            <a:ext cx="38578288" cy="2367292"/>
          </a:xfrm>
        </p:spPr>
        <p:txBody>
          <a:bodyPr anchor="ctr">
            <a:normAutofit/>
          </a:bodyPr>
          <a:lstStyle>
            <a:lvl1pPr algn="ctr">
              <a:defRPr sz="2618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of the poster</a:t>
            </a:r>
          </a:p>
        </p:txBody>
      </p:sp>
      <p:pic>
        <p:nvPicPr>
          <p:cNvPr id="16" name="Picture 15" descr="A colorful text on a white background&#10;&#10;Description automatically generated">
            <a:extLst>
              <a:ext uri="{FF2B5EF4-FFF2-40B4-BE49-F238E27FC236}">
                <a16:creationId xmlns:a16="http://schemas.microsoft.com/office/drawing/2014/main" id="{DEE72F16-DD72-3784-A589-62D3C866E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341" y="109796"/>
            <a:ext cx="8959441" cy="19802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20492" y="5930113"/>
            <a:ext cx="29305891" cy="11567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64">
                <a:latin typeface="Ubuntu" panose="020B0504030602030204" pitchFamily="34" charset="0"/>
              </a:defRPr>
            </a:lvl1pPr>
            <a:lvl2pPr marL="495427" indent="0" algn="ctr">
              <a:buNone/>
              <a:defRPr sz="2167"/>
            </a:lvl2pPr>
            <a:lvl3pPr marL="990854" indent="0" algn="ctr">
              <a:buNone/>
              <a:defRPr sz="1951"/>
            </a:lvl3pPr>
            <a:lvl4pPr marL="1486280" indent="0" algn="ctr">
              <a:buNone/>
              <a:defRPr sz="1734"/>
            </a:lvl4pPr>
            <a:lvl5pPr marL="1981708" indent="0" algn="ctr">
              <a:buNone/>
              <a:defRPr sz="1734"/>
            </a:lvl5pPr>
            <a:lvl6pPr marL="2477134" indent="0" algn="ctr">
              <a:buNone/>
              <a:defRPr sz="1734"/>
            </a:lvl6pPr>
            <a:lvl7pPr marL="2972562" indent="0" algn="ctr">
              <a:buNone/>
              <a:defRPr sz="1734"/>
            </a:lvl7pPr>
            <a:lvl8pPr marL="3467988" indent="0" algn="ctr">
              <a:buNone/>
              <a:defRPr sz="1734"/>
            </a:lvl8pPr>
            <a:lvl9pPr marL="3963415" indent="0" algn="ctr">
              <a:buNone/>
              <a:defRPr sz="1734"/>
            </a:lvl9pPr>
          </a:lstStyle>
          <a:p>
            <a:r>
              <a:rPr lang="en-US" dirty="0"/>
              <a:t>Name and Institution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62C2A55-355B-AF46-0333-D97145BDA0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0845" y="380204"/>
            <a:ext cx="30112521" cy="1880833"/>
          </a:xfrm>
        </p:spPr>
        <p:txBody>
          <a:bodyPr>
            <a:normAutofit/>
          </a:bodyPr>
          <a:lstStyle>
            <a:lvl1pPr marL="0" indent="0">
              <a:buNone/>
              <a:defRPr sz="1964"/>
            </a:lvl1pPr>
          </a:lstStyle>
          <a:p>
            <a:r>
              <a:rPr lang="en-US" dirty="0"/>
              <a:t>Institution Logo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2944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9842-7BC8-B7F4-9FAB-87438306B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9989" y="4949049"/>
            <a:ext cx="31859935" cy="105281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250B-1975-AC51-5AE0-FBC9FE50F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989" y="15883154"/>
            <a:ext cx="31859935" cy="73010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62D0B-AE3F-5737-E8F8-2419E0C2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C890C-9BF8-F14A-0DE3-CB06384B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75660-DEA3-E858-A909-5E88D02C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49162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992C-8C46-BC03-2182-712C8985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A2FD1-0C08-48D8-4697-2DC9CB721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E5D4E-236A-9F35-DF25-C6A84E06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4FE3F-3CF7-59DB-351E-52E50947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9EA0B-4ECB-05EC-CA79-AB4B67D6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39305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2A2A-2B28-61DF-9A3B-3D41FDE1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073" y="7539076"/>
            <a:ext cx="36638925" cy="125791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A5755-DD31-A68D-9491-538FF9A8E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0073" y="20237197"/>
            <a:ext cx="36638925" cy="66150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2EA1C-1AE6-94AD-5873-07799818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C41FB-F8D8-E85A-1C27-679B32F2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1057-7798-6062-FF76-8623D659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994195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0234-FEE7-2558-9671-4C7F51F5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8F4A0-28C0-84C2-6047-019B7172E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0496" y="8050077"/>
            <a:ext cx="17992692" cy="19187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AB92A-3061-2CDC-F946-99B4DC0AC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566727" y="8050077"/>
            <a:ext cx="17992696" cy="19187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1A24D-2DD2-8483-AAFF-8C1999C9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F1839-830F-FA4A-CC5C-6D30A3EB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F8C07-5012-8E61-F95E-F8E2134F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429819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70D1-9F6E-0079-A8F7-41424ECA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304" y="1610017"/>
            <a:ext cx="36638925" cy="58450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C70C8-4BA0-D5ED-F85A-6018B5B1E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7302" y="7413073"/>
            <a:ext cx="17972271" cy="363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796F6-7418-F4F4-B0F3-1B638A579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27302" y="11046105"/>
            <a:ext cx="17972271" cy="162471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5ED26-C37E-A025-E253-CDA545BD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505460" y="7413073"/>
            <a:ext cx="18060769" cy="363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99CA4-9502-60E7-52A0-9CD417D4D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1505460" y="11046105"/>
            <a:ext cx="18060769" cy="162471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82E7C-02B5-7798-309D-FDD865C71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E6312-3234-1FBE-57CE-D2C9C33C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FC4B9-456B-71C0-27BA-609C5FE0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792067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571B2-FF77-CCBC-291C-88B5F0DF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51D5C-5214-D636-1387-349793CD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D783F-015A-E228-7947-2372827A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24E12-E389-074C-9EFA-1EE302C6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63510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A31EFC-0261-AD2B-4AE4-310425D2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E61BB-3748-77FF-F43D-3FD4BE5A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60FE1-3FEB-FF14-23D4-1F442225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965851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A732-4619-9F0E-B4DB-8BFADD76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302" y="2016019"/>
            <a:ext cx="13697049" cy="7056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C2593-6521-3A9A-A3FA-D74E0348B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0773" y="4354044"/>
            <a:ext cx="21505454" cy="214902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6DBBE-BA03-5C9B-C981-091BE0F15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27302" y="9072087"/>
            <a:ext cx="13697049" cy="168071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C530E-5D51-E399-243C-21BEA256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9EB48-929A-8F81-1A19-CB28BE18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1BEC7-42B7-AB74-835E-BB9F7381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777315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4323-6005-32D8-5E83-0DD135198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302" y="2016019"/>
            <a:ext cx="13697049" cy="7056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EDA9F-E51A-ACE0-A744-B1D63B4B4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060773" y="4354044"/>
            <a:ext cx="21505454" cy="214902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F3E3C-DDB6-ED7C-C256-C3A768333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27302" y="9072087"/>
            <a:ext cx="13697049" cy="168071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95DE3-1932-CE9D-DBCC-0C847DEC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D8D8A-CAE3-5F44-BD22-739117E2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30AE5-83E9-BC6E-24E2-D5164B47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922570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FA90-04E4-E4DD-BA32-7AFAF12A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88F8A-495A-112B-31C9-9C8D447C1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9BE84-6E89-EA66-562E-266B38B9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C5CC5-193D-ED65-543F-C57AF866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B57E-3FA5-106E-6E8C-05275862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780541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7F70E7-B31E-65B3-C791-56B00AAAF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0403091" y="1610015"/>
            <a:ext cx="9156330" cy="256272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924DF-644E-3B40-7DE8-04CC3D098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20498" y="1610015"/>
            <a:ext cx="26829058" cy="256272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C90DA-5F03-823E-061C-889B80D8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3D2E3-23D5-6171-8C6F-C5542A45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B1F9A-B4D9-15E3-0C34-551DEB48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602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0498" y="1610026"/>
            <a:ext cx="36638925" cy="584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98" y="8050077"/>
            <a:ext cx="36638925" cy="191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0496" y="28028278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A8031-0866-4981-A206-2577A3748F7C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071475" y="28028278"/>
            <a:ext cx="14336971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001441" y="28028278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7FAEC-9C0C-4465-B77F-B2D0A1D82F33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8191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3" r:id="rId2"/>
    <p:sldLayoutId id="2147483689" r:id="rId3"/>
    <p:sldLayoutId id="2147483690" r:id="rId4"/>
    <p:sldLayoutId id="2147483688" r:id="rId5"/>
    <p:sldLayoutId id="2147483687" r:id="rId6"/>
    <p:sldLayoutId id="2147483673" r:id="rId7"/>
    <p:sldLayoutId id="2147483672" r:id="rId8"/>
    <p:sldLayoutId id="2147483674" r:id="rId9"/>
    <p:sldLayoutId id="2147483675" r:id="rId10"/>
    <p:sldLayoutId id="2147483676" r:id="rId11"/>
    <p:sldLayoutId id="2147483684" r:id="rId12"/>
    <p:sldLayoutId id="2147483685" r:id="rId13"/>
    <p:sldLayoutId id="2147483686" r:id="rId14"/>
    <p:sldLayoutId id="2147483677" r:id="rId15"/>
    <p:sldLayoutId id="2147483678" r:id="rId16"/>
    <p:sldLayoutId id="2147483679" r:id="rId17"/>
    <p:sldLayoutId id="2147483683" r:id="rId18"/>
    <p:sldLayoutId id="2147483681" r:id="rId19"/>
    <p:sldLayoutId id="2147483682" r:id="rId20"/>
  </p:sldLayoutIdLst>
  <p:txStyles>
    <p:titleStyle>
      <a:lvl1pPr algn="l" defTabSz="990854" rtl="0" eaLnBrk="1" latinLnBrk="0" hangingPunct="1">
        <a:lnSpc>
          <a:spcPct val="90000"/>
        </a:lnSpc>
        <a:spcBef>
          <a:spcPct val="0"/>
        </a:spcBef>
        <a:buNone/>
        <a:defRPr sz="47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713" indent="-247713" algn="l" defTabSz="990854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034" kern="1200">
          <a:solidFill>
            <a:schemeClr val="tx1"/>
          </a:solidFill>
          <a:latin typeface="+mn-lt"/>
          <a:ea typeface="+mn-ea"/>
          <a:cs typeface="+mn-cs"/>
        </a:defRPr>
      </a:lvl1pPr>
      <a:lvl2pPr marL="743140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238567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994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4pPr>
      <a:lvl5pPr marL="2229421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5pPr>
      <a:lvl6pPr marL="2724848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6pPr>
      <a:lvl7pPr marL="3220275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7pPr>
      <a:lvl8pPr marL="3715702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8pPr>
      <a:lvl9pPr marL="4211129" indent="-247713" algn="l" defTabSz="990854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1pPr>
      <a:lvl2pPr marL="495427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2pPr>
      <a:lvl3pPr marL="990854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3pPr>
      <a:lvl4pPr marL="1486280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4pPr>
      <a:lvl5pPr marL="1981708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5pPr>
      <a:lvl6pPr marL="2477134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6pPr>
      <a:lvl7pPr marL="2972562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7pPr>
      <a:lvl8pPr marL="3467988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8pPr>
      <a:lvl9pPr marL="3963415" algn="l" defTabSz="990854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4BEFB-0F77-8131-09DE-FC1F2E14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498" y="1610017"/>
            <a:ext cx="36638925" cy="584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68805-91D8-C2D3-B0BA-27F8EE402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0498" y="8050077"/>
            <a:ext cx="36638925" cy="191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71201-38FE-6FC8-7620-BB85E4518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20496" y="28028269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088ED-88E4-4553-961A-35467C93D606}" type="datetimeFigureOut">
              <a:rPr lang="en-CH" smtClean="0"/>
              <a:t>09/26/2026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EF3BC-3BC9-E21F-D6E0-D19E49572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71475" y="28028269"/>
            <a:ext cx="14336971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96D5E-EE5A-08A4-6B61-4B8C2A8EF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001441" y="28028269"/>
            <a:ext cx="9557980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0868D-47C6-48A9-9465-D843023DF9BD}" type="slidenum">
              <a:rPr lang="en-CH" smtClean="0"/>
              <a:t>‹N°›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0709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23" Type="http://schemas.openxmlformats.org/officeDocument/2006/relationships/image" Target="../media/image23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Fig sensor topomaps, 4 conditions (SVG)" descr="block2_4cond_topo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87080" y="9308592"/>
            <a:ext cx="7726679" cy="338328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D7443F2-F3E9-4778-D8FB-B907E7ED3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7200" noProof="0" dirty="0"/>
              <a:t>Characterizing word processing pathway using frequency tagging​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624BB1-3FA2-EF80-7738-EC7C48095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en-GB" sz="3200" noProof="0" dirty="0"/>
              <a:t>Kishen Senziani</a:t>
            </a:r>
            <a:r>
              <a:rPr lang="en-GB" sz="3200" baseline="30000" noProof="0" dirty="0"/>
              <a:t>1</a:t>
            </a:r>
            <a:r>
              <a:rPr lang="en-GB" sz="3200" noProof="0" dirty="0"/>
              <a:t>, Berk Gercek</a:t>
            </a:r>
            <a:r>
              <a:rPr lang="en-GB" sz="3200" baseline="30000" noProof="0" dirty="0"/>
              <a:t>1</a:t>
            </a:r>
            <a:r>
              <a:rPr lang="en-GB" sz="3200" noProof="0" dirty="0"/>
              <a:t>, Nina Kazanina</a:t>
            </a:r>
            <a:r>
              <a:rPr lang="en-GB" sz="3200" baseline="30000" noProof="0" dirty="0"/>
              <a:t>1</a:t>
            </a:r>
            <a:r>
              <a:rPr lang="en-GB" sz="3200" noProof="0" dirty="0"/>
              <a:t>; </a:t>
            </a:r>
            <a:r>
              <a:rPr lang="en-GB" sz="3200" baseline="30000" noProof="0" dirty="0"/>
              <a:t>1</a:t>
            </a:r>
            <a:r>
              <a:rPr lang="en-GB" sz="3200" noProof="0" dirty="0"/>
              <a:t>University of Geneva, Faculty of Medicine, Department of Basic Neurosciences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DE20DB-838A-B9C8-4303-DC0930CFD8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2000" noProof="0" dirty="0"/>
              <a:t>References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 err="1"/>
              <a:t>Salmelin, R. 2007. “Clinical Neurophysiology of Language: The MEG Approach.” Clinical Neurophysiology 118, no. 2: 237–254. https://doi.org/10.1016/j.clinph.2006.07.316.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/>
              <a:t>Samoylov, A., Semenova, N., Myachykov, A., &amp; Shtyrov, Y. (2025). Patterns of cortical activity in a silent single-word reading task depend on word frequency and age-related differences: An MEG study. Psychophysiology, 62(3), e70192. https://doi.org/10.1111/psyp.70192.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 err="1"/>
              <a:t>Thesen, T., McDonald, C. R., Carlson, C., Doyle, W., Cash, S., Sherfey, J., Felsovalyi, O., Girard, H., Barr, W., Devinsky, O., Kuzniecky, R., &amp; Halgren, E. (2012). Sequential then interactive processing of letters and words in the left fusiform gyrus. Nature Communications, 3, 1284. https://doi.org/10.1038/ncomms2220.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/>
              <a:t>Cornelissen, P. L., Kringelbach, M. L., Ellis, A. W., Whitney, C., Holliday, I. E., &amp; Hansen, P. C. (2009). Activation of the left inferior frontal gyrus in the first 200 ms of reading: Evidence from magnetoencephalography (MEG). PLoS ONE, 4(4), e5359. https://doi.org/10.1371/journal.pone.0005359.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/>
              <a:t>Norcia, A. M., Appelbaum, L. G., Ales, J. M., Cottereau, B. R., &amp; Rossion, B. (2015). The steady-state visual evoked potential in vision research: A review. Journal of Vision, 15(6), 4. https://doi.org/10.1167/15.6.4.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/>
              <a:t>Figueira, J. S. B., Kutlu, E., Scott, L. S., &amp; Keil, A. (2022). The FreqTag toolbox: A principled approach to analyzing electrophysiological time series in frequency tagging paradigms. Developmental Cognitive Neuroscience, 54, 101066.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 err="1"/>
              <a:t>Kabdebon, C., Fló, A., De Heering, A., &amp; Aslin, R. (2022). The power of rhythms: how steady-state evoked responses reveal early neurocognitive development. NeuroImage, 254, 119150.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 err="1"/>
              <a:t>Lochy, A., Van Belle, G., &amp; Rossion, B. (2015). A robust index of lexical representation in the left occipito-temporal cortex as evidenced by EEG responses to fast periodic visual stimulation. Neuropsychologia, 66, 18-31. https://doi.org/10.1016/j.neuropsychologia.2014.11.007.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dirty="0"/>
              <a:t>Wang, F., Kaneshiro, B., Strauber, C. B., Hasak, L., Nguyen, Q. T. H., Yakovleva, A., ... &amp; McCandliss, B. D. (2021). Distinct neural sources underlying visual word form processing as revealed by steady state visual evoked potentials (SSVEP). Scientific reports, 11(1), 18229.</a:t>
            </a:r>
          </a:p>
          <a:p>
            <a:endParaRPr lang="en-GB" sz="2000" noProof="0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3825603-B783-ED52-6DE0-281AEA0CBF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35299" y="8043113"/>
            <a:ext cx="15414132" cy="4256142"/>
          </a:xfrm>
        </p:spPr>
        <p:txBody>
          <a:bodyPr>
            <a:normAutofit/>
          </a:bodyPr>
          <a:lstStyle/>
          <a:p>
            <a:r>
              <a:rPr lang="en-GB" sz="5400" b="1" u="sng" noProof="0" dirty="0"/>
              <a:t>Background</a:t>
            </a:r>
          </a:p>
          <a:p>
            <a:endParaRPr lang="en-GB" sz="4800" noProof="0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E3D56E4-1FCA-6B4C-8A15-8DE29F9727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5295" y="16087635"/>
            <a:ext cx="15414136" cy="3924371"/>
          </a:xfrm>
        </p:spPr>
        <p:txBody>
          <a:bodyPr>
            <a:normAutofit/>
          </a:bodyPr>
          <a:lstStyle/>
          <a:p>
            <a:r>
              <a:rPr lang="en-GB" sz="5400" noProof="0" dirty="0"/>
              <a:t>Methods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A4A6948F-A4CA-A6A9-7D7A-1D24D1109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8" y="4411093"/>
            <a:ext cx="4581193" cy="2056862"/>
          </a:xfrm>
          <a:prstGeom prst="rect">
            <a:avLst/>
          </a:prstGeom>
        </p:spPr>
      </p:pic>
      <p:pic>
        <p:nvPicPr>
          <p:cNvPr id="23" name="Image 22" descr="Neuro Lingo (4)_edited_edited.jpg">
            <a:extLst>
              <a:ext uri="{FF2B5EF4-FFF2-40B4-BE49-F238E27FC236}">
                <a16:creationId xmlns:a16="http://schemas.microsoft.com/office/drawing/2014/main" id="{AA411044-5216-1C61-4A70-8C748063C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08" y="6748086"/>
            <a:ext cx="4581193" cy="2660047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D0201E45-3654-ABA6-13A0-039F1D24A241}"/>
              </a:ext>
            </a:extLst>
          </p:cNvPr>
          <p:cNvSpPr txBox="1"/>
          <p:nvPr/>
        </p:nvSpPr>
        <p:spPr>
          <a:xfrm>
            <a:off x="8638503" y="6288787"/>
            <a:ext cx="33202695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154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</a:t>
            </a: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7B3F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/ 7.06 Hz flicker tag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tracks the visual input, not wordness; the </a:t>
            </a: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2A9D8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word-locked response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(250–600 ms) separates words from consonant strings, and in anterior temporal cortex the difference is sustained across words.</a:t>
            </a:r>
          </a:p>
          <a:p>
            <a:pPr marL="0" marR="0" lvl="0" indent="0" algn="l" defTabSz="4154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 vs. submitted abstract: with fixation baselines and equal trial counts, the tag shows no word-specific effect and the source effect is Word &gt; Non-word.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D89E61D-06E0-750B-C8EE-8C47E2C8D6C1}"/>
              </a:ext>
            </a:extLst>
          </p:cNvPr>
          <p:cNvGrpSpPr/>
          <p:nvPr/>
        </p:nvGrpSpPr>
        <p:grpSpPr>
          <a:xfrm>
            <a:off x="10920011" y="8494070"/>
            <a:ext cx="6236107" cy="2876550"/>
            <a:chOff x="9657946" y="8482532"/>
            <a:chExt cx="6236107" cy="2876550"/>
          </a:xfrm>
        </p:grpSpPr>
        <p:pic>
          <p:nvPicPr>
            <p:cNvPr id="104" name="Graphique 103">
              <a:extLst>
                <a:ext uri="{FF2B5EF4-FFF2-40B4-BE49-F238E27FC236}">
                  <a16:creationId xmlns:a16="http://schemas.microsoft.com/office/drawing/2014/main" id="{80551DC3-754A-F835-1419-9177B28FBB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827023" y="8482532"/>
              <a:ext cx="3857625" cy="2876550"/>
            </a:xfrm>
            <a:prstGeom prst="rect">
              <a:avLst/>
            </a:prstGeom>
          </p:spPr>
        </p:pic>
        <p:pic>
          <p:nvPicPr>
            <p:cNvPr id="98" name="Picture 4" descr="image.png">
              <a:extLst>
                <a:ext uri="{FF2B5EF4-FFF2-40B4-BE49-F238E27FC236}">
                  <a16:creationId xmlns:a16="http://schemas.microsoft.com/office/drawing/2014/main" id="{DF564F28-3FFD-CCA6-4DAE-340240279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26193" y="9961710"/>
              <a:ext cx="1634885" cy="302299"/>
            </a:xfrm>
            <a:prstGeom prst="rect">
              <a:avLst/>
            </a:prstGeom>
          </p:spPr>
        </p:pic>
        <p:pic>
          <p:nvPicPr>
            <p:cNvPr id="100" name="Picture 5" descr="image.png">
              <a:extLst>
                <a:ext uri="{FF2B5EF4-FFF2-40B4-BE49-F238E27FC236}">
                  <a16:creationId xmlns:a16="http://schemas.microsoft.com/office/drawing/2014/main" id="{F6D396FB-6841-4175-F36B-2749D09CE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59168" y="10334700"/>
              <a:ext cx="1634885" cy="302299"/>
            </a:xfrm>
            <a:prstGeom prst="rect">
              <a:avLst/>
            </a:prstGeom>
          </p:spPr>
        </p:pic>
        <p:pic>
          <p:nvPicPr>
            <p:cNvPr id="102" name="Picture 6" descr="image.png">
              <a:extLst>
                <a:ext uri="{FF2B5EF4-FFF2-40B4-BE49-F238E27FC236}">
                  <a16:creationId xmlns:a16="http://schemas.microsoft.com/office/drawing/2014/main" id="{B46ACFC0-0FB4-DE52-658A-64C9333A3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304048" y="10183550"/>
              <a:ext cx="1634885" cy="302299"/>
            </a:xfrm>
            <a:prstGeom prst="rect">
              <a:avLst/>
            </a:prstGeom>
          </p:spPr>
        </p:pic>
        <p:pic>
          <p:nvPicPr>
            <p:cNvPr id="106" name="Graphique 105">
              <a:extLst>
                <a:ext uri="{FF2B5EF4-FFF2-40B4-BE49-F238E27FC236}">
                  <a16:creationId xmlns:a16="http://schemas.microsoft.com/office/drawing/2014/main" id="{88808E8C-9CA9-F3EA-0B71-BA4EBF6F5B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657946" y="8753995"/>
              <a:ext cx="3000375" cy="2333625"/>
            </a:xfrm>
            <a:prstGeom prst="rect">
              <a:avLst/>
            </a:prstGeom>
          </p:spPr>
        </p:pic>
      </p:grp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C2332DF5-A9C9-BF92-976E-6FA368C83370}"/>
              </a:ext>
            </a:extLst>
          </p:cNvPr>
          <p:cNvCxnSpPr>
            <a:cxnSpLocks/>
          </p:cNvCxnSpPr>
          <p:nvPr/>
        </p:nvCxnSpPr>
        <p:spPr>
          <a:xfrm>
            <a:off x="16142363" y="8670091"/>
            <a:ext cx="0" cy="4263591"/>
          </a:xfrm>
          <a:prstGeom prst="line">
            <a:avLst/>
          </a:prstGeom>
          <a:ln w="76200">
            <a:solidFill>
              <a:srgbClr val="941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BFD6F123-2A5E-22DB-2D27-654491D60C86}"/>
              </a:ext>
            </a:extLst>
          </p:cNvPr>
          <p:cNvGrpSpPr>
            <a:grpSpLocks noChangeAspect="1"/>
          </p:cNvGrpSpPr>
          <p:nvPr/>
        </p:nvGrpSpPr>
        <p:grpSpPr>
          <a:xfrm>
            <a:off x="9029455" y="10967696"/>
            <a:ext cx="6398435" cy="2000295"/>
            <a:chOff x="12774971" y="9599001"/>
            <a:chExt cx="9893928" cy="3093065"/>
          </a:xfrm>
        </p:grpSpPr>
        <p:grpSp>
          <p:nvGrpSpPr>
            <p:cNvPr id="82" name="Groupe 81">
              <a:extLst>
                <a:ext uri="{FF2B5EF4-FFF2-40B4-BE49-F238E27FC236}">
                  <a16:creationId xmlns:a16="http://schemas.microsoft.com/office/drawing/2014/main" id="{B433598D-F2A0-8AD3-CD94-9B0E23BAA7C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774971" y="9599002"/>
              <a:ext cx="3399362" cy="2676638"/>
              <a:chOff x="1333500" y="2919412"/>
              <a:chExt cx="3313059" cy="2617965"/>
            </a:xfrm>
          </p:grpSpPr>
          <p:pic>
            <p:nvPicPr>
              <p:cNvPr id="94" name="Picture 4" descr="image.png">
                <a:extLst>
                  <a:ext uri="{FF2B5EF4-FFF2-40B4-BE49-F238E27FC236}">
                    <a16:creationId xmlns:a16="http://schemas.microsoft.com/office/drawing/2014/main" id="{1FA088F4-09EC-1F57-D55F-26F24C8D8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3500" y="2919412"/>
                <a:ext cx="2463848" cy="457200"/>
              </a:xfrm>
              <a:prstGeom prst="rect">
                <a:avLst/>
              </a:prstGeom>
            </p:spPr>
          </p:pic>
          <p:sp>
            <p:nvSpPr>
              <p:cNvPr id="95" name="TextBox 8">
                <a:extLst>
                  <a:ext uri="{FF2B5EF4-FFF2-40B4-BE49-F238E27FC236}">
                    <a16:creationId xmlns:a16="http://schemas.microsoft.com/office/drawing/2014/main" id="{1C89A744-D793-7257-9A81-C017D9D4FC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3500" y="3681411"/>
                <a:ext cx="3313059" cy="111716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GB" sz="2400" b="1" i="0" u="none" noProof="0" dirty="0">
                    <a:solidFill>
                      <a:srgbClr val="0F172A"/>
                    </a:solidFill>
                  </a:rPr>
                  <a:t>Vision </a:t>
                </a:r>
              </a:p>
              <a:p>
                <a:pPr algn="l"/>
                <a:r>
                  <a:rPr lang="en-GB" sz="2400" b="1" i="0" u="none" noProof="0" dirty="0">
                    <a:solidFill>
                      <a:srgbClr val="0F172A"/>
                    </a:solidFill>
                  </a:rPr>
                  <a:t>(~100 ms)</a:t>
                </a:r>
              </a:p>
            </p:txBody>
          </p:sp>
          <p:sp>
            <p:nvSpPr>
              <p:cNvPr id="96" name="TextBox 9">
                <a:extLst>
                  <a:ext uri="{FF2B5EF4-FFF2-40B4-BE49-F238E27FC236}">
                    <a16:creationId xmlns:a16="http://schemas.microsoft.com/office/drawing/2014/main" id="{1D004A1D-62E0-1276-786D-8A94207E0B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3500" y="4747800"/>
                <a:ext cx="2849157" cy="789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GB" sz="1500" b="0" i="0" u="none" noProof="0" dirty="0">
                    <a:solidFill>
                      <a:srgbClr val="475569"/>
                    </a:solidFill>
                    <a:latin typeface="Inter"/>
                  </a:rPr>
                  <a:t>Visual area (V1) detects low level features.</a:t>
                </a:r>
              </a:p>
            </p:txBody>
          </p:sp>
        </p:grpSp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F487E720-F5C3-3842-1CD7-C1B2E0438C9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6305620" y="9599001"/>
              <a:ext cx="3811175" cy="3093065"/>
              <a:chOff x="4864149" y="2919412"/>
              <a:chExt cx="3714417" cy="3025264"/>
            </a:xfrm>
          </p:grpSpPr>
          <p:pic>
            <p:nvPicPr>
              <p:cNvPr id="90" name="Picture 5" descr="image.png">
                <a:extLst>
                  <a:ext uri="{FF2B5EF4-FFF2-40B4-BE49-F238E27FC236}">
                    <a16:creationId xmlns:a16="http://schemas.microsoft.com/office/drawing/2014/main" id="{F719737E-2593-BCB3-301B-7ED51D80F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64149" y="2919412"/>
                <a:ext cx="2463849" cy="457200"/>
              </a:xfrm>
              <a:prstGeom prst="rect">
                <a:avLst/>
              </a:prstGeom>
            </p:spPr>
          </p:pic>
          <p:sp>
            <p:nvSpPr>
              <p:cNvPr id="91" name="TextBox 10">
                <a:extLst>
                  <a:ext uri="{FF2B5EF4-FFF2-40B4-BE49-F238E27FC236}">
                    <a16:creationId xmlns:a16="http://schemas.microsoft.com/office/drawing/2014/main" id="{D9BAE83D-9720-96C8-7A63-EB44733A36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64149" y="3681412"/>
                <a:ext cx="3313060" cy="111716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GB" sz="2400" b="1" i="0" u="none" noProof="0" dirty="0">
                    <a:solidFill>
                      <a:srgbClr val="0F172A"/>
                    </a:solidFill>
                    <a:latin typeface="Inter"/>
                  </a:rPr>
                  <a:t>Letters/Words (~150-225 ms)</a:t>
                </a:r>
              </a:p>
            </p:txBody>
          </p:sp>
          <p:sp>
            <p:nvSpPr>
              <p:cNvPr id="92" name="TextBox 11">
                <a:extLst>
                  <a:ext uri="{FF2B5EF4-FFF2-40B4-BE49-F238E27FC236}">
                    <a16:creationId xmlns:a16="http://schemas.microsoft.com/office/drawing/2014/main" id="{EB972305-5508-789F-312A-5F154557AF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64149" y="4747801"/>
                <a:ext cx="3714417" cy="119687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GB" sz="1500" b="0" i="0" u="none" noProof="0" dirty="0">
                    <a:solidFill>
                      <a:srgbClr val="475569"/>
                    </a:solidFill>
                    <a:latin typeface="Inter"/>
                  </a:rPr>
                  <a:t>Left ventral regions (vOT/VWFA) identify letter strings.</a:t>
                </a:r>
              </a:p>
            </p:txBody>
          </p:sp>
        </p:grp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19A93D1F-CC11-2E54-6142-5E2FF02F7E6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9836271" y="9599002"/>
              <a:ext cx="2832628" cy="2729594"/>
              <a:chOff x="8394799" y="2919412"/>
              <a:chExt cx="2760713" cy="2669760"/>
            </a:xfrm>
          </p:grpSpPr>
          <p:pic>
            <p:nvPicPr>
              <p:cNvPr id="86" name="Picture 6" descr="image.png">
                <a:extLst>
                  <a:ext uri="{FF2B5EF4-FFF2-40B4-BE49-F238E27FC236}">
                    <a16:creationId xmlns:a16="http://schemas.microsoft.com/office/drawing/2014/main" id="{4D3FF312-2175-5DA8-19C3-031605791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94799" y="2919412"/>
                <a:ext cx="2463849" cy="457200"/>
              </a:xfrm>
              <a:prstGeom prst="rect">
                <a:avLst/>
              </a:prstGeom>
            </p:spPr>
          </p:pic>
          <p:sp>
            <p:nvSpPr>
              <p:cNvPr id="87" name="TextBox 12">
                <a:extLst>
                  <a:ext uri="{FF2B5EF4-FFF2-40B4-BE49-F238E27FC236}">
                    <a16:creationId xmlns:a16="http://schemas.microsoft.com/office/drawing/2014/main" id="{B7B84091-5D55-CE67-46E7-D4ABB10257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94799" y="3681412"/>
                <a:ext cx="2741519" cy="111716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GB" sz="2400" b="1" dirty="0">
                    <a:solidFill>
                      <a:srgbClr val="0F172A"/>
                    </a:solidFill>
                    <a:latin typeface="Inter"/>
                  </a:rPr>
                  <a:t>Meaning (~250-600 </a:t>
                </a:r>
                <a:r>
                  <a:rPr lang="en-GB" sz="2400" b="1" i="0" u="none" noProof="0" dirty="0">
                    <a:solidFill>
                      <a:srgbClr val="0F172A"/>
                    </a:solidFill>
                    <a:latin typeface="Inter"/>
                  </a:rPr>
                  <a:t>ms)</a:t>
                </a:r>
              </a:p>
            </p:txBody>
          </p:sp>
          <p:sp>
            <p:nvSpPr>
              <p:cNvPr id="88" name="TextBox 13">
                <a:extLst>
                  <a:ext uri="{FF2B5EF4-FFF2-40B4-BE49-F238E27FC236}">
                    <a16:creationId xmlns:a16="http://schemas.microsoft.com/office/drawing/2014/main" id="{793B335E-AA1D-0E14-2F59-645BFA6AAC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94799" y="4799595"/>
                <a:ext cx="2760713" cy="789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GB" sz="1500" b="0" i="0" u="none" noProof="0" dirty="0">
                    <a:solidFill>
                      <a:srgbClr val="475569"/>
                    </a:solidFill>
                    <a:latin typeface="Inter"/>
                  </a:rPr>
                  <a:t>Left Temporal network extracts meaning.</a:t>
                </a:r>
              </a:p>
            </p:txBody>
          </p:sp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AE11F6B-A21A-77BC-13A8-4486BCC4EEA8}"/>
              </a:ext>
            </a:extLst>
          </p:cNvPr>
          <p:cNvSpPr/>
          <p:nvPr/>
        </p:nvSpPr>
        <p:spPr>
          <a:xfrm>
            <a:off x="16399036" y="9077587"/>
            <a:ext cx="2175139" cy="95410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noProof="0" dirty="0"/>
              <a:t>Why frequency tagging? </a:t>
            </a:r>
            <a:r>
              <a:rPr lang="en-GB" sz="2400" b="1" baseline="30000" noProof="0" dirty="0"/>
              <a:t>5,6,7,8,9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413E76-1076-72EA-DDB7-3AFECFFA2611}"/>
              </a:ext>
            </a:extLst>
          </p:cNvPr>
          <p:cNvSpPr/>
          <p:nvPr/>
        </p:nvSpPr>
        <p:spPr>
          <a:xfrm>
            <a:off x="8528239" y="9077587"/>
            <a:ext cx="2310960" cy="95410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noProof="0" dirty="0"/>
              <a:t>Visual Word Processing </a:t>
            </a:r>
            <a:r>
              <a:rPr lang="en-GB" sz="2400" b="1" baseline="30000" noProof="0" dirty="0"/>
              <a:t>1,2,3,4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E122C60-1E91-EADB-78A2-1445D2745C2F}"/>
              </a:ext>
            </a:extLst>
          </p:cNvPr>
          <p:cNvSpPr/>
          <p:nvPr/>
        </p:nvSpPr>
        <p:spPr>
          <a:xfrm>
            <a:off x="8686800" y="13624560"/>
            <a:ext cx="7223760" cy="1737360"/>
          </a:xfrm>
          <a:prstGeom prst="rect">
            <a:avLst/>
          </a:prstGeom>
          <a:ln>
            <a:solidFill>
              <a:srgbClr val="00905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</a:rPr>
              <a:t>AIM 1</a:t>
            </a:r>
          </a:p>
          <a:p>
            <a:pPr algn="ctr"/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MEG sensors and sources recover the V1 → vOT → temporal sequence of the literature?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406AD20-667C-3216-AE58-DE8EFEB5A4FB}"/>
              </a:ext>
            </a:extLst>
          </p:cNvPr>
          <p:cNvSpPr/>
          <p:nvPr/>
        </p:nvSpPr>
        <p:spPr>
          <a:xfrm>
            <a:off x="16459200" y="13624560"/>
            <a:ext cx="7223760" cy="1737360"/>
          </a:xfrm>
          <a:prstGeom prst="rect">
            <a:avLst/>
          </a:prstGeom>
          <a:ln>
            <a:solidFill>
              <a:srgbClr val="00905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solidFill>
                  <a:srgbClr val="000000"/>
                </a:solidFill>
              </a:rPr>
              <a:t>AIM 2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</a:rPr>
              <a:t>Does the tag response (SSVEF) differ between words and consonant strings?</a:t>
            </a:r>
            <a:endParaRPr lang="en-US" dirty="0"/>
          </a:p>
        </p:txBody>
      </p:sp>
      <p:grpSp>
        <p:nvGrpSpPr>
          <p:cNvPr id="12" name="Methods strip 1 - paradigm (editable)"/>
          <p:cNvGrpSpPr/>
          <p:nvPr/>
        </p:nvGrpSpPr>
        <p:grpSpPr>
          <a:xfrm>
            <a:off x="8503920" y="17007840"/>
            <a:ext cx="17255642" cy="2911793"/>
            <a:chOff x="8503920" y="17007840"/>
            <a:chExt cx="17255642" cy="2911793"/>
          </a:xfrm>
        </p:grpSpPr>
        <p:sp>
          <p:nvSpPr>
            <p:cNvPr id="115" name="Rounded Rectangle 114"/>
            <p:cNvSpPr/>
            <p:nvPr/>
          </p:nvSpPr>
          <p:spPr>
            <a:xfrm>
              <a:off x="8503920" y="17007840"/>
              <a:ext cx="3429000" cy="2880360"/>
            </a:xfrm>
            <a:prstGeom prst="roundRect">
              <a:avLst>
                <a:gd name="adj" fmla="val 3809"/>
              </a:avLst>
            </a:prstGeom>
            <a:solidFill>
              <a:srgbClr val="EAF1F8"/>
            </a:solidFill>
            <a:ln w="27940">
              <a:solidFill>
                <a:srgbClr val="005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8686800" y="17080103"/>
              <a:ext cx="3840480" cy="4406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2200" b="1">
                  <a:solidFill>
                    <a:srgbClr val="00539B"/>
                  </a:solidFill>
                </a:rPr>
                <a:t>1  STIMULUS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8686800" y="17532503"/>
              <a:ext cx="1247970" cy="2308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500" b="0" dirty="0"/>
                <a:t>one tag per mini-block</a:t>
              </a:r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12451385" y="17007840"/>
              <a:ext cx="3429000" cy="2880360"/>
            </a:xfrm>
            <a:prstGeom prst="roundRect">
              <a:avLst>
                <a:gd name="adj" fmla="val 3809"/>
              </a:avLst>
            </a:prstGeom>
            <a:solidFill>
              <a:srgbClr val="EAF1F8"/>
            </a:solidFill>
            <a:ln w="27940">
              <a:solidFill>
                <a:srgbClr val="005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2634265" y="17080103"/>
              <a:ext cx="3840480" cy="4406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2200" b="1" dirty="0">
                  <a:solidFill>
                    <a:srgbClr val="00539B"/>
                  </a:solidFill>
                </a:rPr>
                <a:t>2  TIMING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2634265" y="17532503"/>
              <a:ext cx="2328394" cy="2308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500" b="0" dirty="0"/>
                <a:t>240 Hz frame-locked, 2 blocks</a:t>
              </a:r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16398850" y="17007840"/>
              <a:ext cx="3429000" cy="2880360"/>
            </a:xfrm>
            <a:prstGeom prst="roundRect">
              <a:avLst>
                <a:gd name="adj" fmla="val 3809"/>
              </a:avLst>
            </a:prstGeom>
            <a:solidFill>
              <a:srgbClr val="EAF1F8"/>
            </a:solidFill>
            <a:ln w="27940">
              <a:solidFill>
                <a:srgbClr val="005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6581730" y="17080103"/>
              <a:ext cx="3840480" cy="4406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2200" b="1">
                  <a:solidFill>
                    <a:srgbClr val="00539B"/>
                  </a:solidFill>
                </a:rPr>
                <a:t>3  TASK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6581730" y="17532503"/>
              <a:ext cx="1831463" cy="23083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fr-FR" sz="1500" dirty="0"/>
                <a:t> </a:t>
              </a:r>
              <a:r>
                <a:rPr lang="fr-FR" sz="1500" dirty="0" err="1"/>
                <a:t>behavioral</a:t>
              </a:r>
              <a:r>
                <a:rPr lang="fr-FR" sz="1500" dirty="0"/>
                <a:t> catch-</a:t>
              </a:r>
              <a:r>
                <a:rPr lang="fr-FR" sz="1500" dirty="0" err="1"/>
                <a:t>query</a:t>
              </a:r>
              <a:endParaRPr sz="1500" b="0" dirty="0">
                <a:solidFill>
                  <a:srgbClr val="555555"/>
                </a:solidFill>
              </a:endParaRP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20346314" y="17007840"/>
              <a:ext cx="3429000" cy="2880360"/>
            </a:xfrm>
            <a:prstGeom prst="roundRect">
              <a:avLst>
                <a:gd name="adj" fmla="val 3809"/>
              </a:avLst>
            </a:prstGeom>
            <a:solidFill>
              <a:srgbClr val="EAF1F8"/>
            </a:solidFill>
            <a:ln w="27940">
              <a:solidFill>
                <a:srgbClr val="005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20529194" y="17080103"/>
              <a:ext cx="3840480" cy="4406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2200" b="1">
                  <a:solidFill>
                    <a:srgbClr val="00539B"/>
                  </a:solidFill>
                </a:rPr>
                <a:t>4  PARTICIPANTS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20529194" y="17417087"/>
              <a:ext cx="3216631" cy="4616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500" b="0" dirty="0"/>
                <a:t>MEG 306 ch. 2 kHz + eye tracker</a:t>
              </a:r>
              <a:endParaRPr lang="fr-CH" sz="1500" b="0" dirty="0"/>
            </a:p>
            <a:p>
              <a:pPr algn="l"/>
              <a:r>
                <a:rPr lang="fr-CH" sz="1500" dirty="0"/>
                <a:t>S</a:t>
              </a:r>
              <a:r>
                <a:rPr sz="1500" b="0" dirty="0" err="1"/>
                <a:t>tructural</a:t>
              </a:r>
              <a:r>
                <a:rPr sz="1500" b="0" dirty="0"/>
                <a:t> T1 MRI</a:t>
              </a:r>
            </a:p>
          </p:txBody>
        </p:sp>
        <p:sp>
          <p:nvSpPr>
            <p:cNvPr id="127" name="Right Arrow 126"/>
            <p:cNvSpPr/>
            <p:nvPr/>
          </p:nvSpPr>
          <p:spPr>
            <a:xfrm>
              <a:off x="11987784" y="18260568"/>
              <a:ext cx="408737" cy="384048"/>
            </a:xfrm>
            <a:prstGeom prst="rightArrow">
              <a:avLst>
                <a:gd name="adj1" fmla="val 30000"/>
                <a:gd name="adj2" fmla="val 57142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Right Arrow 127"/>
            <p:cNvSpPr/>
            <p:nvPr/>
          </p:nvSpPr>
          <p:spPr>
            <a:xfrm>
              <a:off x="15935249" y="18260568"/>
              <a:ext cx="408737" cy="384048"/>
            </a:xfrm>
            <a:prstGeom prst="rightArrow">
              <a:avLst>
                <a:gd name="adj1" fmla="val 30000"/>
                <a:gd name="adj2" fmla="val 57142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Right Arrow 128"/>
            <p:cNvSpPr/>
            <p:nvPr/>
          </p:nvSpPr>
          <p:spPr>
            <a:xfrm>
              <a:off x="19882714" y="18260568"/>
              <a:ext cx="408737" cy="384048"/>
            </a:xfrm>
            <a:prstGeom prst="rightArrow">
              <a:avLst>
                <a:gd name="adj1" fmla="val 30000"/>
                <a:gd name="adj2" fmla="val 57142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8778240" y="17876520"/>
              <a:ext cx="2880360" cy="1280160"/>
            </a:xfrm>
            <a:prstGeom prst="roundRect">
              <a:avLst>
                <a:gd name="adj" fmla="val 4285"/>
              </a:avLst>
            </a:prstGeom>
            <a:solidFill>
              <a:srgbClr val="1E1E1E"/>
            </a:solidFill>
            <a:ln w="25400">
              <a:solidFill>
                <a:srgbClr val="005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fr-CH" sz="2100" b="1" dirty="0">
                  <a:solidFill>
                    <a:srgbClr val="FFFFFF"/>
                  </a:solidFill>
                </a:rPr>
                <a:t>wary</a:t>
              </a:r>
              <a:r>
                <a:rPr sz="2100" b="1" dirty="0">
                  <a:solidFill>
                    <a:srgbClr val="FFFFFF"/>
                  </a:solidFill>
                </a:rPr>
                <a:t> or</a:t>
              </a:r>
            </a:p>
            <a:p>
              <a:pPr algn="ctr"/>
              <a:r>
                <a:rPr lang="fr-CH" sz="2100" b="1" dirty="0" err="1">
                  <a:solidFill>
                    <a:srgbClr val="FFFFFF"/>
                  </a:solidFill>
                </a:rPr>
                <a:t>hkwj</a:t>
              </a:r>
              <a:endParaRPr sz="2100" b="1" dirty="0">
                <a:solidFill>
                  <a:srgbClr val="FFFFFF"/>
                </a:solidFill>
              </a:endParaRPr>
            </a:p>
          </p:txBody>
        </p:sp>
        <p:sp>
          <p:nvSpPr>
            <p:cNvPr id="131" name="Oval 130"/>
            <p:cNvSpPr/>
            <p:nvPr/>
          </p:nvSpPr>
          <p:spPr>
            <a:xfrm>
              <a:off x="8906256" y="18004536"/>
              <a:ext cx="109728" cy="1097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8778240" y="19312128"/>
              <a:ext cx="1371600" cy="457200"/>
            </a:xfrm>
            <a:prstGeom prst="roundRect">
              <a:avLst>
                <a:gd name="adj" fmla="val 16000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F1  6.00 Hz</a:t>
              </a:r>
            </a:p>
          </p:txBody>
        </p:sp>
        <p:sp>
          <p:nvSpPr>
            <p:cNvPr id="133" name="Rounded Rectangle 132"/>
            <p:cNvSpPr/>
            <p:nvPr/>
          </p:nvSpPr>
          <p:spPr>
            <a:xfrm>
              <a:off x="10287000" y="19312128"/>
              <a:ext cx="1371600" cy="457200"/>
            </a:xfrm>
            <a:prstGeom prst="roundRect">
              <a:avLst>
                <a:gd name="adj" fmla="val 16000"/>
              </a:avLst>
            </a:prstGeom>
            <a:solidFill>
              <a:srgbClr val="D982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F2  7.06 Hz</a:t>
              </a:r>
            </a:p>
          </p:txBody>
        </p:sp>
        <p:sp>
          <p:nvSpPr>
            <p:cNvPr id="13" name="Freeform 12"/>
            <p:cNvSpPr/>
            <p:nvPr/>
          </p:nvSpPr>
          <p:spPr>
            <a:xfrm>
              <a:off x="12725705" y="17949672"/>
              <a:ext cx="2880360" cy="356616"/>
            </a:xfrm>
            <a:custGeom>
              <a:avLst/>
              <a:gdLst/>
              <a:ahLst/>
              <a:cxnLst/>
              <a:rect l="l" t="t" r="r" b="b"/>
              <a:pathLst>
                <a:path w="2880360" h="356616">
                  <a:moveTo>
                    <a:pt x="0" y="356616"/>
                  </a:moveTo>
                  <a:lnTo>
                    <a:pt x="0" y="0"/>
                  </a:lnTo>
                  <a:lnTo>
                    <a:pt x="360045" y="0"/>
                  </a:lnTo>
                  <a:lnTo>
                    <a:pt x="360045" y="356616"/>
                  </a:lnTo>
                  <a:lnTo>
                    <a:pt x="720090" y="356616"/>
                  </a:lnTo>
                  <a:lnTo>
                    <a:pt x="720090" y="0"/>
                  </a:lnTo>
                  <a:lnTo>
                    <a:pt x="1080135" y="0"/>
                  </a:lnTo>
                  <a:lnTo>
                    <a:pt x="1080135" y="356616"/>
                  </a:lnTo>
                  <a:lnTo>
                    <a:pt x="1440180" y="356616"/>
                  </a:lnTo>
                  <a:lnTo>
                    <a:pt x="1440180" y="0"/>
                  </a:lnTo>
                  <a:lnTo>
                    <a:pt x="1800225" y="0"/>
                  </a:lnTo>
                  <a:lnTo>
                    <a:pt x="1800225" y="356616"/>
                  </a:lnTo>
                  <a:lnTo>
                    <a:pt x="2160270" y="356616"/>
                  </a:lnTo>
                  <a:lnTo>
                    <a:pt x="2160270" y="0"/>
                  </a:lnTo>
                  <a:lnTo>
                    <a:pt x="2520315" y="0"/>
                  </a:lnTo>
                  <a:lnTo>
                    <a:pt x="2520315" y="356616"/>
                  </a:lnTo>
                  <a:lnTo>
                    <a:pt x="2880360" y="356616"/>
                  </a:lnTo>
                </a:path>
              </a:pathLst>
            </a:custGeom>
            <a:noFill/>
            <a:ln w="40640">
              <a:solidFill>
                <a:srgbClr val="0053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12725705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13018313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13310921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13603529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13896137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14188745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14481353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14773961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5066569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5359177" y="18635472"/>
              <a:ext cx="246888" cy="292608"/>
            </a:xfrm>
            <a:prstGeom prst="rect">
              <a:avLst/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2245645" y="19013805"/>
              <a:ext cx="3840480" cy="3771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222222"/>
                  </a:solidFill>
                </a:rPr>
                <a:t>10 words = 28.33 s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2245645" y="19399568"/>
              <a:ext cx="3840480" cy="5200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350" b="0">
                  <a:solidFill>
                    <a:srgbClr val="555555"/>
                  </a:solidFill>
                </a:rPr>
                <a:t>1 word = 680 frames</a:t>
              </a:r>
            </a:p>
            <a:p>
              <a:pPr algn="ctr"/>
              <a:r>
                <a:rPr sz="1350" b="0">
                  <a:solidFill>
                    <a:srgbClr val="555555"/>
                  </a:solidFill>
                </a:rPr>
                <a:t>17 cycles F1  |  20 cycles F2</a:t>
              </a: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6581730" y="17876520"/>
              <a:ext cx="548640" cy="685800"/>
            </a:xfrm>
            <a:prstGeom prst="roundRect">
              <a:avLst>
                <a:gd name="adj" fmla="val 13333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+</a:t>
              </a:r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17358970" y="17876520"/>
              <a:ext cx="1234440" cy="685800"/>
            </a:xfrm>
            <a:prstGeom prst="roundRect">
              <a:avLst>
                <a:gd name="adj" fmla="val 10666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10 words</a:t>
              </a: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18822010" y="17876520"/>
              <a:ext cx="914400" cy="685800"/>
            </a:xfrm>
            <a:prstGeom prst="roundRect">
              <a:avLst>
                <a:gd name="adj" fmla="val 10666"/>
              </a:avLst>
            </a:prstGeom>
            <a:solidFill>
              <a:srgbClr val="D982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</a:rPr>
                <a:t>seen?</a:t>
              </a:r>
            </a:p>
          </p:txBody>
        </p:sp>
        <p:sp>
          <p:nvSpPr>
            <p:cNvPr id="149" name="Right Arrow 148"/>
            <p:cNvSpPr/>
            <p:nvPr/>
          </p:nvSpPr>
          <p:spPr>
            <a:xfrm>
              <a:off x="17148658" y="18127980"/>
              <a:ext cx="192024" cy="182880"/>
            </a:xfrm>
            <a:prstGeom prst="rightArrow">
              <a:avLst>
                <a:gd name="adj1" fmla="val 40000"/>
                <a:gd name="adj2" fmla="val 50000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Right Arrow 149"/>
            <p:cNvSpPr/>
            <p:nvPr/>
          </p:nvSpPr>
          <p:spPr>
            <a:xfrm>
              <a:off x="18611698" y="18127980"/>
              <a:ext cx="192024" cy="182880"/>
            </a:xfrm>
            <a:prstGeom prst="rightArrow">
              <a:avLst>
                <a:gd name="adj1" fmla="val 40000"/>
                <a:gd name="adj2" fmla="val 50000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4935810" y="18614580"/>
              <a:ext cx="3840480" cy="29781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300" b="0">
                  <a:solidFill>
                    <a:srgbClr val="555555"/>
                  </a:solidFill>
                </a:rPr>
                <a:t>2 s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6055950" y="18614580"/>
              <a:ext cx="3840480" cy="29781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300" b="0">
                  <a:solidFill>
                    <a:srgbClr val="555555"/>
                  </a:solidFill>
                </a:rPr>
                <a:t>28.33 s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7358970" y="18614580"/>
              <a:ext cx="3840480" cy="29781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300" b="0">
                  <a:solidFill>
                    <a:srgbClr val="555555"/>
                  </a:solidFill>
                </a:rPr>
                <a:t>1 s + 4 × 2.83 s</a:t>
              </a:r>
            </a:p>
          </p:txBody>
        </p:sp>
        <p:sp>
          <p:nvSpPr>
            <p:cNvPr id="154" name="Rounded Rectangle 153"/>
            <p:cNvSpPr/>
            <p:nvPr/>
          </p:nvSpPr>
          <p:spPr>
            <a:xfrm>
              <a:off x="16810330" y="19156680"/>
              <a:ext cx="1188720" cy="502920"/>
            </a:xfrm>
            <a:prstGeom prst="roundRect">
              <a:avLst>
                <a:gd name="adj" fmla="val 14545"/>
              </a:avLst>
            </a:prstGeom>
            <a:solidFill>
              <a:srgbClr val="00905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YES</a:t>
              </a:r>
            </a:p>
          </p:txBody>
        </p:sp>
        <p:sp>
          <p:nvSpPr>
            <p:cNvPr id="155" name="Rounded Rectangle 154"/>
            <p:cNvSpPr/>
            <p:nvPr/>
          </p:nvSpPr>
          <p:spPr>
            <a:xfrm>
              <a:off x="18227650" y="19156680"/>
              <a:ext cx="1188720" cy="502920"/>
            </a:xfrm>
            <a:prstGeom prst="roundRect">
              <a:avLst>
                <a:gd name="adj" fmla="val 14545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</a:rPr>
                <a:t>NO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20529194" y="17871313"/>
              <a:ext cx="3840480" cy="5041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2600" b="1">
                  <a:solidFill>
                    <a:srgbClr val="00539B"/>
                  </a:solidFill>
                </a:rPr>
                <a:t>N = 30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21919082" y="17875123"/>
              <a:ext cx="3840480" cy="31369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400" b="0">
                  <a:solidFill>
                    <a:srgbClr val="222222"/>
                  </a:solidFill>
                </a:rPr>
                <a:t>19 female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21919082" y="18153412"/>
              <a:ext cx="3840480" cy="3057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350" b="0" dirty="0">
                  <a:solidFill>
                    <a:srgbClr val="222222"/>
                  </a:solidFill>
                </a:rPr>
                <a:t>age 24.9 ± 6.9 y (n = 29)</a:t>
              </a:r>
            </a:p>
          </p:txBody>
        </p:sp>
        <p:sp>
          <p:nvSpPr>
            <p:cNvPr id="159" name="Rounded Rectangle 158"/>
            <p:cNvSpPr/>
            <p:nvPr/>
          </p:nvSpPr>
          <p:spPr>
            <a:xfrm>
              <a:off x="20529194" y="18580608"/>
              <a:ext cx="3063240" cy="502920"/>
            </a:xfrm>
            <a:prstGeom prst="roundRect">
              <a:avLst>
                <a:gd name="adj" fmla="val 14545"/>
              </a:avLst>
            </a:prstGeom>
            <a:solidFill>
              <a:srgbClr val="0053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right-handed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native English speakers</a:t>
              </a:r>
            </a:p>
          </p:txBody>
        </p:sp>
        <p:sp>
          <p:nvSpPr>
            <p:cNvPr id="160" name="Rounded Rectangle 159"/>
            <p:cNvSpPr/>
            <p:nvPr/>
          </p:nvSpPr>
          <p:spPr>
            <a:xfrm>
              <a:off x="20529194" y="19156680"/>
              <a:ext cx="3063240" cy="502920"/>
            </a:xfrm>
            <a:prstGeom prst="roundRect">
              <a:avLst>
                <a:gd name="adj" fmla="val 14545"/>
              </a:avLst>
            </a:prstGeom>
            <a:solidFill>
              <a:srgbClr val="D982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normal or corrected vision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no neurological history</a:t>
              </a:r>
            </a:p>
          </p:txBody>
        </p:sp>
      </p:grpSp>
      <p:sp>
        <p:nvSpPr>
          <p:cNvPr id="253" name="Results header"/>
          <p:cNvSpPr txBox="1"/>
          <p:nvPr/>
        </p:nvSpPr>
        <p:spPr>
          <a:xfrm>
            <a:off x="25100280" y="7973568"/>
            <a:ext cx="73152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5400" b="1">
                <a:solidFill>
                  <a:srgbClr val="222222"/>
                </a:solidFill>
              </a:rPr>
              <a:t>Results</a:t>
            </a:r>
          </a:p>
        </p:txBody>
      </p:sp>
      <p:sp>
        <p:nvSpPr>
          <p:cNvPr id="257" name="Results 2 title"/>
          <p:cNvSpPr txBox="1"/>
          <p:nvPr/>
        </p:nvSpPr>
        <p:spPr>
          <a:xfrm>
            <a:off x="25100280" y="8851392"/>
            <a:ext cx="16413480" cy="4739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lang="en-US" sz="3000" b="1" dirty="0">
                <a:solidFill>
                  <a:srgbClr val="00539B"/>
                </a:solidFill>
              </a:rPr>
              <a:t>1 · Sensor space: the word-locked response separates words from consonant strings  (Aim 1)</a:t>
            </a:r>
          </a:p>
        </p:txBody>
      </p:sp>
      <p:pic>
        <p:nvPicPr>
          <p:cNvPr id="258" name="Fig sensor wordness topomap a (SVG)" descr="sensor_wordness_topo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100280" y="9308592"/>
            <a:ext cx="4206240" cy="2743200"/>
          </a:xfrm>
          <a:prstGeom prst="rect">
            <a:avLst/>
          </a:prstGeom>
        </p:spPr>
      </p:pic>
      <p:pic>
        <p:nvPicPr>
          <p:cNvPr id="259" name="Fig sensor wordness GFP b (SVG)" descr="sensor_wordness_gfp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397960" y="9308592"/>
            <a:ext cx="4206240" cy="2743200"/>
          </a:xfrm>
          <a:prstGeom prst="rect">
            <a:avLst/>
          </a:prstGeom>
        </p:spPr>
      </p:pic>
      <p:sp>
        <p:nvSpPr>
          <p:cNvPr id="261" name="Results 2 text"/>
          <p:cNvSpPr txBox="1"/>
          <p:nvPr/>
        </p:nvSpPr>
        <p:spPr>
          <a:xfrm>
            <a:off x="25100280" y="12737592"/>
            <a:ext cx="16413480" cy="9715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lang="fr-FR" sz="2000" b="1" dirty="0">
                <a:solidFill>
                  <a:srgbClr val="222222"/>
                </a:solidFill>
              </a:rPr>
              <a:t>One Word &gt; Non-word cluster</a:t>
            </a:r>
            <a:r>
              <a:rPr lang="fr-FR" sz="2000" b="0" dirty="0">
                <a:solidFill>
                  <a:srgbClr val="222222"/>
                </a:solidFill>
              </a:rPr>
              <a:t> over left posterior and temporal sensors (N = 26, 84 sensors, p &lt; .001), robust to blinks, saccades and artifacts (clean epochs: dz = 1.31, 20/21 subjects). Tag × Wordness: n.s.</a:t>
            </a:r>
          </a:p>
          <a:p>
            <a:pPr>
              <a:spcAft>
                <a:spcPts val="400"/>
              </a:spcAft>
            </a:pPr>
            <a:r>
              <a:rPr lang="fr-FR" sz="1500" dirty="0">
                <a:solidFill>
                  <a:srgbClr val="555555"/>
                </a:solidFill>
              </a:rPr>
              <a:t>(a) mean |t| in the cluster window (N = 26); (b) GFP of W − NW vs sign-flip noise (shaded: 95 %; dashed: FWER), exceeded at 628–764 ms; right: grand averages (N = 25) at 350 / 500 ms, ±25 ms; fixation baseline.</a:t>
            </a:r>
          </a:p>
        </p:txBody>
      </p:sp>
      <p:sp>
        <p:nvSpPr>
          <p:cNvPr id="262" name="Results 3 title"/>
          <p:cNvSpPr txBox="1"/>
          <p:nvPr/>
        </p:nvSpPr>
        <p:spPr>
          <a:xfrm>
            <a:off x="25100280" y="13743432"/>
            <a:ext cx="16413480" cy="4739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lang="en-US" sz="3000" b="1" dirty="0">
                <a:solidFill>
                  <a:srgbClr val="00539B"/>
                </a:solidFill>
              </a:rPr>
              <a:t>2 · Sources: Word &gt; Non-word, maximal and sustained in anterior temporal cortex  (Aim 1)</a:t>
            </a:r>
          </a:p>
        </p:txBody>
      </p:sp>
      <p:sp>
        <p:nvSpPr>
          <p:cNvPr id="44" name="Results 1 title">
            <a:extLst>
              <a:ext uri="{FF2B5EF4-FFF2-40B4-BE49-F238E27FC236}">
                <a16:creationId xmlns:a16="http://schemas.microsoft.com/office/drawing/2014/main" id="{0FA8B39C-142B-C746-E9DD-0574C56A7479}"/>
              </a:ext>
            </a:extLst>
          </p:cNvPr>
          <p:cNvSpPr txBox="1"/>
          <p:nvPr/>
        </p:nvSpPr>
        <p:spPr>
          <a:xfrm>
            <a:off x="25100280" y="18693223"/>
            <a:ext cx="16413480" cy="4739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3000" b="1" dirty="0">
                <a:solidFill>
                  <a:srgbClr val="00539B"/>
                </a:solidFill>
              </a:rPr>
              <a:t>3 · The tag follows the visual input, not wordness  (Aim 2)</a:t>
            </a:r>
          </a:p>
        </p:txBody>
      </p:sp>
      <p:pic>
        <p:nvPicPr>
          <p:cNvPr id="255" name="Fig block 3 tag vs evoked, both ROIs (SVG)" descr="block1_4cond_violin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100280" y="19184112"/>
            <a:ext cx="16413480" cy="3977639"/>
          </a:xfrm>
          <a:prstGeom prst="rect">
            <a:avLst/>
          </a:prstGeom>
        </p:spPr>
      </p:pic>
      <p:sp>
        <p:nvSpPr>
          <p:cNvPr id="256" name="Results 1 text"/>
          <p:cNvSpPr txBox="1"/>
          <p:nvPr/>
        </p:nvSpPr>
        <p:spPr>
          <a:xfrm>
            <a:off x="25100280" y="23192071"/>
            <a:ext cx="16413480" cy="9715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2000" b="1" dirty="0">
                <a:solidFill>
                  <a:srgbClr val="7B3FA0"/>
                </a:solidFill>
              </a:rPr>
              <a:t>Tag</a:t>
            </a:r>
            <a:r>
              <a:rPr sz="2000" b="0" dirty="0">
                <a:solidFill>
                  <a:srgbClr val="222222"/>
                </a:solidFill>
              </a:rPr>
              <a:t> (harmonics 1–4): occipital Non-words &gt; Words (dz = −.88, p &lt; .001), following their larger letter area on screen; left-temporal Words ≈ Non-words (|dz| &lt; .5, TOST p = .03, BF01 = 4.2). </a:t>
            </a:r>
            <a:r>
              <a:rPr sz="2000" b="1" dirty="0">
                <a:solidFill>
                  <a:srgbClr val="2A9D8F"/>
                </a:solidFill>
              </a:rPr>
              <a:t>Evoked</a:t>
            </a:r>
            <a:r>
              <a:rPr sz="2000" b="0" dirty="0">
                <a:solidFill>
                  <a:srgbClr val="222222"/>
                </a:solidFill>
              </a:rPr>
              <a:t> 250–600 ms, the reverse: left-temporal W &gt; NW (dz = 1.04, p &lt; .001), occipital n.s.</a:t>
            </a: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555555"/>
                </a:solidFill>
              </a:rPr>
              <a:t>N = 20 (sensor cohort), same epochs for both measures; per-word SNR, 2.83 s FFT, 3 neighbours/side; diamonds = mean ± 95 % CI; Tag × Wordness n.s.</a:t>
            </a:r>
          </a:p>
        </p:txBody>
      </p:sp>
      <p:sp>
        <p:nvSpPr>
          <p:cNvPr id="5" name="Espace réservé du texte 8">
            <a:extLst>
              <a:ext uri="{FF2B5EF4-FFF2-40B4-BE49-F238E27FC236}">
                <a16:creationId xmlns:a16="http://schemas.microsoft.com/office/drawing/2014/main" id="{95D7DA98-5471-A2D5-71C4-719F0CA53B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35295" y="24227292"/>
            <a:ext cx="15414136" cy="3950172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9" name="Pitfalls we hit">
            <a:extLst>
              <a:ext uri="{FF2B5EF4-FFF2-40B4-BE49-F238E27FC236}">
                <a16:creationId xmlns:a16="http://schemas.microsoft.com/office/drawing/2014/main" id="{E22D39AE-0BCC-6307-03E4-8C5E8DEA47F0}"/>
              </a:ext>
            </a:extLst>
          </p:cNvPr>
          <p:cNvSpPr/>
          <p:nvPr/>
        </p:nvSpPr>
        <p:spPr>
          <a:xfrm>
            <a:off x="8430768" y="24140160"/>
            <a:ext cx="11292840" cy="3931920"/>
          </a:xfrm>
          <a:prstGeom prst="roundRect">
            <a:avLst>
              <a:gd name="adj" fmla="val 4000"/>
            </a:avLst>
          </a:prstGeom>
          <a:solidFill>
            <a:srgbClr val="FBF7EE"/>
          </a:solidFill>
          <a:ln w="25400">
            <a:solidFill>
              <a:srgbClr val="C8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t"/>
          <a:lstStyle/>
          <a:p>
            <a:pPr algn="ctr">
              <a:spcAft>
                <a:spcPts val="600"/>
              </a:spcAft>
            </a:pPr>
            <a:r>
              <a:rPr sz="3000" b="1" dirty="0">
                <a:solidFill>
                  <a:srgbClr val="A06200"/>
                </a:solidFill>
              </a:rPr>
              <a:t>Pitfalls we hit — and how we fixed them</a:t>
            </a:r>
          </a:p>
          <a:p>
            <a:pPr indent="0" algn="l">
              <a:buNone/>
            </a:pPr>
            <a:r>
              <a:rPr lang="fr-FR" sz="2000" b="1" i="0" dirty="0">
                <a:solidFill>
                  <a:schemeClr val="tx1"/>
                </a:solidFill>
                <a:effectLst/>
                <a:latin typeface="-apple-system"/>
              </a:rPr>
              <a:t>1  Tags off by one FFT bin. </a:t>
            </a:r>
            <a:r>
              <a:rPr lang="fr-FR" sz="2000" b="0" i="0" dirty="0">
                <a:solidFill>
                  <a:schemeClr val="tx1"/>
                </a:solidFill>
                <a:effectLst/>
                <a:latin typeface="-apple-system"/>
              </a:rPr>
              <a:t>The display ran ~0.5 % slow (photodiode: 5.965 / 7.024 Hz): read the SNR at the measured bin.</a:t>
            </a:r>
          </a:p>
          <a:p>
            <a:pPr indent="0" algn="l">
              <a:buNone/>
            </a:pPr>
            <a:r>
              <a:rPr lang="fr-FR" sz="2000" b="1" i="0" dirty="0">
                <a:solidFill>
                  <a:schemeClr val="tx1"/>
                </a:solidFill>
                <a:effectLst/>
                <a:latin typeface="-apple-system"/>
              </a:rPr>
              <a:t>2  Unequal trial counts faked an effect. </a:t>
            </a:r>
            <a:r>
              <a:rPr lang="fr-FR" sz="2000" b="0" i="0" dirty="0">
                <a:solidFill>
                  <a:schemeClr val="tx1"/>
                </a:solidFill>
                <a:effectLst/>
                <a:latin typeface="-apple-system"/>
              </a:rPr>
              <a:t>A time-resolved source effect vanished once counts were equalized (the whole-epoch effect remains).</a:t>
            </a:r>
          </a:p>
          <a:p>
            <a:pPr algn="l"/>
            <a:r>
              <a:rPr lang="fr-FR" sz="2000" b="1" i="0" dirty="0">
                <a:solidFill>
                  <a:schemeClr val="tx1"/>
                </a:solidFill>
                <a:effectLst/>
                <a:latin typeface="-apple-system"/>
              </a:rPr>
              <a:t>3  No gap between words. </a:t>
            </a:r>
            <a:r>
              <a:rPr lang="fr-FR" sz="2000" b="0" i="0" dirty="0">
                <a:solidFill>
                  <a:schemeClr val="tx1"/>
                </a:solidFill>
                <a:effectLst/>
                <a:latin typeface="-apple-system"/>
              </a:rPr>
              <a:t>The pre-stimulus window holds the previous word: baseline on fixation </a:t>
            </a:r>
            <a:r>
              <a:rPr lang="fr-FR" sz="2000" b="0" i="0" dirty="0" err="1">
                <a:solidFill>
                  <a:schemeClr val="tx1"/>
                </a:solidFill>
                <a:effectLst/>
                <a:latin typeface="-apple-system"/>
              </a:rPr>
              <a:t>instead</a:t>
            </a:r>
            <a:r>
              <a:rPr lang="fr-FR" sz="2000" b="0" i="0" dirty="0">
                <a:solidFill>
                  <a:schemeClr val="tx1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fr-FR" sz="2000" b="1" i="0" dirty="0">
                <a:solidFill>
                  <a:schemeClr val="tx1"/>
                </a:solidFill>
                <a:effectLst/>
                <a:latin typeface="-apple-system"/>
              </a:rPr>
              <a:t>4  Check the noise-covariance rank. </a:t>
            </a:r>
            <a:r>
              <a:rPr lang="fr-FR" sz="2000" b="0" i="0" dirty="0">
                <a:solidFill>
                  <a:schemeClr val="tx1"/>
                </a:solidFill>
                <a:effectLst/>
                <a:latin typeface="-apple-system"/>
              </a:rPr>
              <a:t>After SSS, 3 subjects kept a ~1e-38 eigenvalue (dSPM ×10⁶, distorted maps): fixed with mne.compute_rank(tol='auto').</a:t>
            </a:r>
          </a:p>
        </p:txBody>
      </p:sp>
      <p:sp>
        <p:nvSpPr>
          <p:cNvPr id="15" name="QR code placeholder (replace with your QR image)">
            <a:extLst>
              <a:ext uri="{FF2B5EF4-FFF2-40B4-BE49-F238E27FC236}">
                <a16:creationId xmlns:a16="http://schemas.microsoft.com/office/drawing/2014/main" id="{887F999D-8F55-4E3A-BBD5-7123D726FF9B}"/>
              </a:ext>
            </a:extLst>
          </p:cNvPr>
          <p:cNvSpPr/>
          <p:nvPr/>
        </p:nvSpPr>
        <p:spPr>
          <a:xfrm>
            <a:off x="19933920" y="24140160"/>
            <a:ext cx="3931920" cy="3931920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bIns="73152" rtlCol="0" anchor="b"/>
          <a:lstStyle/>
          <a:p>
            <a:pPr algn="ctr"/>
            <a:r>
              <a:rPr sz="1600" b="1">
                <a:solidFill>
                  <a:srgbClr val="555555"/>
                </a:solidFill>
              </a:rPr>
              <a:t>Code · supplementary figures S1–S4 · cohort</a:t>
            </a:r>
          </a:p>
          <a:p>
            <a:pPr algn="ctr"/>
            <a:r>
              <a:rPr sz="1300" b="0">
                <a:solidFill>
                  <a:srgbClr val="555555"/>
                </a:solidFill>
              </a:rPr>
              <a:t>github.com/Orion212-lab/snl2026-ft-word-pathway</a:t>
            </a:r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B4CDADF2-36C4-0637-CB3B-8D57D381A98F}"/>
              </a:ext>
            </a:extLst>
          </p:cNvPr>
          <p:cNvGrpSpPr/>
          <p:nvPr/>
        </p:nvGrpSpPr>
        <p:grpSpPr>
          <a:xfrm>
            <a:off x="8430768" y="20234299"/>
            <a:ext cx="15416784" cy="1280160"/>
            <a:chOff x="8430768" y="28876752"/>
            <a:chExt cx="15416784" cy="1280160"/>
          </a:xfrm>
        </p:grpSpPr>
        <p:sp>
          <p:nvSpPr>
            <p:cNvPr id="37" name="Preprocessing box">
              <a:extLst>
                <a:ext uri="{FF2B5EF4-FFF2-40B4-BE49-F238E27FC236}">
                  <a16:creationId xmlns:a16="http://schemas.microsoft.com/office/drawing/2014/main" id="{5455BAE8-ADEA-89A7-1740-20B817A4721B}"/>
                </a:ext>
              </a:extLst>
            </p:cNvPr>
            <p:cNvSpPr/>
            <p:nvPr/>
          </p:nvSpPr>
          <p:spPr>
            <a:xfrm>
              <a:off x="8430768" y="28876752"/>
              <a:ext cx="15416784" cy="1280160"/>
            </a:xfrm>
            <a:prstGeom prst="roundRect">
              <a:avLst>
                <a:gd name="adj" fmla="val 12000"/>
              </a:avLst>
            </a:prstGeom>
            <a:solidFill>
              <a:srgbClr val="FBEBEA"/>
            </a:solidFill>
            <a:ln w="1905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Preprocessing header">
              <a:extLst>
                <a:ext uri="{FF2B5EF4-FFF2-40B4-BE49-F238E27FC236}">
                  <a16:creationId xmlns:a16="http://schemas.microsoft.com/office/drawing/2014/main" id="{896D1A1C-5857-06C1-2425-D201B4F50C55}"/>
                </a:ext>
              </a:extLst>
            </p:cNvPr>
            <p:cNvSpPr txBox="1"/>
            <p:nvPr/>
          </p:nvSpPr>
          <p:spPr>
            <a:xfrm>
              <a:off x="8595360" y="28913328"/>
              <a:ext cx="15087600" cy="617605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1700" b="1" dirty="0">
                  <a:solidFill>
                    <a:srgbClr val="C0392B"/>
                  </a:solidFill>
                </a:rPr>
                <a:t>PREPROCESSING</a:t>
              </a:r>
              <a:r>
                <a:rPr sz="1500" b="0" dirty="0">
                  <a:solidFill>
                    <a:srgbClr val="C0392B"/>
                  </a:solidFill>
                </a:rPr>
                <a:t>   all subjects · no ICA · MNE-BIDS-Pipeline</a:t>
              </a:r>
              <a:r>
                <a:rPr lang="fr-CH" sz="1500" b="0" dirty="0">
                  <a:solidFill>
                    <a:srgbClr val="C0392B"/>
                  </a:solidFill>
                </a:rPr>
                <a:t> </a:t>
              </a:r>
              <a:r>
                <a:rPr lang="fr-CH" sz="1200" b="0" dirty="0">
                  <a:solidFill>
                    <a:srgbClr val="C0392B"/>
                  </a:solidFill>
                </a:rPr>
                <a:t>(MNE-Python 1.10.2  |  MNE-BIDS-Pipeline 1.10.1  |  </a:t>
              </a:r>
              <a:r>
                <a:rPr lang="fr-CH" sz="1200" b="0" dirty="0" err="1">
                  <a:solidFill>
                    <a:srgbClr val="C0392B"/>
                  </a:solidFill>
                </a:rPr>
                <a:t>FreeSurfer</a:t>
              </a:r>
              <a:r>
                <a:rPr lang="fr-CH" sz="1200" b="0" dirty="0">
                  <a:solidFill>
                    <a:srgbClr val="C0392B"/>
                  </a:solidFill>
                </a:rPr>
                <a:t> 7.1.2)</a:t>
              </a:r>
              <a:endParaRPr lang="fr-CH" sz="1500" b="0" dirty="0">
                <a:solidFill>
                  <a:srgbClr val="C0392B"/>
                </a:solidFill>
              </a:endParaRPr>
            </a:p>
          </p:txBody>
        </p:sp>
        <p:sp>
          <p:nvSpPr>
            <p:cNvPr id="45" name="Preprocessing step 1">
              <a:extLst>
                <a:ext uri="{FF2B5EF4-FFF2-40B4-BE49-F238E27FC236}">
                  <a16:creationId xmlns:a16="http://schemas.microsoft.com/office/drawing/2014/main" id="{0293C036-030E-3F7A-E025-08917F4F0FD7}"/>
                </a:ext>
              </a:extLst>
            </p:cNvPr>
            <p:cNvSpPr/>
            <p:nvPr/>
          </p:nvSpPr>
          <p:spPr>
            <a:xfrm>
              <a:off x="8549640" y="29288232"/>
              <a:ext cx="2542032" cy="786384"/>
            </a:xfrm>
            <a:prstGeom prst="homePlate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1400" b="1">
                  <a:solidFill>
                    <a:srgbClr val="C0392B"/>
                  </a:solidFill>
                </a:rPr>
                <a:t>Maxfilter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</a:rPr>
                <a:t>fine-cal + cross-talk, SSS order 8, movement comp.</a:t>
              </a:r>
            </a:p>
          </p:txBody>
        </p:sp>
        <p:sp>
          <p:nvSpPr>
            <p:cNvPr id="49" name="Preprocessing step 2">
              <a:extLst>
                <a:ext uri="{FF2B5EF4-FFF2-40B4-BE49-F238E27FC236}">
                  <a16:creationId xmlns:a16="http://schemas.microsoft.com/office/drawing/2014/main" id="{16367D77-65A7-057C-FDF9-25E6EE9EDB95}"/>
                </a:ext>
              </a:extLst>
            </p:cNvPr>
            <p:cNvSpPr/>
            <p:nvPr/>
          </p:nvSpPr>
          <p:spPr>
            <a:xfrm>
              <a:off x="11073384" y="29288232"/>
              <a:ext cx="2542032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1400" b="1" dirty="0">
                  <a:solidFill>
                    <a:srgbClr val="C0392B"/>
                  </a:solidFill>
                </a:rPr>
                <a:t>Filter</a:t>
              </a:r>
            </a:p>
            <a:p>
              <a:pPr algn="ctr"/>
              <a:r>
                <a:rPr sz="1100" b="0" dirty="0">
                  <a:solidFill>
                    <a:srgbClr val="222222"/>
                  </a:solidFill>
                </a:rPr>
                <a:t>notch 50/100 Hz · band-pass 0.1–120 Hz (evoked: 40 Hz low-pass)</a:t>
              </a:r>
            </a:p>
          </p:txBody>
        </p:sp>
        <p:sp>
          <p:nvSpPr>
            <p:cNvPr id="51" name="Preprocessing step 3">
              <a:extLst>
                <a:ext uri="{FF2B5EF4-FFF2-40B4-BE49-F238E27FC236}">
                  <a16:creationId xmlns:a16="http://schemas.microsoft.com/office/drawing/2014/main" id="{01236F5D-5AE6-2657-4D41-573108CFD8B9}"/>
                </a:ext>
              </a:extLst>
            </p:cNvPr>
            <p:cNvSpPr/>
            <p:nvPr/>
          </p:nvSpPr>
          <p:spPr>
            <a:xfrm>
              <a:off x="13597128" y="29288232"/>
              <a:ext cx="2542032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1400" b="1">
                  <a:solidFill>
                    <a:srgbClr val="C0392B"/>
                  </a:solidFill>
                </a:rPr>
                <a:t>Resample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</a:rPr>
                <a:t>1 kHz</a:t>
              </a:r>
            </a:p>
          </p:txBody>
        </p:sp>
        <p:sp>
          <p:nvSpPr>
            <p:cNvPr id="53" name="Preprocessing step 4">
              <a:extLst>
                <a:ext uri="{FF2B5EF4-FFF2-40B4-BE49-F238E27FC236}">
                  <a16:creationId xmlns:a16="http://schemas.microsoft.com/office/drawing/2014/main" id="{3E4B8D30-33ED-5146-EEDA-7E23C5B4EFFA}"/>
                </a:ext>
              </a:extLst>
            </p:cNvPr>
            <p:cNvSpPr/>
            <p:nvPr/>
          </p:nvSpPr>
          <p:spPr>
            <a:xfrm>
              <a:off x="16120872" y="29288232"/>
              <a:ext cx="2542032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1400" b="1">
                  <a:solidFill>
                    <a:srgbClr val="C0392B"/>
                  </a:solidFill>
                </a:rPr>
                <a:t>Epochs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</a:rPr>
                <a:t>mini-block 28.33 s · word −0.2–1 s</a:t>
              </a:r>
            </a:p>
          </p:txBody>
        </p:sp>
        <p:sp>
          <p:nvSpPr>
            <p:cNvPr id="55" name="Preprocessing step 5">
              <a:extLst>
                <a:ext uri="{FF2B5EF4-FFF2-40B4-BE49-F238E27FC236}">
                  <a16:creationId xmlns:a16="http://schemas.microsoft.com/office/drawing/2014/main" id="{19D759CA-8272-3895-CB02-5403EC23B985}"/>
                </a:ext>
              </a:extLst>
            </p:cNvPr>
            <p:cNvSpPr/>
            <p:nvPr/>
          </p:nvSpPr>
          <p:spPr>
            <a:xfrm>
              <a:off x="18644616" y="29288232"/>
              <a:ext cx="2542032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1400" b="1">
                  <a:solidFill>
                    <a:srgbClr val="C0392B"/>
                  </a:solidFill>
                </a:rPr>
                <a:t>Baseline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</a:rPr>
                <a:t>fixation (flicker-free rest)</a:t>
              </a:r>
            </a:p>
          </p:txBody>
        </p:sp>
        <p:sp>
          <p:nvSpPr>
            <p:cNvPr id="57" name="Preprocessing step 6">
              <a:extLst>
                <a:ext uri="{FF2B5EF4-FFF2-40B4-BE49-F238E27FC236}">
                  <a16:creationId xmlns:a16="http://schemas.microsoft.com/office/drawing/2014/main" id="{0CA298C3-FFFF-EAB2-7AD7-85DDC102C2F0}"/>
                </a:ext>
              </a:extLst>
            </p:cNvPr>
            <p:cNvSpPr/>
            <p:nvPr/>
          </p:nvSpPr>
          <p:spPr>
            <a:xfrm>
              <a:off x="21168360" y="29288232"/>
              <a:ext cx="2542032" cy="786384"/>
            </a:xfrm>
            <a:prstGeom prst="chevron">
              <a:avLst>
                <a:gd name="adj" fmla="val 22000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6032" tIns="0" rIns="164592" bIns="0" rtlCol="0" anchor="ctr"/>
            <a:lstStyle/>
            <a:p>
              <a:pPr algn="ctr"/>
              <a:r>
                <a:rPr sz="1400" b="1">
                  <a:solidFill>
                    <a:srgbClr val="C0392B"/>
                  </a:solidFill>
                </a:rPr>
                <a:t>Rejection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</a:rPr>
                <a:t>PTP mag 4000 fT · grad 4000 fT/cm → equal trials</a:t>
              </a: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1A79D63E-5090-A49E-ABE3-065B322D46BC}"/>
              </a:ext>
            </a:extLst>
          </p:cNvPr>
          <p:cNvGrpSpPr/>
          <p:nvPr/>
        </p:nvGrpSpPr>
        <p:grpSpPr>
          <a:xfrm>
            <a:off x="25100280" y="27614880"/>
            <a:ext cx="16413480" cy="2249424"/>
            <a:chOff x="25100280" y="27614880"/>
            <a:chExt cx="16413480" cy="2249424"/>
          </a:xfrm>
        </p:grpSpPr>
        <p:sp>
          <p:nvSpPr>
            <p:cNvPr id="60" name="synth label stage">
              <a:extLst>
                <a:ext uri="{FF2B5EF4-FFF2-40B4-BE49-F238E27FC236}">
                  <a16:creationId xmlns:a16="http://schemas.microsoft.com/office/drawing/2014/main" id="{E14BEC75-1A19-FC53-5E49-953D8BA90413}"/>
                </a:ext>
              </a:extLst>
            </p:cNvPr>
            <p:cNvSpPr txBox="1"/>
            <p:nvPr/>
          </p:nvSpPr>
          <p:spPr>
            <a:xfrm>
              <a:off x="25100280" y="27614880"/>
              <a:ext cx="2057400" cy="566928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1700" b="1" dirty="0">
                  <a:solidFill>
                    <a:srgbClr val="222222"/>
                  </a:solidFill>
                </a:rPr>
                <a:t>Stage</a:t>
              </a:r>
            </a:p>
          </p:txBody>
        </p:sp>
        <p:sp>
          <p:nvSpPr>
            <p:cNvPr id="61" name="synth label FT">
              <a:extLst>
                <a:ext uri="{FF2B5EF4-FFF2-40B4-BE49-F238E27FC236}">
                  <a16:creationId xmlns:a16="http://schemas.microsoft.com/office/drawing/2014/main" id="{4199C4DD-B4CF-A4DA-6A63-8815AB60E202}"/>
                </a:ext>
              </a:extLst>
            </p:cNvPr>
            <p:cNvSpPr txBox="1"/>
            <p:nvPr/>
          </p:nvSpPr>
          <p:spPr>
            <a:xfrm>
              <a:off x="25100280" y="28785312"/>
              <a:ext cx="2057400" cy="457200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1700" b="1">
                  <a:solidFill>
                    <a:srgbClr val="7B3FA0"/>
                  </a:solidFill>
                </a:rPr>
                <a:t>Tag (FT)</a:t>
              </a:r>
            </a:p>
          </p:txBody>
        </p:sp>
        <p:sp>
          <p:nvSpPr>
            <p:cNvPr id="62" name="synth label evoked">
              <a:extLst>
                <a:ext uri="{FF2B5EF4-FFF2-40B4-BE49-F238E27FC236}">
                  <a16:creationId xmlns:a16="http://schemas.microsoft.com/office/drawing/2014/main" id="{9E51F480-45D9-EA72-F130-FAF874EC54D1}"/>
                </a:ext>
              </a:extLst>
            </p:cNvPr>
            <p:cNvSpPr txBox="1"/>
            <p:nvPr/>
          </p:nvSpPr>
          <p:spPr>
            <a:xfrm>
              <a:off x="25100280" y="28254960"/>
              <a:ext cx="2057400" cy="457200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1700" b="1">
                  <a:solidFill>
                    <a:srgbClr val="2A9D8F"/>
                  </a:solidFill>
                </a:rPr>
                <a:t>Evoked</a:t>
              </a:r>
            </a:p>
          </p:txBody>
        </p:sp>
        <p:sp>
          <p:nvSpPr>
            <p:cNvPr id="63" name="synth stage 1">
              <a:extLst>
                <a:ext uri="{FF2B5EF4-FFF2-40B4-BE49-F238E27FC236}">
                  <a16:creationId xmlns:a16="http://schemas.microsoft.com/office/drawing/2014/main" id="{0AED9A81-E839-B1F3-7A12-B65E6ED60216}"/>
                </a:ext>
              </a:extLst>
            </p:cNvPr>
            <p:cNvSpPr/>
            <p:nvPr/>
          </p:nvSpPr>
          <p:spPr>
            <a:xfrm>
              <a:off x="27249120" y="27614880"/>
              <a:ext cx="3326130" cy="566928"/>
            </a:xfrm>
            <a:prstGeom prst="roundRect">
              <a:avLst>
                <a:gd name="adj" fmla="val 25000"/>
              </a:avLst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600" b="1">
                  <a:solidFill>
                    <a:srgbClr val="00539B"/>
                  </a:solidFill>
                </a:rPr>
                <a:t>V1 · ~100 ms</a:t>
              </a:r>
            </a:p>
          </p:txBody>
        </p:sp>
        <p:sp>
          <p:nvSpPr>
            <p:cNvPr id="64" name="synth arrow 1">
              <a:extLst>
                <a:ext uri="{FF2B5EF4-FFF2-40B4-BE49-F238E27FC236}">
                  <a16:creationId xmlns:a16="http://schemas.microsoft.com/office/drawing/2014/main" id="{6740A694-8864-A097-D358-555373457EE9}"/>
                </a:ext>
              </a:extLst>
            </p:cNvPr>
            <p:cNvSpPr/>
            <p:nvPr/>
          </p:nvSpPr>
          <p:spPr>
            <a:xfrm>
              <a:off x="30620969" y="27761184"/>
              <a:ext cx="228600" cy="274320"/>
            </a:xfrm>
            <a:prstGeom prst="rightArrow">
              <a:avLst/>
            </a:prstGeom>
            <a:solidFill>
              <a:srgbClr val="0053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synth evoked 1">
              <a:extLst>
                <a:ext uri="{FF2B5EF4-FFF2-40B4-BE49-F238E27FC236}">
                  <a16:creationId xmlns:a16="http://schemas.microsoft.com/office/drawing/2014/main" id="{D5DE66D3-5797-3AD8-8BE5-E3A0A56502F3}"/>
                </a:ext>
              </a:extLst>
            </p:cNvPr>
            <p:cNvSpPr/>
            <p:nvPr/>
          </p:nvSpPr>
          <p:spPr>
            <a:xfrm>
              <a:off x="27249120" y="28254960"/>
              <a:ext cx="3326130" cy="457200"/>
            </a:xfrm>
            <a:prstGeom prst="roundRect">
              <a:avLst>
                <a:gd name="adj" fmla="val 25000"/>
              </a:avLst>
            </a:prstGeom>
            <a:solidFill>
              <a:srgbClr val="EEEE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500" b="0">
                  <a:solidFill>
                    <a:srgbClr val="555555"/>
                  </a:solidFill>
                </a:rPr>
                <a:t>✗ no Word ≠ Non-word</a:t>
              </a:r>
            </a:p>
          </p:txBody>
        </p:sp>
        <p:sp>
          <p:nvSpPr>
            <p:cNvPr id="66" name="synth stage 2">
              <a:extLst>
                <a:ext uri="{FF2B5EF4-FFF2-40B4-BE49-F238E27FC236}">
                  <a16:creationId xmlns:a16="http://schemas.microsoft.com/office/drawing/2014/main" id="{2D0317AF-81F8-D87F-DCA7-201FC04ADD46}"/>
                </a:ext>
              </a:extLst>
            </p:cNvPr>
            <p:cNvSpPr/>
            <p:nvPr/>
          </p:nvSpPr>
          <p:spPr>
            <a:xfrm>
              <a:off x="30895290" y="27614880"/>
              <a:ext cx="3326130" cy="566928"/>
            </a:xfrm>
            <a:prstGeom prst="roundRect">
              <a:avLst>
                <a:gd name="adj" fmla="val 25000"/>
              </a:avLst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600" b="1">
                  <a:solidFill>
                    <a:srgbClr val="00539B"/>
                  </a:solidFill>
                </a:rPr>
                <a:t>vOT / VWFA · ~150–225 ms</a:t>
              </a:r>
            </a:p>
          </p:txBody>
        </p:sp>
        <p:sp>
          <p:nvSpPr>
            <p:cNvPr id="67" name="synth arrow 2">
              <a:extLst>
                <a:ext uri="{FF2B5EF4-FFF2-40B4-BE49-F238E27FC236}">
                  <a16:creationId xmlns:a16="http://schemas.microsoft.com/office/drawing/2014/main" id="{5E943948-3275-9658-92D2-2DE92EBAE317}"/>
                </a:ext>
              </a:extLst>
            </p:cNvPr>
            <p:cNvSpPr/>
            <p:nvPr/>
          </p:nvSpPr>
          <p:spPr>
            <a:xfrm>
              <a:off x="34267140" y="27761184"/>
              <a:ext cx="228600" cy="274320"/>
            </a:xfrm>
            <a:prstGeom prst="rightArrow">
              <a:avLst/>
            </a:prstGeom>
            <a:solidFill>
              <a:srgbClr val="0053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synth evoked 2">
              <a:extLst>
                <a:ext uri="{FF2B5EF4-FFF2-40B4-BE49-F238E27FC236}">
                  <a16:creationId xmlns:a16="http://schemas.microsoft.com/office/drawing/2014/main" id="{1E29956D-E5FC-AC38-85FD-95E4D6B22E59}"/>
                </a:ext>
              </a:extLst>
            </p:cNvPr>
            <p:cNvSpPr/>
            <p:nvPr/>
          </p:nvSpPr>
          <p:spPr>
            <a:xfrm>
              <a:off x="30895290" y="28254960"/>
              <a:ext cx="3326130" cy="457200"/>
            </a:xfrm>
            <a:prstGeom prst="roundRect">
              <a:avLst>
                <a:gd name="adj" fmla="val 25000"/>
              </a:avLst>
            </a:prstGeom>
            <a:solidFill>
              <a:srgbClr val="EEEE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500" b="0">
                  <a:solidFill>
                    <a:srgbClr val="555555"/>
                  </a:solidFill>
                </a:rPr>
                <a:t>✗ 150–225 ms · late &amp; fragile</a:t>
              </a:r>
            </a:p>
          </p:txBody>
        </p:sp>
        <p:sp>
          <p:nvSpPr>
            <p:cNvPr id="107" name="synth stage 3">
              <a:extLst>
                <a:ext uri="{FF2B5EF4-FFF2-40B4-BE49-F238E27FC236}">
                  <a16:creationId xmlns:a16="http://schemas.microsoft.com/office/drawing/2014/main" id="{1A0B9601-C18C-5E72-EAE5-FBD2BE585604}"/>
                </a:ext>
              </a:extLst>
            </p:cNvPr>
            <p:cNvSpPr/>
            <p:nvPr/>
          </p:nvSpPr>
          <p:spPr>
            <a:xfrm>
              <a:off x="34541460" y="27614880"/>
              <a:ext cx="3326130" cy="566928"/>
            </a:xfrm>
            <a:prstGeom prst="roundRect">
              <a:avLst>
                <a:gd name="adj" fmla="val 25000"/>
              </a:avLst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600" b="1">
                  <a:solidFill>
                    <a:srgbClr val="00539B"/>
                  </a:solidFill>
                </a:rPr>
                <a:t>Post. temporal · ~250–600 ms</a:t>
              </a:r>
            </a:p>
          </p:txBody>
        </p:sp>
        <p:sp>
          <p:nvSpPr>
            <p:cNvPr id="109" name="synth arrow 3">
              <a:extLst>
                <a:ext uri="{FF2B5EF4-FFF2-40B4-BE49-F238E27FC236}">
                  <a16:creationId xmlns:a16="http://schemas.microsoft.com/office/drawing/2014/main" id="{B28AA5C1-BCD4-C8FE-4BD7-B245278E3ECB}"/>
                </a:ext>
              </a:extLst>
            </p:cNvPr>
            <p:cNvSpPr/>
            <p:nvPr/>
          </p:nvSpPr>
          <p:spPr>
            <a:xfrm>
              <a:off x="37913310" y="27761184"/>
              <a:ext cx="228600" cy="274320"/>
            </a:xfrm>
            <a:prstGeom prst="rightArrow">
              <a:avLst/>
            </a:prstGeom>
            <a:solidFill>
              <a:srgbClr val="0053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synth evoked 3">
              <a:extLst>
                <a:ext uri="{FF2B5EF4-FFF2-40B4-BE49-F238E27FC236}">
                  <a16:creationId xmlns:a16="http://schemas.microsoft.com/office/drawing/2014/main" id="{BEF0585A-BDC4-3225-380E-52092C3BDC1D}"/>
                </a:ext>
              </a:extLst>
            </p:cNvPr>
            <p:cNvSpPr/>
            <p:nvPr/>
          </p:nvSpPr>
          <p:spPr>
            <a:xfrm>
              <a:off x="34541460" y="28254960"/>
              <a:ext cx="3326130" cy="457200"/>
            </a:xfrm>
            <a:prstGeom prst="roundRect">
              <a:avLst>
                <a:gd name="adj" fmla="val 25000"/>
              </a:avLst>
            </a:prstGeom>
            <a:solidFill>
              <a:srgbClr val="DDF1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500" b="1">
                  <a:solidFill>
                    <a:srgbClr val="2A9D8F"/>
                  </a:solidFill>
                </a:rPr>
                <a:t>✓ Word &gt; Non-word</a:t>
              </a:r>
            </a:p>
          </p:txBody>
        </p:sp>
        <p:sp>
          <p:nvSpPr>
            <p:cNvPr id="111" name="synth stage 4">
              <a:extLst>
                <a:ext uri="{FF2B5EF4-FFF2-40B4-BE49-F238E27FC236}">
                  <a16:creationId xmlns:a16="http://schemas.microsoft.com/office/drawing/2014/main" id="{621AF979-38E6-67A0-0D38-603B55974E34}"/>
                </a:ext>
              </a:extLst>
            </p:cNvPr>
            <p:cNvSpPr/>
            <p:nvPr/>
          </p:nvSpPr>
          <p:spPr>
            <a:xfrm>
              <a:off x="38187630" y="27614880"/>
              <a:ext cx="3326130" cy="566928"/>
            </a:xfrm>
            <a:prstGeom prst="roundRect">
              <a:avLst>
                <a:gd name="adj" fmla="val 25000"/>
              </a:avLst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600" b="1">
                  <a:solidFill>
                    <a:srgbClr val="00539B"/>
                  </a:solidFill>
                </a:rPr>
                <a:t>Ant. temporal · sustained</a:t>
              </a:r>
            </a:p>
          </p:txBody>
        </p:sp>
        <p:sp>
          <p:nvSpPr>
            <p:cNvPr id="112" name="synth evoked 4">
              <a:extLst>
                <a:ext uri="{FF2B5EF4-FFF2-40B4-BE49-F238E27FC236}">
                  <a16:creationId xmlns:a16="http://schemas.microsoft.com/office/drawing/2014/main" id="{C9EEF5BC-6ED5-3B7C-F716-028D72CC5786}"/>
                </a:ext>
              </a:extLst>
            </p:cNvPr>
            <p:cNvSpPr/>
            <p:nvPr/>
          </p:nvSpPr>
          <p:spPr>
            <a:xfrm>
              <a:off x="38187630" y="28254960"/>
              <a:ext cx="3326130" cy="457200"/>
            </a:xfrm>
            <a:prstGeom prst="roundRect">
              <a:avLst>
                <a:gd name="adj" fmla="val 25000"/>
              </a:avLst>
            </a:prstGeom>
            <a:solidFill>
              <a:srgbClr val="DDF1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500" b="1">
                  <a:solidFill>
                    <a:srgbClr val="2A9D8F"/>
                  </a:solidFill>
                </a:rPr>
                <a:t>✓ Word &gt; Non-word, sustained</a:t>
              </a:r>
            </a:p>
          </p:txBody>
        </p:sp>
        <p:sp>
          <p:nvSpPr>
            <p:cNvPr id="161" name="synth FT row">
              <a:extLst>
                <a:ext uri="{FF2B5EF4-FFF2-40B4-BE49-F238E27FC236}">
                  <a16:creationId xmlns:a16="http://schemas.microsoft.com/office/drawing/2014/main" id="{890EF3A0-E98D-A72B-23A0-E7C3F86A7688}"/>
                </a:ext>
              </a:extLst>
            </p:cNvPr>
            <p:cNvSpPr/>
            <p:nvPr/>
          </p:nvSpPr>
          <p:spPr>
            <a:xfrm>
              <a:off x="27249120" y="28785312"/>
              <a:ext cx="14264640" cy="457200"/>
            </a:xfrm>
            <a:prstGeom prst="roundRect">
              <a:avLst>
                <a:gd name="adj" fmla="val 25000"/>
              </a:avLst>
            </a:prstGeom>
            <a:solidFill>
              <a:srgbClr val="F1E9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500" b="0" dirty="0">
                  <a:solidFill>
                    <a:srgbClr val="7B3FA0"/>
                  </a:solidFill>
                </a:rPr>
                <a:t>✓ follows the visual input (occipital: consonant strings &gt; words, visual complexity)   ·   ✗ left-temporal: Words ≈ Non-words (|dz| &lt; .5, BF01 = 4.2)</a:t>
              </a:r>
            </a:p>
          </p:txBody>
        </p:sp>
        <p:sp>
          <p:nvSpPr>
            <p:cNvPr id="163" name="synth aims line">
              <a:extLst>
                <a:ext uri="{FF2B5EF4-FFF2-40B4-BE49-F238E27FC236}">
                  <a16:creationId xmlns:a16="http://schemas.microsoft.com/office/drawing/2014/main" id="{CC261B58-A7B0-1F5E-11B4-14A451116D3D}"/>
                </a:ext>
              </a:extLst>
            </p:cNvPr>
            <p:cNvSpPr txBox="1"/>
            <p:nvPr/>
          </p:nvSpPr>
          <p:spPr>
            <a:xfrm>
              <a:off x="25100280" y="29361384"/>
              <a:ext cx="16413480" cy="502920"/>
            </a:xfrm>
            <a:prstGeom prst="rect">
              <a:avLst/>
            </a:prstGeom>
            <a:noFill/>
          </p:spPr>
          <p:txBody>
            <a:bodyPr wrap="square" lIns="36576" tIns="36576" rIns="36576" bIns="36576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sz="1700" b="1" dirty="0">
                  <a:solidFill>
                    <a:srgbClr val="00539B"/>
                  </a:solidFill>
                </a:rPr>
                <a:t>Aim 1 — partly: </a:t>
              </a:r>
              <a:r>
                <a:rPr sz="1700" b="0" dirty="0">
                  <a:solidFill>
                    <a:srgbClr val="00539B"/>
                  </a:solidFill>
                </a:rPr>
                <a:t>temporal stages replicated, </a:t>
              </a:r>
              <a:r>
                <a:rPr sz="1700" b="0" dirty="0" err="1">
                  <a:solidFill>
                    <a:srgbClr val="00539B"/>
                  </a:solidFill>
                </a:rPr>
                <a:t>vOT</a:t>
              </a:r>
              <a:r>
                <a:rPr sz="1700" b="0" dirty="0">
                  <a:solidFill>
                    <a:srgbClr val="00539B"/>
                  </a:solidFill>
                </a:rPr>
                <a:t> only late and fragile, latency order </a:t>
              </a:r>
              <a:r>
                <a:rPr sz="1700" b="0" dirty="0" err="1">
                  <a:solidFill>
                    <a:srgbClr val="00539B"/>
                  </a:solidFill>
                </a:rPr>
                <a:t>n.s</a:t>
              </a:r>
              <a:r>
                <a:rPr sz="1700" b="0" dirty="0">
                  <a:solidFill>
                    <a:srgbClr val="00539B"/>
                  </a:solidFill>
                </a:rPr>
                <a:t>.   </a:t>
              </a:r>
              <a:r>
                <a:rPr sz="1700" b="1" dirty="0">
                  <a:solidFill>
                    <a:srgbClr val="00539B"/>
                  </a:solidFill>
                </a:rPr>
                <a:t>Aim 2 — no: </a:t>
              </a:r>
              <a:r>
                <a:rPr sz="1700" b="0" dirty="0">
                  <a:solidFill>
                    <a:srgbClr val="00539B"/>
                  </a:solidFill>
                </a:rPr>
                <a:t>the tag indexes visual input, not </a:t>
              </a:r>
              <a:r>
                <a:rPr sz="1700" b="0" dirty="0" err="1">
                  <a:solidFill>
                    <a:srgbClr val="00539B"/>
                  </a:solidFill>
                </a:rPr>
                <a:t>wordness</a:t>
              </a:r>
              <a:r>
                <a:rPr sz="1700" b="0" dirty="0">
                  <a:solidFill>
                    <a:srgbClr val="00539B"/>
                  </a:solidFill>
                </a:rPr>
                <a:t>; the word-locked response does.</a:t>
              </a:r>
            </a:p>
          </p:txBody>
        </p:sp>
      </p:grpSp>
      <p:pic>
        <p:nvPicPr>
          <p:cNvPr id="245" name="Fig block 3 gradient forest + brain (SVG)" descr="block3_brain.png">
            <a:extLst>
              <a:ext uri="{FF2B5EF4-FFF2-40B4-BE49-F238E27FC236}">
                <a16:creationId xmlns:a16="http://schemas.microsoft.com/office/drawing/2014/main" id="{30E2A7A2-E2F4-073A-CD37-B41BA7063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054560" y="14200632"/>
            <a:ext cx="11521440" cy="4446871"/>
          </a:xfrm>
          <a:prstGeom prst="rect">
            <a:avLst/>
          </a:prstGeom>
        </p:spPr>
      </p:pic>
      <p:sp>
        <p:nvSpPr>
          <p:cNvPr id="247" name="Results 3 text">
            <a:extLst>
              <a:ext uri="{FF2B5EF4-FFF2-40B4-BE49-F238E27FC236}">
                <a16:creationId xmlns:a16="http://schemas.microsoft.com/office/drawing/2014/main" id="{F02A82F4-3505-6407-1FA1-14D986FA5426}"/>
              </a:ext>
            </a:extLst>
          </p:cNvPr>
          <p:cNvSpPr txBox="1"/>
          <p:nvPr/>
        </p:nvSpPr>
        <p:spPr>
          <a:xfrm>
            <a:off x="36758880" y="14246352"/>
            <a:ext cx="4663439" cy="440115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800" b="1" dirty="0">
                <a:solidFill>
                  <a:srgbClr val="222222"/>
                </a:solidFill>
              </a:rPr>
              <a:t>Ventral stream</a:t>
            </a:r>
            <a:r>
              <a:rPr sz="1800" b="0" dirty="0">
                <a:solidFill>
                  <a:srgbClr val="222222"/>
                </a:solidFill>
              </a:rPr>
              <a:t>: no whole-epoch effect after FDR (FFC / VWFA dz = .34 / .45).</a:t>
            </a:r>
          </a:p>
          <a:p>
            <a:pPr>
              <a:spcAft>
                <a:spcPts val="400"/>
              </a:spcAft>
            </a:pPr>
            <a:r>
              <a:rPr sz="1800" b="1" dirty="0">
                <a:solidFill>
                  <a:srgbClr val="222222"/>
                </a:solidFill>
              </a:rPr>
              <a:t>Temporal cortex</a:t>
            </a:r>
            <a:r>
              <a:rPr sz="1800" b="0" dirty="0">
                <a:solidFill>
                  <a:srgbClr val="222222"/>
                </a:solidFill>
              </a:rPr>
              <a:t>: Word &gt; Non-word in all 6 ROIs, maximal anteriorly (slope t(21) = 4.81, p &lt; .001).</a:t>
            </a:r>
          </a:p>
          <a:p>
            <a:pPr>
              <a:spcAft>
                <a:spcPts val="400"/>
              </a:spcAft>
            </a:pPr>
            <a:r>
              <a:rPr sz="1800" b="1" dirty="0">
                <a:solidFill>
                  <a:srgbClr val="222222"/>
                </a:solidFill>
              </a:rPr>
              <a:t>Anterior part sustained</a:t>
            </a:r>
            <a:r>
              <a:rPr sz="1800" b="0" dirty="0">
                <a:solidFill>
                  <a:srgbClr val="222222"/>
                </a:solidFill>
              </a:rPr>
              <a:t>: present before word onset (consistent with a block-level state).</a:t>
            </a: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555555"/>
                </a:solidFill>
              </a:rPr>
              <a:t>(a) log(Word / Non-word) over the word epoch, 95 % CI, * p_FDR &lt; .05; (b) same effect (dz), fsaverage (V1 medial). N = 22, dSPM, equal counts, fixation baseline. Leakage, late vOT effect: QR.</a:t>
            </a:r>
          </a:p>
        </p:txBody>
      </p:sp>
      <p:sp>
        <p:nvSpPr>
          <p:cNvPr id="265" name="Results 4 title"/>
          <p:cNvSpPr txBox="1"/>
          <p:nvPr/>
        </p:nvSpPr>
        <p:spPr>
          <a:xfrm>
            <a:off x="25100280" y="24106471"/>
            <a:ext cx="1641348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00539B"/>
                </a:solidFill>
              </a:rPr>
              <a:t>4 · Direct test: the word-locked response beats the tag, ROI by ROI  (Aim 2)</a:t>
            </a:r>
          </a:p>
        </p:txBody>
      </p:sp>
      <p:pic>
        <p:nvPicPr>
          <p:cNvPr id="266" name="Fig block 4 dz along the pathway, FT vs evoked (SVG)" descr="block4_lines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054560" y="24655111"/>
            <a:ext cx="11521440" cy="2880360"/>
          </a:xfrm>
          <a:prstGeom prst="rect">
            <a:avLst/>
          </a:prstGeom>
        </p:spPr>
      </p:pic>
      <p:sp>
        <p:nvSpPr>
          <p:cNvPr id="267" name="Results 4 text"/>
          <p:cNvSpPr txBox="1"/>
          <p:nvPr/>
        </p:nvSpPr>
        <p:spPr>
          <a:xfrm>
            <a:off x="36758880" y="24655111"/>
            <a:ext cx="4663439" cy="2880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Direct test</a:t>
            </a:r>
            <a:r>
              <a:rPr sz="1800" b="0">
                <a:solidFill>
                  <a:srgbClr val="222222"/>
                </a:solidFill>
              </a:rPr>
              <a:t>: the </a:t>
            </a:r>
            <a:r>
              <a:rPr sz="1800" b="1">
                <a:solidFill>
                  <a:srgbClr val="2A9D8F"/>
                </a:solidFill>
              </a:rPr>
              <a:t>word-locked response</a:t>
            </a:r>
            <a:r>
              <a:rPr sz="1800" b="0">
                <a:solidFill>
                  <a:srgbClr val="222222"/>
                </a:solidFill>
              </a:rPr>
              <a:t> beats the </a:t>
            </a:r>
            <a:r>
              <a:rPr sz="1800" b="1">
                <a:solidFill>
                  <a:srgbClr val="7B3FA0"/>
                </a:solidFill>
              </a:rPr>
              <a:t>tag</a:t>
            </a:r>
            <a:r>
              <a:rPr sz="1800" b="0">
                <a:solidFill>
                  <a:srgbClr val="222222"/>
                </a:solidFill>
              </a:rPr>
              <a:t> on left-temporal sensors (Δdz = 1.02, p = .01); the tag stays near zero along the pathway (all n.s.).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N = 17 (source cohort), same per-word epochs; bootstrap 95 % CI; filled = p_FDR &lt; .05. 80–130 / 150–225 ms windows: QR.</a:t>
            </a:r>
          </a:p>
        </p:txBody>
      </p:sp>
      <p:sp>
        <p:nvSpPr>
          <p:cNvPr id="270" name="Cohort line"/>
          <p:cNvSpPr txBox="1"/>
          <p:nvPr/>
        </p:nvSpPr>
        <p:spPr>
          <a:xfrm>
            <a:off x="8430768" y="28163520"/>
            <a:ext cx="15453359" cy="8229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</a:rPr>
              <a:t>Cohort  </a:t>
            </a:r>
            <a:r>
              <a:rPr sz="1500" b="0">
                <a:solidFill>
                  <a:srgbClr val="222222"/>
                </a:solidFill>
              </a:rPr>
              <a:t>30 recorded; each panel states its N. Excluded: no flicker on the photodiode, malformed blocks, all epochs rejected; sources: no T1 MRI, artifact (sub-20/24). Kept with trigger anomalies: sub-10–14 (main results unchanged without them). List via QR.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</a:rPr>
              <a:t>A priori  </a:t>
            </a:r>
            <a:r>
              <a:rPr sz="1500" b="0">
                <a:solidFill>
                  <a:srgbClr val="555555"/>
                </a:solidFill>
              </a:rPr>
              <a:t>Word vs Non-word at the tag and in the evoked cascade windows (80–130, 150–225, 250–600 ms), left-temporal sensors. Not preregistered; everything else is exploratory.</a:t>
            </a:r>
          </a:p>
        </p:txBody>
      </p:sp>
      <p:sp>
        <p:nvSpPr>
          <p:cNvPr id="7" name="Limits line"/>
          <p:cNvSpPr txBox="1"/>
          <p:nvPr/>
        </p:nvSpPr>
        <p:spPr>
          <a:xfrm>
            <a:off x="8430768" y="29032200"/>
            <a:ext cx="15453359" cy="58682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222222"/>
                </a:solidFill>
              </a:rPr>
              <a:t>Limits  </a:t>
            </a:r>
            <a:r>
              <a:rPr sz="1500" b="0" dirty="0">
                <a:solidFill>
                  <a:srgbClr val="222222"/>
                </a:solidFill>
              </a:rPr>
              <a:t>consonant strings differ in orthography, pronounceability, visual complexity, difficulty · condition-pure blocks · late vOT fragile · localizer, catch-query accuracy not yet analysed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222222"/>
                </a:solidFill>
              </a:rPr>
              <a:t>Next  </a:t>
            </a:r>
            <a:r>
              <a:rPr sz="1500" b="0" dirty="0">
                <a:solidFill>
                  <a:srgbClr val="222222"/>
                </a:solidFill>
              </a:rPr>
              <a:t>pseudowords · item-rate (FPVS) tagging instead of contrast flicker · interleaved conditions · two-word phrase task (intermodulation), recorded, not yet analysed</a:t>
            </a:r>
          </a:p>
        </p:txBody>
      </p:sp>
      <p:pic>
        <p:nvPicPr>
          <p:cNvPr id="271" name="QR code (repo)" descr="qr_rep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436840" y="24231600"/>
            <a:ext cx="2926080" cy="2926080"/>
          </a:xfrm>
          <a:prstGeom prst="rect">
            <a:avLst/>
          </a:prstGeom>
        </p:spPr>
      </p:pic>
      <p:sp>
        <p:nvSpPr>
          <p:cNvPr id="273" name="Readout card: Tag response (FT)"/>
          <p:cNvSpPr/>
          <p:nvPr/>
        </p:nvSpPr>
        <p:spPr>
          <a:xfrm>
            <a:off x="8503920" y="21625560"/>
            <a:ext cx="7589520" cy="2377440"/>
          </a:xfrm>
          <a:prstGeom prst="roundRect">
            <a:avLst>
              <a:gd name="adj" fmla="val 6000"/>
            </a:avLst>
          </a:prstGeom>
          <a:solidFill>
            <a:srgbClr val="F1EAF6"/>
          </a:solidFill>
          <a:ln w="254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8641080" y="21680423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B3FA0"/>
                </a:solidFill>
              </a:rPr>
              <a:t>Tag response (FT)</a:t>
            </a:r>
          </a:p>
        </p:txBody>
      </p:sp>
      <p:pic>
        <p:nvPicPr>
          <p:cNvPr id="275" name="Picture 274" descr="icon_tag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13648" y="22192488"/>
            <a:ext cx="2103120" cy="1492343"/>
          </a:xfrm>
          <a:prstGeom prst="rect">
            <a:avLst/>
          </a:prstGeom>
        </p:spPr>
      </p:pic>
      <p:sp>
        <p:nvSpPr>
          <p:cNvPr id="277" name="TextBox 276"/>
          <p:cNvSpPr txBox="1"/>
          <p:nvPr/>
        </p:nvSpPr>
        <p:spPr>
          <a:xfrm>
            <a:off x="10835640" y="2219248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/>
              <a:t>Power at the flicker rate (6 or 7.06 Hz, and harmonics) relative to neighbouring frequencies (SNR). </a:t>
            </a:r>
            <a:r>
              <a:rPr sz="1700" b="1">
                <a:solidFill>
                  <a:srgbClr val="7B3FA0"/>
                </a:solidFill>
              </a:rPr>
              <a:t>Follows the flicker, cycle after cycle.</a:t>
            </a:r>
          </a:p>
          <a:p>
            <a:pPr>
              <a:spcBef>
                <a:spcPts val="800"/>
              </a:spcBef>
            </a:pPr>
            <a:r>
              <a:rPr sz="1700" b="0"/>
              <a:t>Word vs Non-word: SNR difference.</a:t>
            </a:r>
          </a:p>
        </p:txBody>
      </p:sp>
      <p:sp>
        <p:nvSpPr>
          <p:cNvPr id="278" name="Readout card: Word-locked response (evoked)"/>
          <p:cNvSpPr/>
          <p:nvPr/>
        </p:nvSpPr>
        <p:spPr>
          <a:xfrm>
            <a:off x="16230600" y="21625560"/>
            <a:ext cx="7589520" cy="2377440"/>
          </a:xfrm>
          <a:prstGeom prst="roundRect">
            <a:avLst>
              <a:gd name="adj" fmla="val 6000"/>
            </a:avLst>
          </a:prstGeom>
          <a:solidFill>
            <a:srgbClr val="E4F3F1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16367759" y="21680423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9D8F"/>
                </a:solidFill>
              </a:rPr>
              <a:t>Word-locked response (evoked)</a:t>
            </a:r>
          </a:p>
        </p:txBody>
      </p:sp>
      <p:pic>
        <p:nvPicPr>
          <p:cNvPr id="280" name="Picture 27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40328" y="22193038"/>
            <a:ext cx="2103120" cy="1372562"/>
          </a:xfrm>
          <a:prstGeom prst="rect">
            <a:avLst/>
          </a:prstGeom>
        </p:spPr>
      </p:pic>
      <p:sp>
        <p:nvSpPr>
          <p:cNvPr id="282" name="TextBox 281"/>
          <p:cNvSpPr txBox="1"/>
          <p:nvPr/>
        </p:nvSpPr>
        <p:spPr>
          <a:xfrm>
            <a:off x="18562320" y="2219248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/>
              <a:t>MEG field averaged across words, time-locked to each word onset. </a:t>
            </a:r>
            <a:r>
              <a:rPr sz="1700" b="1">
                <a:solidFill>
                  <a:srgbClr val="2A9D8F"/>
                </a:solidFill>
              </a:rPr>
              <a:t>The one-off response to each new word (every 2.83 s).</a:t>
            </a:r>
          </a:p>
          <a:p>
            <a:pPr>
              <a:spcBef>
                <a:spcPts val="800"/>
              </a:spcBef>
            </a:pPr>
            <a:r>
              <a:rPr sz="1700" b="0"/>
              <a:t>Word vs Non-word: amplitude difference across the word epoch.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57716D6-5540-54DD-A049-5A60905598CE}"/>
              </a:ext>
            </a:extLst>
          </p:cNvPr>
          <p:cNvGrpSpPr>
            <a:grpSpLocks noChangeAspect="1"/>
          </p:cNvGrpSpPr>
          <p:nvPr/>
        </p:nvGrpSpPr>
        <p:grpSpPr>
          <a:xfrm>
            <a:off x="16399035" y="10117380"/>
            <a:ext cx="7543334" cy="2698164"/>
            <a:chOff x="6045200" y="1489333"/>
            <a:chExt cx="10345977" cy="3700637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8A7DF1C8-4C1E-B3B9-1A15-09E6DE7E7F5F}"/>
                </a:ext>
              </a:extLst>
            </p:cNvPr>
            <p:cNvGrpSpPr/>
            <p:nvPr/>
          </p:nvGrpSpPr>
          <p:grpSpPr>
            <a:xfrm>
              <a:off x="9639250" y="1651259"/>
              <a:ext cx="3441650" cy="3369089"/>
              <a:chOff x="9639250" y="1651259"/>
              <a:chExt cx="3441650" cy="3369089"/>
            </a:xfrm>
          </p:grpSpPr>
          <p:sp>
            <p:nvSpPr>
              <p:cNvPr id="50" name="Rounded Rectangle 2">
                <a:extLst>
                  <a:ext uri="{FF2B5EF4-FFF2-40B4-BE49-F238E27FC236}">
                    <a16:creationId xmlns:a16="http://schemas.microsoft.com/office/drawing/2014/main" id="{A0E0BA0D-9DCC-E25A-0B64-9B737339EC42}"/>
                  </a:ext>
                </a:extLst>
              </p:cNvPr>
              <p:cNvSpPr/>
              <p:nvPr/>
            </p:nvSpPr>
            <p:spPr>
              <a:xfrm>
                <a:off x="9639250" y="1651259"/>
                <a:ext cx="3098750" cy="3369089"/>
              </a:xfrm>
              <a:prstGeom prst="roundRect">
                <a:avLst>
                  <a:gd name="adj" fmla="val 5626"/>
                </a:avLst>
              </a:prstGeom>
              <a:solidFill>
                <a:srgbClr val="F8FAFC"/>
              </a:solidFill>
              <a:ln w="19050">
                <a:solidFill>
                  <a:srgbClr val="E2E8F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GB" noProof="0" dirty="0"/>
              </a:p>
            </p:txBody>
          </p:sp>
          <p:pic>
            <p:nvPicPr>
              <p:cNvPr id="52" name="Picture 5" descr="image.png">
                <a:extLst>
                  <a:ext uri="{FF2B5EF4-FFF2-40B4-BE49-F238E27FC236}">
                    <a16:creationId xmlns:a16="http://schemas.microsoft.com/office/drawing/2014/main" id="{526E3FD8-C9DF-6454-1DED-38041E06EB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890400" y="2853195"/>
                <a:ext cx="190500" cy="304800"/>
              </a:xfrm>
              <a:prstGeom prst="rect">
                <a:avLst/>
              </a:prstGeom>
            </p:spPr>
          </p:pic>
          <p:pic>
            <p:nvPicPr>
              <p:cNvPr id="54" name="Picture 7" descr="image.png">
                <a:extLst>
                  <a:ext uri="{FF2B5EF4-FFF2-40B4-BE49-F238E27FC236}">
                    <a16:creationId xmlns:a16="http://schemas.microsoft.com/office/drawing/2014/main" id="{77258044-E73E-6343-7082-0FEC369DD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840094" y="2100253"/>
                <a:ext cx="697061" cy="697061"/>
              </a:xfrm>
              <a:prstGeom prst="rect">
                <a:avLst/>
              </a:prstGeom>
            </p:spPr>
          </p:pic>
          <p:pic>
            <p:nvPicPr>
              <p:cNvPr id="56" name="Picture 8" descr="image.png">
                <a:extLst>
                  <a:ext uri="{FF2B5EF4-FFF2-40B4-BE49-F238E27FC236}">
                    <a16:creationId xmlns:a16="http://schemas.microsoft.com/office/drawing/2014/main" id="{4F3BDF97-95C8-F2D8-257E-EA120715A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566249" y="2300065"/>
                <a:ext cx="1244753" cy="373426"/>
              </a:xfrm>
              <a:prstGeom prst="rect">
                <a:avLst/>
              </a:prstGeom>
            </p:spPr>
          </p:pic>
          <p:sp>
            <p:nvSpPr>
              <p:cNvPr id="69" name="TextBox 14">
                <a:extLst>
                  <a:ext uri="{FF2B5EF4-FFF2-40B4-BE49-F238E27FC236}">
                    <a16:creationId xmlns:a16="http://schemas.microsoft.com/office/drawing/2014/main" id="{5F1A9723-0ED0-E867-2C25-DBD820E752B4}"/>
                  </a:ext>
                </a:extLst>
              </p:cNvPr>
              <p:cNvSpPr txBox="1"/>
              <p:nvPr/>
            </p:nvSpPr>
            <p:spPr>
              <a:xfrm>
                <a:off x="9744620" y="3041909"/>
                <a:ext cx="2887860" cy="3238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GB" sz="2000" b="1" i="0" u="none" noProof="0" dirty="0">
                    <a:solidFill>
                      <a:srgbClr val="0F172A"/>
                    </a:solidFill>
                    <a:latin typeface="Inter"/>
                  </a:rPr>
                  <a:t>2. The Response</a:t>
                </a:r>
              </a:p>
            </p:txBody>
          </p:sp>
          <p:sp>
            <p:nvSpPr>
              <p:cNvPr id="70" name="TextBox 15">
                <a:extLst>
                  <a:ext uri="{FF2B5EF4-FFF2-40B4-BE49-F238E27FC236}">
                    <a16:creationId xmlns:a16="http://schemas.microsoft.com/office/drawing/2014/main" id="{7906A941-CE34-5819-64CD-9232BB90D1C2}"/>
                  </a:ext>
                </a:extLst>
              </p:cNvPr>
              <p:cNvSpPr txBox="1"/>
              <p:nvPr/>
            </p:nvSpPr>
            <p:spPr>
              <a:xfrm>
                <a:off x="9656719" y="3480055"/>
                <a:ext cx="3063812" cy="146086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GB" sz="1700" b="0" i="0" u="none" noProof="0" dirty="0">
                    <a:solidFill>
                      <a:srgbClr val="475569"/>
                    </a:solidFill>
                    <a:latin typeface="Inter"/>
                  </a:rPr>
                  <a:t>Visual cortex follows the flicker: </a:t>
                </a:r>
                <a:r>
                  <a:rPr lang="en-GB" sz="1700" b="1" i="0" u="none" noProof="0" dirty="0">
                    <a:solidFill>
                      <a:srgbClr val="7B3FA0"/>
                    </a:solidFill>
                    <a:latin typeface="Inter"/>
                  </a:rPr>
                  <a:t>steady-state visual evoked field (SSVEF)</a:t>
                </a:r>
                <a:endParaRPr lang="en-GB" sz="1700" b="0" i="0" u="none" noProof="0" dirty="0">
                  <a:solidFill>
                    <a:srgbClr val="475569"/>
                  </a:solidFill>
                  <a:latin typeface="Inter"/>
                </a:endParaRPr>
              </a:p>
            </p:txBody>
          </p:sp>
        </p:grp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CCF1BD54-3262-9024-E9F8-605D5561DB0A}"/>
                </a:ext>
              </a:extLst>
            </p:cNvPr>
            <p:cNvGrpSpPr/>
            <p:nvPr/>
          </p:nvGrpSpPr>
          <p:grpSpPr>
            <a:xfrm>
              <a:off x="6045200" y="1651259"/>
              <a:ext cx="3441650" cy="3369090"/>
              <a:chOff x="6045200" y="1651259"/>
              <a:chExt cx="3441650" cy="3369090"/>
            </a:xfrm>
          </p:grpSpPr>
          <p:sp>
            <p:nvSpPr>
              <p:cNvPr id="35" name="Rounded Rectangle 1">
                <a:extLst>
                  <a:ext uri="{FF2B5EF4-FFF2-40B4-BE49-F238E27FC236}">
                    <a16:creationId xmlns:a16="http://schemas.microsoft.com/office/drawing/2014/main" id="{54EDE0E6-04C4-9CD4-2716-5027CDD7D361}"/>
                  </a:ext>
                </a:extLst>
              </p:cNvPr>
              <p:cNvSpPr/>
              <p:nvPr/>
            </p:nvSpPr>
            <p:spPr>
              <a:xfrm>
                <a:off x="6045200" y="1651259"/>
                <a:ext cx="3098750" cy="3369089"/>
              </a:xfrm>
              <a:prstGeom prst="roundRect">
                <a:avLst>
                  <a:gd name="adj" fmla="val 5626"/>
                </a:avLst>
              </a:prstGeom>
              <a:solidFill>
                <a:srgbClr val="F8FAFC"/>
              </a:solidFill>
              <a:ln w="19050">
                <a:solidFill>
                  <a:srgbClr val="E2E8F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en-GB" noProof="0" dirty="0"/>
              </a:p>
            </p:txBody>
          </p:sp>
          <p:pic>
            <p:nvPicPr>
              <p:cNvPr id="39" name="Picture 4" descr="image.png">
                <a:extLst>
                  <a:ext uri="{FF2B5EF4-FFF2-40B4-BE49-F238E27FC236}">
                    <a16:creationId xmlns:a16="http://schemas.microsoft.com/office/drawing/2014/main" id="{C57D50B9-1DF2-E1E3-EC56-74BF9EAF99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296350" y="2853195"/>
                <a:ext cx="190500" cy="304800"/>
              </a:xfrm>
              <a:prstGeom prst="rect">
                <a:avLst/>
              </a:prstGeom>
            </p:spPr>
          </p:pic>
          <p:pic>
            <p:nvPicPr>
              <p:cNvPr id="43" name="Picture 6" descr="image.png">
                <a:extLst>
                  <a:ext uri="{FF2B5EF4-FFF2-40B4-BE49-F238E27FC236}">
                    <a16:creationId xmlns:a16="http://schemas.microsoft.com/office/drawing/2014/main" id="{638C0D04-F83D-62AE-199B-D317399032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46705" y="2513272"/>
                <a:ext cx="984145" cy="228600"/>
              </a:xfrm>
              <a:prstGeom prst="rect">
                <a:avLst/>
              </a:prstGeom>
            </p:spPr>
          </p:pic>
          <p:sp>
            <p:nvSpPr>
              <p:cNvPr id="46" name="TextBox 12">
                <a:extLst>
                  <a:ext uri="{FF2B5EF4-FFF2-40B4-BE49-F238E27FC236}">
                    <a16:creationId xmlns:a16="http://schemas.microsoft.com/office/drawing/2014/main" id="{1CFB4DE7-A8C8-64ED-481F-84096C01B2FE}"/>
                  </a:ext>
                </a:extLst>
              </p:cNvPr>
              <p:cNvSpPr txBox="1"/>
              <p:nvPr/>
            </p:nvSpPr>
            <p:spPr>
              <a:xfrm>
                <a:off x="6281836" y="3041909"/>
                <a:ext cx="2625328" cy="3238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GB" sz="2000" b="1" i="0" u="none" noProof="0" dirty="0">
                    <a:solidFill>
                      <a:srgbClr val="0F172A"/>
                    </a:solidFill>
                    <a:latin typeface="Inter"/>
                  </a:rPr>
                  <a:t>1. The Stimulus</a:t>
                </a:r>
              </a:p>
            </p:txBody>
          </p:sp>
          <p:sp>
            <p:nvSpPr>
              <p:cNvPr id="47" name="TextBox 13">
                <a:extLst>
                  <a:ext uri="{FF2B5EF4-FFF2-40B4-BE49-F238E27FC236}">
                    <a16:creationId xmlns:a16="http://schemas.microsoft.com/office/drawing/2014/main" id="{EA6D791B-4493-E867-7DF7-B8FB2DAD79D8}"/>
                  </a:ext>
                </a:extLst>
              </p:cNvPr>
              <p:cNvSpPr txBox="1"/>
              <p:nvPr/>
            </p:nvSpPr>
            <p:spPr>
              <a:xfrm>
                <a:off x="6062668" y="3480057"/>
                <a:ext cx="3063812" cy="154029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ts val="1889"/>
                  </a:lnSpc>
                </a:pPr>
                <a:r>
                  <a:rPr lang="en-GB" sz="1800" b="0" i="0" u="none" noProof="0" dirty="0">
                    <a:solidFill>
                      <a:srgbClr val="475569"/>
                    </a:solidFill>
                    <a:latin typeface="Inter"/>
                  </a:rPr>
                  <a:t>Contrast flicker at a fixed rate </a:t>
                </a:r>
              </a:p>
              <a:p>
                <a:pPr algn="ctr">
                  <a:lnSpc>
                    <a:spcPts val="1889"/>
                  </a:lnSpc>
                </a:pPr>
                <a:r>
                  <a:rPr lang="en-GB" sz="1800" b="0" i="0" u="none" noProof="0" dirty="0">
                    <a:solidFill>
                      <a:srgbClr val="475569"/>
                    </a:solidFill>
                    <a:latin typeface="Inter"/>
                  </a:rPr>
                  <a:t>(6.00 or 7.0</a:t>
                </a:r>
                <a:r>
                  <a:rPr lang="en-GB" sz="1800" dirty="0">
                    <a:solidFill>
                      <a:srgbClr val="475569"/>
                    </a:solidFill>
                    <a:latin typeface="Inter"/>
                  </a:rPr>
                  <a:t>6</a:t>
                </a:r>
                <a:r>
                  <a:rPr lang="en-GB" sz="1800" b="0" i="0" u="none" noProof="0" dirty="0">
                    <a:solidFill>
                      <a:srgbClr val="475569"/>
                    </a:solidFill>
                    <a:latin typeface="Inter"/>
                  </a:rPr>
                  <a:t> Hz).</a:t>
                </a:r>
              </a:p>
            </p:txBody>
          </p:sp>
          <p:sp>
            <p:nvSpPr>
              <p:cNvPr id="48" name="TextBox 18">
                <a:extLst>
                  <a:ext uri="{FF2B5EF4-FFF2-40B4-BE49-F238E27FC236}">
                    <a16:creationId xmlns:a16="http://schemas.microsoft.com/office/drawing/2014/main" id="{781C5D87-469B-B9D5-498F-864FDB656A23}"/>
                  </a:ext>
                </a:extLst>
              </p:cNvPr>
              <p:cNvSpPr txBox="1"/>
              <p:nvPr/>
            </p:nvSpPr>
            <p:spPr>
              <a:xfrm>
                <a:off x="7055295" y="2122747"/>
                <a:ext cx="1136514" cy="36403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:r>
                  <a:rPr lang="en-GB" sz="2000" b="1" i="0" u="none" noProof="0" dirty="0">
                    <a:solidFill>
                      <a:srgbClr val="0F172A"/>
                    </a:solidFill>
                  </a:rPr>
                  <a:t>WORD</a:t>
                </a:r>
              </a:p>
            </p:txBody>
          </p:sp>
        </p:grp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3239FC95-B71E-EDC7-0916-5ED4BBC2BC54}"/>
                </a:ext>
              </a:extLst>
            </p:cNvPr>
            <p:cNvGrpSpPr/>
            <p:nvPr/>
          </p:nvGrpSpPr>
          <p:grpSpPr>
            <a:xfrm>
              <a:off x="13174174" y="1489333"/>
              <a:ext cx="3217003" cy="3700637"/>
              <a:chOff x="13174174" y="1489333"/>
              <a:chExt cx="3217003" cy="3700637"/>
            </a:xfrm>
          </p:grpSpPr>
          <p:grpSp>
            <p:nvGrpSpPr>
              <p:cNvPr id="25" name="Groupe 24">
                <a:extLst>
                  <a:ext uri="{FF2B5EF4-FFF2-40B4-BE49-F238E27FC236}">
                    <a16:creationId xmlns:a16="http://schemas.microsoft.com/office/drawing/2014/main" id="{443A2B32-EB37-37E9-09A1-4B40A3445800}"/>
                  </a:ext>
                </a:extLst>
              </p:cNvPr>
              <p:cNvGrpSpPr/>
              <p:nvPr/>
            </p:nvGrpSpPr>
            <p:grpSpPr>
              <a:xfrm>
                <a:off x="13233300" y="1489333"/>
                <a:ext cx="3098750" cy="3700637"/>
                <a:chOff x="13233300" y="1489333"/>
                <a:chExt cx="3098750" cy="3700637"/>
              </a:xfrm>
            </p:grpSpPr>
            <p:sp>
              <p:nvSpPr>
                <p:cNvPr id="29" name="Rounded Rectangle 3">
                  <a:extLst>
                    <a:ext uri="{FF2B5EF4-FFF2-40B4-BE49-F238E27FC236}">
                      <a16:creationId xmlns:a16="http://schemas.microsoft.com/office/drawing/2014/main" id="{588EFFAC-C076-83D9-EDA2-7819D2C63AE6}"/>
                    </a:ext>
                  </a:extLst>
                </p:cNvPr>
                <p:cNvSpPr/>
                <p:nvPr/>
              </p:nvSpPr>
              <p:spPr>
                <a:xfrm>
                  <a:off x="13233300" y="1489333"/>
                  <a:ext cx="3098750" cy="3700637"/>
                </a:xfrm>
                <a:prstGeom prst="roundRect">
                  <a:avLst>
                    <a:gd name="adj" fmla="val 5025"/>
                  </a:avLst>
                </a:prstGeom>
                <a:solidFill>
                  <a:srgbClr val="F0F9FF"/>
                </a:solidFill>
                <a:ln w="19050">
                  <a:solidFill>
                    <a:srgbClr val="BAE6F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en-GB" noProof="0" dirty="0"/>
                </a:p>
              </p:txBody>
            </p:sp>
            <p:pic>
              <p:nvPicPr>
                <p:cNvPr id="31" name="Picture 9" descr="image.png">
                  <a:extLst>
                    <a:ext uri="{FF2B5EF4-FFF2-40B4-BE49-F238E27FC236}">
                      <a16:creationId xmlns:a16="http://schemas.microsoft.com/office/drawing/2014/main" id="{0237C0D7-ECD4-D7E1-959A-93626FBD8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515901" y="2003684"/>
                  <a:ext cx="533400" cy="533400"/>
                </a:xfrm>
                <a:prstGeom prst="rect">
                  <a:avLst/>
                </a:prstGeom>
              </p:spPr>
            </p:pic>
            <p:sp>
              <p:nvSpPr>
                <p:cNvPr id="33" name="TextBox 17">
                  <a:extLst>
                    <a:ext uri="{FF2B5EF4-FFF2-40B4-BE49-F238E27FC236}">
                      <a16:creationId xmlns:a16="http://schemas.microsoft.com/office/drawing/2014/main" id="{0D225E36-F953-6599-3082-C93852093DD2}"/>
                    </a:ext>
                  </a:extLst>
                </p:cNvPr>
                <p:cNvSpPr txBox="1"/>
                <p:nvPr/>
              </p:nvSpPr>
              <p:spPr>
                <a:xfrm>
                  <a:off x="13250769" y="3480059"/>
                  <a:ext cx="3063811" cy="156537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rm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n-GB" sz="1800" b="0" i="0" u="none" noProof="0" dirty="0">
                      <a:solidFill>
                        <a:srgbClr val="475569"/>
                      </a:solidFill>
                      <a:latin typeface="Inter"/>
                    </a:rPr>
                    <a:t>Can the tag response map the visual word-processing pathway?</a:t>
                  </a:r>
                </a:p>
              </p:txBody>
            </p:sp>
          </p:grp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1A085EFA-1F61-EAE4-5BA6-528184BAB2ED}"/>
                  </a:ext>
                </a:extLst>
              </p:cNvPr>
              <p:cNvSpPr txBox="1"/>
              <p:nvPr/>
            </p:nvSpPr>
            <p:spPr>
              <a:xfrm>
                <a:off x="13174174" y="2879984"/>
                <a:ext cx="3217003" cy="6477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ctr"/>
                <a:r>
                  <a:rPr lang="en-GB" sz="2100" b="1" i="0" u="none" noProof="0" dirty="0">
                    <a:solidFill>
                      <a:srgbClr val="0F172A"/>
                    </a:solidFill>
                    <a:latin typeface="Inter"/>
                  </a:rPr>
                  <a:t>3. The Test</a:t>
                </a:r>
              </a:p>
            </p:txBody>
          </p:sp>
        </p:grpSp>
      </p:grpSp>
      <p:sp>
        <p:nvSpPr>
          <p:cNvPr id="283" name="Conference line"/>
          <p:cNvSpPr txBox="1"/>
          <p:nvPr/>
        </p:nvSpPr>
        <p:spPr>
          <a:xfrm>
            <a:off x="32095440" y="709577"/>
            <a:ext cx="8961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 dirty="0">
                <a:solidFill>
                  <a:srgbClr val="0B3D6E"/>
                </a:solidFill>
              </a:rPr>
              <a:t>SNL 2026 · Geneva</a:t>
            </a:r>
          </a:p>
          <a:p>
            <a:pPr algn="r"/>
            <a:r>
              <a:rPr sz="2400" b="0" dirty="0">
                <a:solidFill>
                  <a:srgbClr val="555555"/>
                </a:solidFill>
              </a:rPr>
              <a:t>Poster F52 · Session F · Fri 2 Oct, 2:45–4:45 pm</a:t>
            </a:r>
          </a:p>
        </p:txBody>
      </p:sp>
    </p:spTree>
    <p:extLst>
      <p:ext uri="{BB962C8B-B14F-4D97-AF65-F5344CB8AC3E}">
        <p14:creationId xmlns:p14="http://schemas.microsoft.com/office/powerpoint/2010/main" val="342016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042899D-FE96-44FB-95CC-FE2207095593}" vid="{414AA121-51B8-4E35-8B8B-99A786789BA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568eb7-0265-45c2-ad45-e6663b598d0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7A3C250FB53749951D85F7882F9827" ma:contentTypeVersion="11" ma:contentTypeDescription="Crée un document." ma:contentTypeScope="" ma:versionID="0192d9677d5a9bc0b5c521d261bf0126">
  <xsd:schema xmlns:xsd="http://www.w3.org/2001/XMLSchema" xmlns:xs="http://www.w3.org/2001/XMLSchema" xmlns:p="http://schemas.microsoft.com/office/2006/metadata/properties" xmlns:ns2="c2568eb7-0265-45c2-ad45-e6663b598d0a" targetNamespace="http://schemas.microsoft.com/office/2006/metadata/properties" ma:root="true" ma:fieldsID="85d55b7e055f8dca09426c3bc156966e" ns2:_="">
    <xsd:import namespace="c2568eb7-0265-45c2-ad45-e6663b598d0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568eb7-0265-45c2-ad45-e6663b598d0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alises d’images" ma:readOnly="false" ma:fieldId="{5cf76f15-5ced-4ddc-b409-7134ff3c332f}" ma:taxonomyMulti="true" ma:sspId="326a1a01-f002-4b1f-9617-625d2f60aa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522692-5B41-40FB-84DE-34E1550CD18F}">
  <ds:schemaRefs>
    <ds:schemaRef ds:uri="http://purl.org/dc/dcmitype/"/>
    <ds:schemaRef ds:uri="http://schemas.microsoft.com/office/infopath/2007/PartnerControls"/>
    <ds:schemaRef ds:uri="3910e244-db38-4762-92b4-b781a059004c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D3CC80-B84A-49C7-9B16-0A2334A07C9D}"/>
</file>

<file path=customXml/itemProps3.xml><?xml version="1.0" encoding="utf-8"?>
<ds:datastoreItem xmlns:ds="http://schemas.openxmlformats.org/officeDocument/2006/customXml" ds:itemID="{6003E07C-EAEB-409E-A375-5063B6E11F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NCCR_Poster_Template</Template>
  <TotalTime>1155</TotalTime>
  <Words>1951</Words>
  <Application>Microsoft Office PowerPoint</Application>
  <PresentationFormat>Personnalisé</PresentationFormat>
  <Paragraphs>129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11" baseType="lpstr">
      <vt:lpstr>-apple-system</vt:lpstr>
      <vt:lpstr>Aptos</vt:lpstr>
      <vt:lpstr>Aptos Display</vt:lpstr>
      <vt:lpstr>Arial</vt:lpstr>
      <vt:lpstr>Calibri</vt:lpstr>
      <vt:lpstr>Calibri Light</vt:lpstr>
      <vt:lpstr>Inter</vt:lpstr>
      <vt:lpstr>Ubuntu</vt:lpstr>
      <vt:lpstr>Office Theme</vt:lpstr>
      <vt:lpstr>Custom Design</vt:lpstr>
      <vt:lpstr>Characterizing word processing pathway using frequency tagging​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Célia Sophie Bernadette Lazzarotto</dc:creator>
  <cp:lastModifiedBy>Kishen Senziani</cp:lastModifiedBy>
  <cp:revision>9</cp:revision>
  <dcterms:created xsi:type="dcterms:W3CDTF">2026-09-11T08:43:29Z</dcterms:created>
  <dcterms:modified xsi:type="dcterms:W3CDTF">2026-09-26T20:47:01Z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0x010100977A3C250FB53749951D85F7882F9827</vt:lpwstr>
  </property>
  <property fmtid="{D5CDD505-2E9C-101B-9397-08002B2CF9AE}" pid="3" name="MediaServiceImageTags">
    <vt:lpwstr/>
  </property>
</Properties>
</file>