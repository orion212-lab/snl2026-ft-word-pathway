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1" r:id="rId5"/>
  </p:sldMasterIdLst>
  <p:notesMasterIdLst>
    <p:notesMasterId r:id="rId7"/>
  </p:notesMasterIdLst>
  <p:sldIdLst>
    <p:sldId id="260" r:id="rId6"/>
  </p:sldIdLst>
  <p:sldSz cx="42479913" cy="30240288"/>
  <p:notesSz cx="6811963" cy="9942513"/>
  <p:defaultTextStyle>
    <a:defPPr>
      <a:defRPr lang="en-US"/>
    </a:defPPr>
    <a:lvl1pPr marL="0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1pPr>
    <a:lvl2pPr marL="415487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2pPr>
    <a:lvl3pPr marL="830979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3pPr>
    <a:lvl4pPr marL="1246467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4pPr>
    <a:lvl5pPr marL="1661959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5pPr>
    <a:lvl6pPr marL="2077446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6pPr>
    <a:lvl7pPr marL="2492934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7pPr>
    <a:lvl8pPr marL="2908425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8pPr>
    <a:lvl9pPr marL="3323913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3"/>
    <a:srgbClr val="E8E8E8"/>
    <a:srgbClr val="E4F3F1"/>
    <a:srgbClr val="44546A"/>
    <a:srgbClr val="941100"/>
    <a:srgbClr val="009051"/>
    <a:srgbClr val="945200"/>
    <a:srgbClr val="FFB9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17" autoAdjust="0"/>
    <p:restoredTop sz="93453" autoAdjust="0"/>
  </p:normalViewPr>
  <p:slideViewPr>
    <p:cSldViewPr snapToGrid="0">
      <p:cViewPr varScale="1">
        <p:scale>
          <a:sx n="23" d="100"/>
          <a:sy n="23" d="100"/>
        </p:scale>
        <p:origin x="126" y="2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851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8536" y="0"/>
            <a:ext cx="2951851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C1E60-FD55-4E45-A2D4-50E4E470247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049338" y="1243013"/>
            <a:ext cx="47132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1197" y="4784835"/>
            <a:ext cx="544957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851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8536" y="9443662"/>
            <a:ext cx="2951851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0B6EB-D8EB-4799-A129-9F2E0437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606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0B6EB-D8EB-4799-A129-9F2E0437958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39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2" y="0"/>
            <a:ext cx="6857470" cy="30240288"/>
          </a:xfrm>
          <a:prstGeom prst="rect">
            <a:avLst/>
          </a:prstGeom>
          <a:solidFill>
            <a:srgbClr val="941100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435297" y="2043801"/>
            <a:ext cx="27797571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38504" y="4849417"/>
            <a:ext cx="23587879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692670" y="17177769"/>
            <a:ext cx="5527608" cy="10510502"/>
          </a:xfrm>
          <a:prstGeom prst="roundRect">
            <a:avLst/>
          </a:prstGeom>
          <a:solidFill>
            <a:schemeClr val="bg1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5874" y="18039344"/>
            <a:ext cx="4581192" cy="8787352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5098786" y="8422429"/>
            <a:ext cx="16402157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35301" y="8422429"/>
            <a:ext cx="15414132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5295" y="13017586"/>
            <a:ext cx="15414136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295" y="15329445"/>
            <a:ext cx="15414136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35295" y="23770092"/>
            <a:ext cx="15414136" cy="395017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97740" y="15329447"/>
            <a:ext cx="16402157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97740" y="20012007"/>
            <a:ext cx="16402157" cy="7708257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35295" y="20351028"/>
            <a:ext cx="15414136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74702" y="5577111"/>
            <a:ext cx="5527608" cy="4526298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4474108" y="8422427"/>
            <a:ext cx="0" cy="19297837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61" y="1412957"/>
            <a:ext cx="5709534" cy="296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2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2" y="0"/>
            <a:ext cx="6857470" cy="30240288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435297" y="2043801"/>
            <a:ext cx="27797571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38504" y="4849417"/>
            <a:ext cx="23587879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692670" y="17177769"/>
            <a:ext cx="5527608" cy="10510502"/>
          </a:xfrm>
          <a:prstGeom prst="roundRect">
            <a:avLst/>
          </a:prstGeom>
          <a:solidFill>
            <a:schemeClr val="bg1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5874" y="18039344"/>
            <a:ext cx="4581192" cy="8787352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5098786" y="8422429"/>
            <a:ext cx="16402157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35301" y="8422429"/>
            <a:ext cx="15414132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5295" y="13017586"/>
            <a:ext cx="15414136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295" y="15329445"/>
            <a:ext cx="15414136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35295" y="23770092"/>
            <a:ext cx="15414136" cy="395017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97740" y="15329447"/>
            <a:ext cx="16402157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97740" y="20012007"/>
            <a:ext cx="16402157" cy="7708257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35295" y="20351028"/>
            <a:ext cx="15414136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74702" y="5577111"/>
            <a:ext cx="5527608" cy="4526298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4474108" y="8422427"/>
            <a:ext cx="0" cy="19297837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61" y="1412957"/>
            <a:ext cx="5709534" cy="296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78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4" y="0"/>
            <a:ext cx="2700498" cy="30240288"/>
          </a:xfrm>
          <a:prstGeom prst="rect">
            <a:avLst/>
          </a:prstGeom>
          <a:solidFill>
            <a:srgbClr val="941100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33381" y="2043801"/>
            <a:ext cx="28299491" cy="2367292"/>
          </a:xfrm>
        </p:spPr>
        <p:txBody>
          <a:bodyPr anchor="ctr">
            <a:normAutofit/>
          </a:bodyPr>
          <a:lstStyle>
            <a:lvl1pPr algn="l">
              <a:defRPr sz="8800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09389" y="4846961"/>
            <a:ext cx="24013784" cy="1156706"/>
          </a:xfrm>
        </p:spPr>
        <p:txBody>
          <a:bodyPr anchor="ctr">
            <a:normAutofit/>
          </a:bodyPr>
          <a:lstStyle>
            <a:lvl1pPr marL="0" indent="0" algn="l">
              <a:buNone/>
              <a:defRPr sz="7200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3221105" y="8422429"/>
            <a:ext cx="18279836" cy="6568003"/>
          </a:xfrm>
        </p:spPr>
        <p:txBody>
          <a:bodyPr>
            <a:normAutofit/>
          </a:bodyPr>
          <a:lstStyle>
            <a:lvl1pPr marL="0" indent="0">
              <a:buNone/>
              <a:defRPr sz="5400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2676" y="8422429"/>
            <a:ext cx="17099426" cy="4256142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2671" y="13017586"/>
            <a:ext cx="17099426" cy="1972846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2669" y="15329445"/>
            <a:ext cx="17099430" cy="4682562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2669" y="23770092"/>
            <a:ext cx="17099430" cy="3950172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220058" y="15329447"/>
            <a:ext cx="18279836" cy="4303244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220058" y="20012007"/>
            <a:ext cx="18279836" cy="7708257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72669" y="20351028"/>
            <a:ext cx="17099430" cy="3080051"/>
          </a:xfrm>
        </p:spPr>
        <p:txBody>
          <a:bodyPr>
            <a:normAutofit/>
          </a:bodyPr>
          <a:lstStyle>
            <a:lvl1pPr marL="0" indent="0">
              <a:buNone/>
              <a:defRPr sz="5400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2546079" y="8422427"/>
            <a:ext cx="0" cy="19297837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3E82C9-9443-8BCC-24AA-78A6C8E271E9}"/>
              </a:ext>
            </a:extLst>
          </p:cNvPr>
          <p:cNvSpPr/>
          <p:nvPr userDrawn="1"/>
        </p:nvSpPr>
        <p:spPr>
          <a:xfrm>
            <a:off x="1228171" y="1603912"/>
            <a:ext cx="5713969" cy="4682562"/>
          </a:xfrm>
          <a:prstGeom prst="roundRect">
            <a:avLst/>
          </a:prstGeom>
          <a:solidFill>
            <a:srgbClr val="941100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3" y="2343741"/>
            <a:ext cx="4979876" cy="276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8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4" y="0"/>
            <a:ext cx="2700498" cy="30240288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33381" y="2043801"/>
            <a:ext cx="28299491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09389" y="4846961"/>
            <a:ext cx="24013784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3221105" y="8422429"/>
            <a:ext cx="18279836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2676" y="8422429"/>
            <a:ext cx="17099426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2671" y="13017586"/>
            <a:ext cx="17099426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2669" y="15329445"/>
            <a:ext cx="17099430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2669" y="23770092"/>
            <a:ext cx="17099430" cy="395017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220058" y="15329447"/>
            <a:ext cx="18279836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220058" y="20012007"/>
            <a:ext cx="18279836" cy="7708257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72669" y="20351028"/>
            <a:ext cx="17099430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2546079" y="8422427"/>
            <a:ext cx="0" cy="19297837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3E82C9-9443-8BCC-24AA-78A6C8E271E9}"/>
              </a:ext>
            </a:extLst>
          </p:cNvPr>
          <p:cNvSpPr/>
          <p:nvPr userDrawn="1"/>
        </p:nvSpPr>
        <p:spPr>
          <a:xfrm>
            <a:off x="1228171" y="1603912"/>
            <a:ext cx="5713969" cy="4682562"/>
          </a:xfrm>
          <a:prstGeom prst="round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3" y="2343741"/>
            <a:ext cx="4979876" cy="276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99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2" y="0"/>
            <a:ext cx="6857470" cy="30240288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435297" y="2043801"/>
            <a:ext cx="27797571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38504" y="4849417"/>
            <a:ext cx="23587879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692670" y="18969782"/>
            <a:ext cx="5527608" cy="10510502"/>
          </a:xfrm>
          <a:prstGeom prst="roundRect">
            <a:avLst/>
          </a:prstGeom>
          <a:solidFill>
            <a:schemeClr val="bg1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5874" y="19831357"/>
            <a:ext cx="4581192" cy="8787352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5098786" y="8422429"/>
            <a:ext cx="16402157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35301" y="8422429"/>
            <a:ext cx="15414132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5295" y="13017586"/>
            <a:ext cx="15414136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295" y="15329445"/>
            <a:ext cx="15414136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35295" y="23770092"/>
            <a:ext cx="15414136" cy="395017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97740" y="15329447"/>
            <a:ext cx="16402157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97740" y="20012007"/>
            <a:ext cx="16402157" cy="7708257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35295" y="20351028"/>
            <a:ext cx="15414136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2670" y="7032212"/>
            <a:ext cx="5527608" cy="4526298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4474108" y="8422427"/>
            <a:ext cx="0" cy="19297837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3" y="1445025"/>
            <a:ext cx="4979876" cy="276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8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2" y="0"/>
            <a:ext cx="8959441" cy="30240288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77126" y="2043801"/>
            <a:ext cx="26455740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77126" y="4849417"/>
            <a:ext cx="22449257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783691" y="21400205"/>
            <a:ext cx="7392054" cy="8080079"/>
          </a:xfrm>
          <a:prstGeom prst="roundRect">
            <a:avLst/>
          </a:prstGeom>
          <a:solidFill>
            <a:schemeClr val="bg1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16512" y="22039879"/>
            <a:ext cx="6126413" cy="6755384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5098786" y="8422429"/>
            <a:ext cx="16402157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7128" y="8422429"/>
            <a:ext cx="14072305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77125" y="13017586"/>
            <a:ext cx="14072310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77125" y="15329445"/>
            <a:ext cx="14072310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77121" y="23770092"/>
            <a:ext cx="14072310" cy="395017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97740" y="15329447"/>
            <a:ext cx="16402157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97740" y="20012007"/>
            <a:ext cx="16402157" cy="7708257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777125" y="20351028"/>
            <a:ext cx="14072310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3691" y="7032212"/>
            <a:ext cx="7392054" cy="4682562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4474108" y="8422427"/>
            <a:ext cx="0" cy="19297837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167" y="1445027"/>
            <a:ext cx="6425102" cy="356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66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941100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920492" y="19210443"/>
            <a:ext cx="17231638" cy="534748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7"/>
            <a:ext cx="38577464" cy="222365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0492" y="10985100"/>
            <a:ext cx="38577464" cy="1234508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3258263"/>
            <a:ext cx="38576641" cy="186188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76243" y="19210445"/>
            <a:ext cx="20121713" cy="53275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0492" y="25021784"/>
            <a:ext cx="38576641" cy="1761265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15615804"/>
            <a:ext cx="38576641" cy="253962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C2BE1A-2F11-68BE-1D09-BAF414149923}"/>
              </a:ext>
            </a:extLst>
          </p:cNvPr>
          <p:cNvCxnSpPr/>
          <p:nvPr userDrawn="1"/>
        </p:nvCxnSpPr>
        <p:spPr>
          <a:xfrm>
            <a:off x="2920492" y="18696329"/>
            <a:ext cx="38576641" cy="0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EFA30-3D08-00FF-070C-6CE0E8C8520A}"/>
              </a:ext>
            </a:extLst>
          </p:cNvPr>
          <p:cNvCxnSpPr/>
          <p:nvPr userDrawn="1"/>
        </p:nvCxnSpPr>
        <p:spPr>
          <a:xfrm>
            <a:off x="2920492" y="12761891"/>
            <a:ext cx="38576641" cy="0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13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941100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1857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239959" y="8422429"/>
            <a:ext cx="20260984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9"/>
            <a:ext cx="17231638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1315" y="13017586"/>
            <a:ext cx="17231638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5329445"/>
            <a:ext cx="17231638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21315" y="23770099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39959" y="15329447"/>
            <a:ext cx="20259938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9959" y="20012007"/>
            <a:ext cx="20259938" cy="683814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20351028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0681259" y="8422427"/>
            <a:ext cx="0" cy="18427721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25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920492" y="19210443"/>
            <a:ext cx="17231638" cy="534748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7"/>
            <a:ext cx="38577464" cy="222365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0492" y="10985100"/>
            <a:ext cx="38577464" cy="1234508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3258263"/>
            <a:ext cx="38576641" cy="186188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76243" y="19210445"/>
            <a:ext cx="20121713" cy="53275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0492" y="25021784"/>
            <a:ext cx="38576641" cy="1761265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15615804"/>
            <a:ext cx="38576641" cy="253962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C2BE1A-2F11-68BE-1D09-BAF414149923}"/>
              </a:ext>
            </a:extLst>
          </p:cNvPr>
          <p:cNvCxnSpPr/>
          <p:nvPr userDrawn="1"/>
        </p:nvCxnSpPr>
        <p:spPr>
          <a:xfrm>
            <a:off x="2920492" y="18696329"/>
            <a:ext cx="38576641" cy="0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EFA30-3D08-00FF-070C-6CE0E8C8520A}"/>
              </a:ext>
            </a:extLst>
          </p:cNvPr>
          <p:cNvCxnSpPr/>
          <p:nvPr userDrawn="1"/>
        </p:nvCxnSpPr>
        <p:spPr>
          <a:xfrm>
            <a:off x="2920492" y="12761891"/>
            <a:ext cx="38576641" cy="0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02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91610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945200"/>
          </a:solidFill>
          <a:ln>
            <a:solidFill>
              <a:srgbClr val="945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945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239959" y="8422429"/>
            <a:ext cx="20260984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9"/>
            <a:ext cx="17231638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1315" y="13017586"/>
            <a:ext cx="17231638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5329445"/>
            <a:ext cx="17231638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21315" y="23770099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39959" y="15329447"/>
            <a:ext cx="20259938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9959" y="20012007"/>
            <a:ext cx="20259938" cy="683814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20351028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0681259" y="8422427"/>
            <a:ext cx="0" cy="18427721"/>
          </a:xfrm>
          <a:prstGeom prst="line">
            <a:avLst/>
          </a:prstGeom>
          <a:ln w="76200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457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945200"/>
          </a:solidFill>
          <a:ln>
            <a:solidFill>
              <a:srgbClr val="945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945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920492" y="19210443"/>
            <a:ext cx="17231638" cy="534748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7"/>
            <a:ext cx="38577464" cy="222365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0492" y="10985100"/>
            <a:ext cx="38577464" cy="1234508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3258263"/>
            <a:ext cx="38576641" cy="186188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76243" y="19210445"/>
            <a:ext cx="20121713" cy="53275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0492" y="25021784"/>
            <a:ext cx="38576641" cy="1761265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15615804"/>
            <a:ext cx="38576641" cy="253962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C2BE1A-2F11-68BE-1D09-BAF414149923}"/>
              </a:ext>
            </a:extLst>
          </p:cNvPr>
          <p:cNvCxnSpPr/>
          <p:nvPr userDrawn="1"/>
        </p:nvCxnSpPr>
        <p:spPr>
          <a:xfrm>
            <a:off x="2920492" y="18696329"/>
            <a:ext cx="38576641" cy="0"/>
          </a:xfrm>
          <a:prstGeom prst="line">
            <a:avLst/>
          </a:prstGeom>
          <a:ln w="76200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EFA30-3D08-00FF-070C-6CE0E8C8520A}"/>
              </a:ext>
            </a:extLst>
          </p:cNvPr>
          <p:cNvCxnSpPr/>
          <p:nvPr userDrawn="1"/>
        </p:nvCxnSpPr>
        <p:spPr>
          <a:xfrm>
            <a:off x="2920492" y="12761891"/>
            <a:ext cx="38576641" cy="0"/>
          </a:xfrm>
          <a:prstGeom prst="line">
            <a:avLst/>
          </a:prstGeom>
          <a:ln w="76200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15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945200"/>
          </a:solidFill>
          <a:ln>
            <a:solidFill>
              <a:srgbClr val="945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89699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239959" y="8422429"/>
            <a:ext cx="20260984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9"/>
            <a:ext cx="17231638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1315" y="13017586"/>
            <a:ext cx="17231638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5329445"/>
            <a:ext cx="17231638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21315" y="23770099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39959" y="15329447"/>
            <a:ext cx="20259938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9959" y="20012007"/>
            <a:ext cx="20259938" cy="683814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20351028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0681259" y="8422427"/>
            <a:ext cx="0" cy="18427721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366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920492" y="19210443"/>
            <a:ext cx="17231638" cy="534748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7"/>
            <a:ext cx="38577464" cy="222365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0492" y="10985100"/>
            <a:ext cx="38577464" cy="1234508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3258263"/>
            <a:ext cx="38576641" cy="186188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76243" y="19210445"/>
            <a:ext cx="20121713" cy="53275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0492" y="25021784"/>
            <a:ext cx="38576641" cy="1761265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15615804"/>
            <a:ext cx="38576641" cy="253962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C2BE1A-2F11-68BE-1D09-BAF414149923}"/>
              </a:ext>
            </a:extLst>
          </p:cNvPr>
          <p:cNvCxnSpPr/>
          <p:nvPr userDrawn="1"/>
        </p:nvCxnSpPr>
        <p:spPr>
          <a:xfrm>
            <a:off x="2920492" y="18696329"/>
            <a:ext cx="38576641" cy="0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EFA30-3D08-00FF-070C-6CE0E8C8520A}"/>
              </a:ext>
            </a:extLst>
          </p:cNvPr>
          <p:cNvCxnSpPr/>
          <p:nvPr userDrawn="1"/>
        </p:nvCxnSpPr>
        <p:spPr>
          <a:xfrm>
            <a:off x="2920492" y="12761891"/>
            <a:ext cx="38576641" cy="0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71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328298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9051"/>
          </a:solidFill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239959" y="8422429"/>
            <a:ext cx="20260984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9"/>
            <a:ext cx="17231638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1315" y="13017586"/>
            <a:ext cx="17231638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5329445"/>
            <a:ext cx="17231638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21315" y="23770099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39959" y="15329447"/>
            <a:ext cx="20259938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9959" y="20012007"/>
            <a:ext cx="20259938" cy="683814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20351028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0681259" y="8422427"/>
            <a:ext cx="0" cy="18427721"/>
          </a:xfrm>
          <a:prstGeom prst="line">
            <a:avLst/>
          </a:prstGeom>
          <a:ln w="76200">
            <a:solidFill>
              <a:srgbClr val="009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2257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9051"/>
          </a:solidFill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920492" y="19210443"/>
            <a:ext cx="17231638" cy="534748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7"/>
            <a:ext cx="38577464" cy="222365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0492" y="10985100"/>
            <a:ext cx="38577464" cy="1234508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3258263"/>
            <a:ext cx="38576641" cy="186188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76243" y="19210445"/>
            <a:ext cx="20121713" cy="53275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0492" y="25021784"/>
            <a:ext cx="38576641" cy="1761265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15615804"/>
            <a:ext cx="38576641" cy="253962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C2BE1A-2F11-68BE-1D09-BAF414149923}"/>
              </a:ext>
            </a:extLst>
          </p:cNvPr>
          <p:cNvCxnSpPr/>
          <p:nvPr userDrawn="1"/>
        </p:nvCxnSpPr>
        <p:spPr>
          <a:xfrm>
            <a:off x="2920492" y="18696329"/>
            <a:ext cx="38576641" cy="0"/>
          </a:xfrm>
          <a:prstGeom prst="line">
            <a:avLst/>
          </a:prstGeom>
          <a:ln w="76200">
            <a:solidFill>
              <a:srgbClr val="009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EFA30-3D08-00FF-070C-6CE0E8C8520A}"/>
              </a:ext>
            </a:extLst>
          </p:cNvPr>
          <p:cNvCxnSpPr/>
          <p:nvPr userDrawn="1"/>
        </p:nvCxnSpPr>
        <p:spPr>
          <a:xfrm>
            <a:off x="2920492" y="12761891"/>
            <a:ext cx="38576641" cy="0"/>
          </a:xfrm>
          <a:prstGeom prst="line">
            <a:avLst/>
          </a:prstGeom>
          <a:ln w="76200">
            <a:solidFill>
              <a:srgbClr val="009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242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9051"/>
          </a:solidFill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29440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9842-7BC8-B7F4-9FAB-87438306B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9989" y="4949049"/>
            <a:ext cx="31859935" cy="105281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250B-1975-AC51-5AE0-FBC9FE50F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989" y="15883154"/>
            <a:ext cx="31859935" cy="73010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62D0B-AE3F-5737-E8F8-2419E0C2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C890C-9BF8-F14A-0DE3-CB06384B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75660-DEA3-E858-A909-5E88D02C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49162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992C-8C46-BC03-2182-712C8985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A2FD1-0C08-48D8-4697-2DC9CB721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E5D4E-236A-9F35-DF25-C6A84E06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4FE3F-3CF7-59DB-351E-52E50947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9EA0B-4ECB-05EC-CA79-AB4B67D6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39305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2A2A-2B28-61DF-9A3B-3D41FDE1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073" y="7539076"/>
            <a:ext cx="36638925" cy="125791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A5755-DD31-A68D-9491-538FF9A8E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0073" y="20237197"/>
            <a:ext cx="36638925" cy="66150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2EA1C-1AE6-94AD-5873-07799818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C41FB-F8D8-E85A-1C27-679B32F2F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B1057-7798-6062-FF76-8623D659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994195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0234-FEE7-2558-9671-4C7F51F5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8F4A0-28C0-84C2-6047-019B7172E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0496" y="8050077"/>
            <a:ext cx="17992692" cy="19187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AB92A-3061-2CDC-F946-99B4DC0AC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566727" y="8050077"/>
            <a:ext cx="17992696" cy="19187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1A24D-2DD2-8483-AAFF-8C1999C9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F1839-830F-FA4A-CC5C-6D30A3EB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F8C07-5012-8E61-F95E-F8E2134F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429819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70D1-9F6E-0079-A8F7-41424ECA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304" y="1610017"/>
            <a:ext cx="36638925" cy="58450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C70C8-4BA0-D5ED-F85A-6018B5B1E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7302" y="7413073"/>
            <a:ext cx="17972271" cy="363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796F6-7418-F4F4-B0F3-1B638A579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27302" y="11046105"/>
            <a:ext cx="17972271" cy="162471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5ED26-C37E-A025-E253-CDA545BDB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505460" y="7413073"/>
            <a:ext cx="18060769" cy="363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99CA4-9502-60E7-52A0-9CD417D4D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1505460" y="11046105"/>
            <a:ext cx="18060769" cy="162471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82E7C-02B5-7798-309D-FDD865C71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7E6312-3234-1FBE-57CE-D2C9C33C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FC4B9-456B-71C0-27BA-609C5FE0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792067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571B2-FF77-CCBC-291C-88B5F0DF7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51D5C-5214-D636-1387-349793CD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D783F-015A-E228-7947-2372827A1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24E12-E389-074C-9EFA-1EE302C6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63510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A31EFC-0261-AD2B-4AE4-310425D21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E61BB-3748-77FF-F43D-3FD4BE5A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60FE1-3FEB-FF14-23D4-1F442225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965851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EA732-4619-9F0E-B4DB-8BFADD76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302" y="2016019"/>
            <a:ext cx="13697049" cy="7056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C2593-6521-3A9A-A3FA-D74E0348B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0773" y="4354044"/>
            <a:ext cx="21505454" cy="214902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6DBBE-BA03-5C9B-C981-091BE0F15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27302" y="9072087"/>
            <a:ext cx="13697049" cy="168071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C530E-5D51-E399-243C-21BEA256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9EB48-929A-8F81-1A19-CB28BE18B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1BEC7-42B7-AB74-835E-BB9F73818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777315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4323-6005-32D8-5E83-0DD135198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302" y="2016019"/>
            <a:ext cx="13697049" cy="7056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2EDA9F-E51A-ACE0-A744-B1D63B4B4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060773" y="4354044"/>
            <a:ext cx="21505454" cy="214902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F3E3C-DDB6-ED7C-C256-C3A768333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27302" y="9072087"/>
            <a:ext cx="13697049" cy="168071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95DE3-1932-CE9D-DBCC-0C847DEC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D8D8A-CAE3-5F44-BD22-739117E2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30AE5-83E9-BC6E-24E2-D5164B47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922570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FA90-04E4-E4DD-BA32-7AFAF12A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88F8A-495A-112B-31C9-9C8D447C1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9BE84-6E89-EA66-562E-266B38B9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C5CC5-193D-ED65-543F-C57AF866D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B57E-3FA5-106E-6E8C-05275862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780541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7F70E7-B31E-65B3-C791-56B00AAAF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0403091" y="1610015"/>
            <a:ext cx="9156330" cy="256272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924DF-644E-3B40-7DE8-04CC3D098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20498" y="1610015"/>
            <a:ext cx="26829058" cy="256272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C90DA-5F03-823E-061C-889B80D8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3D2E3-23D5-6171-8C6F-C5542A45E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B1F9A-B4D9-15E3-0C34-551DEB48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602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0498" y="1610026"/>
            <a:ext cx="36638925" cy="584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98" y="8050077"/>
            <a:ext cx="36638925" cy="19187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20496" y="28028278"/>
            <a:ext cx="955798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A8031-0866-4981-A206-2577A3748F7C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071475" y="28028278"/>
            <a:ext cx="14336971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001441" y="28028278"/>
            <a:ext cx="955798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7FAEC-9C0C-4465-B77F-B2D0A1D82F3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8191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3" r:id="rId2"/>
    <p:sldLayoutId id="2147483689" r:id="rId3"/>
    <p:sldLayoutId id="2147483690" r:id="rId4"/>
    <p:sldLayoutId id="2147483688" r:id="rId5"/>
    <p:sldLayoutId id="2147483687" r:id="rId6"/>
    <p:sldLayoutId id="2147483673" r:id="rId7"/>
    <p:sldLayoutId id="2147483672" r:id="rId8"/>
    <p:sldLayoutId id="2147483674" r:id="rId9"/>
    <p:sldLayoutId id="2147483675" r:id="rId10"/>
    <p:sldLayoutId id="2147483676" r:id="rId11"/>
    <p:sldLayoutId id="2147483684" r:id="rId12"/>
    <p:sldLayoutId id="2147483685" r:id="rId13"/>
    <p:sldLayoutId id="2147483686" r:id="rId14"/>
    <p:sldLayoutId id="2147483677" r:id="rId15"/>
    <p:sldLayoutId id="2147483678" r:id="rId16"/>
    <p:sldLayoutId id="2147483679" r:id="rId17"/>
    <p:sldLayoutId id="2147483683" r:id="rId18"/>
    <p:sldLayoutId id="2147483681" r:id="rId19"/>
    <p:sldLayoutId id="2147483682" r:id="rId20"/>
  </p:sldLayoutIdLst>
  <p:txStyles>
    <p:titleStyle>
      <a:lvl1pPr algn="l" defTabSz="990854" rtl="0" eaLnBrk="1" latinLnBrk="0" hangingPunct="1">
        <a:lnSpc>
          <a:spcPct val="90000"/>
        </a:lnSpc>
        <a:spcBef>
          <a:spcPct val="0"/>
        </a:spcBef>
        <a:buNone/>
        <a:defRPr sz="47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713" indent="-247713" algn="l" defTabSz="990854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3034" kern="1200">
          <a:solidFill>
            <a:schemeClr val="tx1"/>
          </a:solidFill>
          <a:latin typeface="+mn-lt"/>
          <a:ea typeface="+mn-ea"/>
          <a:cs typeface="+mn-cs"/>
        </a:defRPr>
      </a:lvl1pPr>
      <a:lvl2pPr marL="743140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2pPr>
      <a:lvl3pPr marL="1238567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994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4pPr>
      <a:lvl5pPr marL="2229421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5pPr>
      <a:lvl6pPr marL="2724848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6pPr>
      <a:lvl7pPr marL="3220275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7pPr>
      <a:lvl8pPr marL="3715702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8pPr>
      <a:lvl9pPr marL="4211129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1pPr>
      <a:lvl2pPr marL="495427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2pPr>
      <a:lvl3pPr marL="990854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3pPr>
      <a:lvl4pPr marL="1486280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4pPr>
      <a:lvl5pPr marL="1981708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5pPr>
      <a:lvl6pPr marL="2477134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6pPr>
      <a:lvl7pPr marL="2972562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7pPr>
      <a:lvl8pPr marL="3467988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8pPr>
      <a:lvl9pPr marL="3963415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4BEFB-0F77-8131-09DE-FC1F2E14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498" y="1610017"/>
            <a:ext cx="36638925" cy="584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68805-91D8-C2D3-B0BA-27F8EE402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0498" y="8050077"/>
            <a:ext cx="36638925" cy="19187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71201-38FE-6FC8-7620-BB85E4518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20496" y="28028269"/>
            <a:ext cx="955798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088ED-88E4-4553-961A-35467C93D606}" type="datetimeFigureOut">
              <a:rPr lang="en-CH" smtClean="0"/>
              <a:t>29/09/2026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EF3BC-3BC9-E21F-D6E0-D19E49572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71475" y="28028269"/>
            <a:ext cx="14336971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96D5E-EE5A-08A4-6B61-4B8C2A8EF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001441" y="28028269"/>
            <a:ext cx="955798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0868D-47C6-48A9-9465-D843023DF9B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0709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5.png"/><Relationship Id="rId3" Type="http://schemas.openxmlformats.org/officeDocument/2006/relationships/image" Target="../media/image3.svg"/><Relationship Id="rId21" Type="http://schemas.openxmlformats.org/officeDocument/2006/relationships/image" Target="../media/image2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microsoft.com/office/2007/relationships/hdphoto" Target="../media/hdphoto1.wdp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6.sv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7443F2-F3E9-4778-D8FB-B907E7ED3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7195" y="498422"/>
            <a:ext cx="27797571" cy="2367292"/>
          </a:xfrm>
        </p:spPr>
        <p:txBody>
          <a:bodyPr>
            <a:normAutofit/>
          </a:bodyPr>
          <a:lstStyle/>
          <a:p>
            <a:pPr algn="just"/>
            <a:r>
              <a:rPr lang="en-GB" sz="7200" noProof="0" dirty="0">
                <a:solidFill>
                  <a:srgbClr val="005493"/>
                </a:solidFill>
              </a:rPr>
              <a:t>Characterizing word processing pathway using frequency tagging​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624BB1-3FA2-EF80-7738-EC7C48095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4" y="15207396"/>
            <a:ext cx="6413922" cy="1156706"/>
          </a:xfrm>
        </p:spPr>
        <p:txBody>
          <a:bodyPr>
            <a:noAutofit/>
          </a:bodyPr>
          <a:lstStyle/>
          <a:p>
            <a:pPr algn="l"/>
            <a:r>
              <a:rPr lang="en-US" sz="3200" baseline="30000" dirty="0">
                <a:solidFill>
                  <a:schemeClr val="bg1"/>
                </a:solidFill>
              </a:rPr>
              <a:t>1 </a:t>
            </a:r>
            <a:r>
              <a:rPr lang="en-GB" sz="3200" dirty="0">
                <a:solidFill>
                  <a:schemeClr val="bg1"/>
                </a:solidFill>
                <a:latin typeface="+mn-lt"/>
              </a:rPr>
              <a:t>University</a:t>
            </a:r>
            <a:r>
              <a:rPr lang="en-GB" sz="3200" noProof="0" dirty="0">
                <a:solidFill>
                  <a:schemeClr val="bg1"/>
                </a:solidFill>
                <a:latin typeface="+mn-lt"/>
              </a:rPr>
              <a:t> of Geneva, </a:t>
            </a:r>
          </a:p>
          <a:p>
            <a:pPr algn="l"/>
            <a:r>
              <a:rPr lang="en-GB" sz="3200" noProof="0" dirty="0">
                <a:solidFill>
                  <a:schemeClr val="bg1"/>
                </a:solidFill>
                <a:latin typeface="+mn-lt"/>
              </a:rPr>
              <a:t>Faculty of Medicine, Department of Basic Neurosciences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DE20DB-838A-B9C8-4303-DC0930CFD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0106" y="22470839"/>
            <a:ext cx="4581192" cy="691029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sz="2800" noProof="0" dirty="0"/>
              <a:t>References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 err="1"/>
              <a:t>Salmelin</a:t>
            </a:r>
            <a:r>
              <a:rPr lang="en-US" sz="1800" dirty="0"/>
              <a:t>, R. 2007. Clinical Neurophysiology 118, no. 2: 237–254. https://doi.org/10.1016/j.clinph.2006.07.316.</a:t>
            </a:r>
            <a:endParaRPr lang="en-US" sz="1800" dirty="0">
              <a:ea typeface="Calibri"/>
              <a:cs typeface="Calibri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/>
              <a:t>Samoylov, A., Semenova, N., Myachykov, A., &amp; Shtyrov, Y. (2025). Psychophysiology, 62(3), e70192. https://doi.org/10.1111/psyp.70192.</a:t>
            </a:r>
            <a:endParaRPr lang="en-US" sz="1800" dirty="0">
              <a:ea typeface="Calibri"/>
              <a:cs typeface="Calibri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 err="1"/>
              <a:t>Thesen</a:t>
            </a:r>
            <a:r>
              <a:rPr lang="en-US" sz="1800" dirty="0"/>
              <a:t>, T., McDonald, C. R., ...&amp; Halgren, E. (2012).  Nature Communications, 3, 1284. https://doi.org/10.1038/ncomms2220.</a:t>
            </a:r>
            <a:endParaRPr lang="en-US" sz="1800" dirty="0">
              <a:ea typeface="Calibri"/>
              <a:cs typeface="Calibri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/>
              <a:t>Cornelissen, P. L., Kringelbach, ... &amp; Hansen, P. C. (2009). </a:t>
            </a:r>
            <a:r>
              <a:rPr lang="en-US" sz="1800" dirty="0" err="1"/>
              <a:t>PLoS</a:t>
            </a:r>
            <a:r>
              <a:rPr lang="en-US" sz="1800" dirty="0"/>
              <a:t> ONE, 4(4), e5359. https://doi.org/10.1371/journal.pone.0005359.</a:t>
            </a:r>
            <a:endParaRPr lang="en-US" sz="1800" dirty="0">
              <a:ea typeface="Calibri"/>
              <a:cs typeface="Calibri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/>
              <a:t>Norcia, A. M., Appelbaum, ... &amp; </a:t>
            </a:r>
            <a:r>
              <a:rPr lang="en-US" sz="1800" dirty="0" err="1"/>
              <a:t>Rossion</a:t>
            </a:r>
            <a:r>
              <a:rPr lang="en-US" sz="1800" dirty="0"/>
              <a:t>, B. (2015). Journal of Vision, 15(6), 4. https://doi.org/10.1167/15.6.4.</a:t>
            </a:r>
            <a:endParaRPr lang="en-US" sz="1800" dirty="0">
              <a:ea typeface="Calibri"/>
              <a:cs typeface="Calibri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/>
              <a:t>Figueira, J. S. B., Kutlu, E., Scott, L. S., &amp; Keil, A. (2022). Developmental Cognitive Neuroscience, 54, 101066.</a:t>
            </a:r>
            <a:endParaRPr lang="en-US" sz="1800" dirty="0">
              <a:ea typeface="Calibri"/>
              <a:cs typeface="Calibri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/>
              <a:t>Kabdebon, C., Fló, A., De Heering, A., &amp; Aslin, R. (2022). </a:t>
            </a:r>
            <a:r>
              <a:rPr lang="en-US" sz="1800" dirty="0" err="1"/>
              <a:t>NeuroImage</a:t>
            </a:r>
            <a:r>
              <a:rPr lang="en-US" sz="1800" dirty="0"/>
              <a:t>, 254, 119150.</a:t>
            </a:r>
            <a:endParaRPr lang="en-US" sz="1800" dirty="0">
              <a:ea typeface="Calibri"/>
              <a:cs typeface="Calibri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 err="1"/>
              <a:t>Lochy</a:t>
            </a:r>
            <a:r>
              <a:rPr lang="en-US" sz="1800" dirty="0"/>
              <a:t>, A., Van Belle, G., &amp; </a:t>
            </a:r>
            <a:r>
              <a:rPr lang="en-US" sz="1800" dirty="0" err="1"/>
              <a:t>Rossion</a:t>
            </a:r>
            <a:r>
              <a:rPr lang="en-US" sz="1800" dirty="0"/>
              <a:t>, B. (2015). </a:t>
            </a:r>
            <a:r>
              <a:rPr lang="en-US" sz="1800" dirty="0" err="1"/>
              <a:t>Neuropsychologia</a:t>
            </a:r>
            <a:r>
              <a:rPr lang="en-US" sz="1800" dirty="0"/>
              <a:t>, 66, 18-31. https://doi.org/10.1016/j.neuropsychologia.2014.11.007.</a:t>
            </a:r>
            <a:endParaRPr lang="en-US" sz="1800" dirty="0">
              <a:ea typeface="Calibri"/>
              <a:cs typeface="Calibri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/>
              <a:t>Wang, F., Kaneshiro, B., ... &amp; McCandliss, B. D. (2021). Scientific reports, 11(1), 18229.</a:t>
            </a:r>
            <a:endParaRPr lang="en-US" sz="1800" dirty="0">
              <a:ea typeface="Calibri"/>
              <a:cs typeface="Calibri"/>
            </a:endParaRP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3825603-B783-ED52-6DE0-281AEA0CBF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78607" y="3630998"/>
            <a:ext cx="15414132" cy="4256142"/>
          </a:xfrm>
        </p:spPr>
        <p:txBody>
          <a:bodyPr>
            <a:normAutofit/>
          </a:bodyPr>
          <a:lstStyle/>
          <a:p>
            <a:r>
              <a:rPr lang="en-GB" sz="5400" b="1" noProof="0" dirty="0"/>
              <a:t>Background</a:t>
            </a:r>
          </a:p>
          <a:p>
            <a:endParaRPr lang="en-GB" sz="4800" noProof="0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3D89E61D-06E0-750B-C8EE-8C47E2C8D6C1}"/>
              </a:ext>
            </a:extLst>
          </p:cNvPr>
          <p:cNvGrpSpPr/>
          <p:nvPr/>
        </p:nvGrpSpPr>
        <p:grpSpPr>
          <a:xfrm>
            <a:off x="9673947" y="4248997"/>
            <a:ext cx="6236107" cy="2876550"/>
            <a:chOff x="9657946" y="8482532"/>
            <a:chExt cx="6236107" cy="2876550"/>
          </a:xfrm>
        </p:grpSpPr>
        <p:pic>
          <p:nvPicPr>
            <p:cNvPr id="104" name="Graphique 103">
              <a:extLst>
                <a:ext uri="{FF2B5EF4-FFF2-40B4-BE49-F238E27FC236}">
                  <a16:creationId xmlns:a16="http://schemas.microsoft.com/office/drawing/2014/main" id="{80551DC3-754A-F835-1419-9177B28FBB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827023" y="8482532"/>
              <a:ext cx="3857625" cy="2876550"/>
            </a:xfrm>
            <a:prstGeom prst="rect">
              <a:avLst/>
            </a:prstGeom>
          </p:spPr>
        </p:pic>
        <p:pic>
          <p:nvPicPr>
            <p:cNvPr id="98" name="Picture 4" descr="image.png">
              <a:extLst>
                <a:ext uri="{FF2B5EF4-FFF2-40B4-BE49-F238E27FC236}">
                  <a16:creationId xmlns:a16="http://schemas.microsoft.com/office/drawing/2014/main" id="{DF564F28-3FFD-CCA6-4DAE-340240279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26193" y="9961710"/>
              <a:ext cx="1634885" cy="302299"/>
            </a:xfrm>
            <a:prstGeom prst="rect">
              <a:avLst/>
            </a:prstGeom>
          </p:spPr>
        </p:pic>
        <p:pic>
          <p:nvPicPr>
            <p:cNvPr id="100" name="Picture 5" descr="image.png">
              <a:extLst>
                <a:ext uri="{FF2B5EF4-FFF2-40B4-BE49-F238E27FC236}">
                  <a16:creationId xmlns:a16="http://schemas.microsoft.com/office/drawing/2014/main" id="{F6D396FB-6841-4175-F36B-2749D09CE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259168" y="10334700"/>
              <a:ext cx="1634885" cy="302299"/>
            </a:xfrm>
            <a:prstGeom prst="rect">
              <a:avLst/>
            </a:prstGeom>
          </p:spPr>
        </p:pic>
        <p:pic>
          <p:nvPicPr>
            <p:cNvPr id="102" name="Picture 6" descr="image.png">
              <a:extLst>
                <a:ext uri="{FF2B5EF4-FFF2-40B4-BE49-F238E27FC236}">
                  <a16:creationId xmlns:a16="http://schemas.microsoft.com/office/drawing/2014/main" id="{B46ACFC0-0FB4-DE52-658A-64C9333A3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304048" y="10183550"/>
              <a:ext cx="1634885" cy="302299"/>
            </a:xfrm>
            <a:prstGeom prst="rect">
              <a:avLst/>
            </a:prstGeom>
          </p:spPr>
        </p:pic>
        <p:pic>
          <p:nvPicPr>
            <p:cNvPr id="106" name="Graphique 105">
              <a:extLst>
                <a:ext uri="{FF2B5EF4-FFF2-40B4-BE49-F238E27FC236}">
                  <a16:creationId xmlns:a16="http://schemas.microsoft.com/office/drawing/2014/main" id="{88808E8C-9CA9-F3EA-0B71-BA4EBF6F5B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57946" y="8753995"/>
              <a:ext cx="3000375" cy="2333625"/>
            </a:xfrm>
            <a:prstGeom prst="rect">
              <a:avLst/>
            </a:prstGeom>
          </p:spPr>
        </p:pic>
      </p:grp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C2332DF5-A9C9-BF92-976E-6FA368C83370}"/>
              </a:ext>
            </a:extLst>
          </p:cNvPr>
          <p:cNvCxnSpPr>
            <a:cxnSpLocks/>
          </p:cNvCxnSpPr>
          <p:nvPr/>
        </p:nvCxnSpPr>
        <p:spPr>
          <a:xfrm>
            <a:off x="15975210" y="4946695"/>
            <a:ext cx="0" cy="5708677"/>
          </a:xfrm>
          <a:prstGeom prst="line">
            <a:avLst/>
          </a:prstGeom>
          <a:ln w="1905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AE11F6B-A21A-77BC-13A8-4486BCC4EEA8}"/>
              </a:ext>
            </a:extLst>
          </p:cNvPr>
          <p:cNvSpPr/>
          <p:nvPr/>
        </p:nvSpPr>
        <p:spPr>
          <a:xfrm>
            <a:off x="16066167" y="4946695"/>
            <a:ext cx="2175139" cy="95410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sz="2800" b="1" noProof="0" dirty="0"/>
              <a:t>Frequency tagging </a:t>
            </a:r>
            <a:r>
              <a:rPr lang="en-GB" sz="2800" b="1" baseline="30000" dirty="0"/>
              <a:t>5-9</a:t>
            </a:r>
            <a:endParaRPr lang="en-GB" sz="2800" b="1" baseline="30000" noProof="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E122C60-1E91-EADB-78A2-1445D2745C2F}"/>
              </a:ext>
            </a:extLst>
          </p:cNvPr>
          <p:cNvSpPr/>
          <p:nvPr/>
        </p:nvSpPr>
        <p:spPr>
          <a:xfrm>
            <a:off x="8620807" y="10781224"/>
            <a:ext cx="7020586" cy="1987954"/>
          </a:xfrm>
          <a:prstGeom prst="rect">
            <a:avLst/>
          </a:prstGeom>
          <a:ln>
            <a:solidFill>
              <a:srgbClr val="00905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 i="0" u="none" strike="noStrike" baseline="0" dirty="0">
                <a:solidFill>
                  <a:srgbClr val="000000"/>
                </a:solidFill>
              </a:rPr>
              <a:t>AIM 1</a:t>
            </a:r>
          </a:p>
          <a:p>
            <a:pPr algn="ctr"/>
            <a:r>
              <a:rPr lang="en-US" sz="3000" dirty="0">
                <a:solidFill>
                  <a:srgbClr val="000000"/>
                </a:solidFill>
              </a:rPr>
              <a:t>Observe the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V1 →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vOT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→ temporal </a:t>
            </a:r>
            <a:r>
              <a:rPr lang="en-US" sz="3000" dirty="0">
                <a:solidFill>
                  <a:srgbClr val="000000"/>
                </a:solidFill>
              </a:rPr>
              <a:t>lobe pathway in MEG sensor &amp; source analyses </a:t>
            </a:r>
            <a:endParaRPr lang="en-US" sz="3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406AD20-667C-3216-AE58-DE8EFEB5A4FB}"/>
              </a:ext>
            </a:extLst>
          </p:cNvPr>
          <p:cNvSpPr/>
          <p:nvPr/>
        </p:nvSpPr>
        <p:spPr>
          <a:xfrm>
            <a:off x="16146671" y="10781224"/>
            <a:ext cx="7169052" cy="1987954"/>
          </a:xfrm>
          <a:prstGeom prst="rect">
            <a:avLst/>
          </a:prstGeom>
          <a:ln>
            <a:solidFill>
              <a:srgbClr val="00905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 dirty="0">
                <a:solidFill>
                  <a:srgbClr val="000000"/>
                </a:solidFill>
              </a:rPr>
              <a:t>AIM 2</a:t>
            </a:r>
          </a:p>
          <a:p>
            <a:pPr algn="ctr"/>
            <a:r>
              <a:rPr lang="en-US" sz="3000" dirty="0">
                <a:solidFill>
                  <a:srgbClr val="000000"/>
                </a:solidFill>
              </a:rPr>
              <a:t>Does the frequency tag response (SSVEF) differ between words and consonant strings?</a:t>
            </a:r>
            <a:endParaRPr lang="en-US" sz="3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413E76-1076-72EA-DDB7-3AFECFFA2611}"/>
              </a:ext>
            </a:extLst>
          </p:cNvPr>
          <p:cNvSpPr/>
          <p:nvPr/>
        </p:nvSpPr>
        <p:spPr>
          <a:xfrm>
            <a:off x="7191595" y="4946696"/>
            <a:ext cx="2310960" cy="95410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sz="2800" b="1" noProof="0" dirty="0"/>
              <a:t>Visual Word Processing </a:t>
            </a:r>
            <a:r>
              <a:rPr lang="en-GB" sz="2800" b="1" baseline="30000" dirty="0"/>
              <a:t>1-4</a:t>
            </a:r>
            <a:endParaRPr lang="en-GB" sz="2800" b="1" baseline="30000" noProof="0" dirty="0"/>
          </a:p>
        </p:txBody>
      </p:sp>
      <p:sp>
        <p:nvSpPr>
          <p:cNvPr id="253" name="Results header"/>
          <p:cNvSpPr txBox="1"/>
          <p:nvPr/>
        </p:nvSpPr>
        <p:spPr>
          <a:xfrm>
            <a:off x="24794061" y="3414304"/>
            <a:ext cx="2463095" cy="90486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5400" b="1" dirty="0">
                <a:solidFill>
                  <a:srgbClr val="222222"/>
                </a:solidFill>
              </a:rPr>
              <a:t>Results</a:t>
            </a:r>
            <a:r>
              <a:rPr lang="en-GB" sz="5400" b="1" dirty="0">
                <a:solidFill>
                  <a:srgbClr val="222222"/>
                </a:solidFill>
              </a:rPr>
              <a:t> </a:t>
            </a:r>
            <a:endParaRPr sz="5400" b="1" dirty="0">
              <a:solidFill>
                <a:srgbClr val="222222"/>
              </a:solidFill>
            </a:endParaRP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16FE548C-9B23-9D54-2F1E-50F3DCC94507}"/>
              </a:ext>
            </a:extLst>
          </p:cNvPr>
          <p:cNvGrpSpPr/>
          <p:nvPr/>
        </p:nvGrpSpPr>
        <p:grpSpPr>
          <a:xfrm>
            <a:off x="24794061" y="4744789"/>
            <a:ext cx="17224290" cy="5892335"/>
            <a:chOff x="25104809" y="6480935"/>
            <a:chExt cx="17224290" cy="5892335"/>
          </a:xfrm>
        </p:grpSpPr>
        <p:sp>
          <p:nvSpPr>
            <p:cNvPr id="257" name="Results 2 title"/>
            <p:cNvSpPr txBox="1"/>
            <p:nvPr/>
          </p:nvSpPr>
          <p:spPr>
            <a:xfrm>
              <a:off x="25104809" y="6480935"/>
              <a:ext cx="17224290" cy="566309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3200" b="1" dirty="0">
                  <a:solidFill>
                    <a:srgbClr val="00539B"/>
                  </a:solidFill>
                </a:rPr>
                <a:t>1 · Sensor space: the evoked response distinguishes words from(consonant string) nonwords  (Aim 1)</a:t>
              </a:r>
            </a:p>
          </p:txBody>
        </p: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51F04838-6426-F2E9-4D01-1075B08E207C}"/>
                </a:ext>
              </a:extLst>
            </p:cNvPr>
            <p:cNvGrpSpPr/>
            <p:nvPr/>
          </p:nvGrpSpPr>
          <p:grpSpPr>
            <a:xfrm>
              <a:off x="25104809" y="7125086"/>
              <a:ext cx="16413479" cy="3383280"/>
              <a:chOff x="25104809" y="7556846"/>
              <a:chExt cx="16413479" cy="3383280"/>
            </a:xfrm>
          </p:grpSpPr>
          <p:pic>
            <p:nvPicPr>
              <p:cNvPr id="260" name="Fig sensor topomaps, 4 conditions (SVG)" descr="block2_4cond_topo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3791609" y="7556846"/>
                <a:ext cx="7726679" cy="3383280"/>
              </a:xfrm>
              <a:prstGeom prst="rect">
                <a:avLst/>
              </a:prstGeom>
            </p:spPr>
          </p:pic>
          <p:pic>
            <p:nvPicPr>
              <p:cNvPr id="258" name="Fig sensor wordness topomap a (SVG)" descr="sensor_wordness_topo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5104809" y="7556846"/>
                <a:ext cx="4206240" cy="2743200"/>
              </a:xfrm>
              <a:prstGeom prst="rect">
                <a:avLst/>
              </a:prstGeom>
            </p:spPr>
          </p:pic>
          <p:pic>
            <p:nvPicPr>
              <p:cNvPr id="259" name="Fig sensor wordness GFP b (SVG)" descr="sensor_wordness_gfp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9402489" y="7556846"/>
                <a:ext cx="4206240" cy="2743200"/>
              </a:xfrm>
              <a:prstGeom prst="rect">
                <a:avLst/>
              </a:prstGeom>
            </p:spPr>
          </p:pic>
        </p:grpSp>
        <p:sp>
          <p:nvSpPr>
            <p:cNvPr id="261" name="Results 2 text"/>
            <p:cNvSpPr txBox="1"/>
            <p:nvPr/>
          </p:nvSpPr>
          <p:spPr>
            <a:xfrm>
              <a:off x="25104809" y="10463003"/>
              <a:ext cx="16413480" cy="1910267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fr-FR" sz="3000" b="1" dirty="0">
                  <a:solidFill>
                    <a:srgbClr val="222222"/>
                  </a:solidFill>
                </a:rPr>
                <a:t>Word &gt; </a:t>
              </a:r>
              <a:r>
                <a:rPr lang="fr-FR" sz="3000" b="1" dirty="0" err="1">
                  <a:solidFill>
                    <a:srgbClr val="222222"/>
                  </a:solidFill>
                </a:rPr>
                <a:t>Nonword</a:t>
              </a:r>
              <a:r>
                <a:rPr lang="fr-FR" sz="3000" b="1" dirty="0">
                  <a:solidFill>
                    <a:srgbClr val="222222"/>
                  </a:solidFill>
                </a:rPr>
                <a:t> cluster</a:t>
              </a:r>
              <a:r>
                <a:rPr lang="fr-FR" sz="3000" b="0" dirty="0">
                  <a:solidFill>
                    <a:srgbClr val="222222"/>
                  </a:solidFill>
                </a:rPr>
                <a:t> over left posterior and temporal sensors (N = 26, 84 sensors, p &lt; .001), robust to blinks, saccades and artifacts (clean epochs: dz = 1.31, 20/21 subjects). Tag × Wordness: n.s.</a:t>
              </a:r>
            </a:p>
            <a:p>
              <a:pPr>
                <a:spcAft>
                  <a:spcPts val="400"/>
                </a:spcAft>
              </a:pPr>
              <a:r>
                <a:rPr lang="fr-FR" sz="2800" dirty="0">
                  <a:solidFill>
                    <a:srgbClr val="555555"/>
                  </a:solidFill>
                </a:rPr>
                <a:t>(a) mean |t| in the cluster window (N = 26); (b) GFP of W − NW vs sign-flip noise (shaded: 95 %; dashed: FWER), exceeded at 628–764 ms; right: grand averages (N = 25) at 350 / 500 ms, ±25 ms; fixation baseline.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9F0CD50D-FE27-86FF-67E5-6A148E366C2C}"/>
              </a:ext>
            </a:extLst>
          </p:cNvPr>
          <p:cNvGrpSpPr/>
          <p:nvPr/>
        </p:nvGrpSpPr>
        <p:grpSpPr>
          <a:xfrm>
            <a:off x="24794061" y="16883328"/>
            <a:ext cx="17224291" cy="7529931"/>
            <a:chOff x="25104808" y="17676717"/>
            <a:chExt cx="17224291" cy="7529931"/>
          </a:xfrm>
        </p:grpSpPr>
        <p:sp>
          <p:nvSpPr>
            <p:cNvPr id="44" name="Results 1 title">
              <a:extLst>
                <a:ext uri="{FF2B5EF4-FFF2-40B4-BE49-F238E27FC236}">
                  <a16:creationId xmlns:a16="http://schemas.microsoft.com/office/drawing/2014/main" id="{0FA8B39C-142B-C746-E9DD-0574C56A7479}"/>
                </a:ext>
              </a:extLst>
            </p:cNvPr>
            <p:cNvSpPr txBox="1"/>
            <p:nvPr/>
          </p:nvSpPr>
          <p:spPr>
            <a:xfrm>
              <a:off x="25104809" y="17676717"/>
              <a:ext cx="17083220" cy="566309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3200" b="1" dirty="0">
                  <a:solidFill>
                    <a:srgbClr val="00539B"/>
                  </a:solidFill>
                </a:rPr>
                <a:t>3 · The </a:t>
              </a:r>
              <a:r>
                <a:rPr lang="en-GB" sz="3200" b="1" dirty="0">
                  <a:solidFill>
                    <a:srgbClr val="00539B"/>
                  </a:solidFill>
                </a:rPr>
                <a:t>frequency </a:t>
              </a:r>
              <a:r>
                <a:rPr sz="3200" b="1" dirty="0">
                  <a:solidFill>
                    <a:srgbClr val="00539B"/>
                  </a:solidFill>
                </a:rPr>
                <a:t>tag</a:t>
              </a:r>
              <a:r>
                <a:rPr lang="en-GB" sz="3200" b="1" dirty="0">
                  <a:solidFill>
                    <a:srgbClr val="00539B"/>
                  </a:solidFill>
                </a:rPr>
                <a:t>ging response fails to distinguish words from nonwords</a:t>
              </a:r>
              <a:r>
                <a:rPr sz="3200" b="1" dirty="0">
                  <a:solidFill>
                    <a:srgbClr val="00539B"/>
                  </a:solidFill>
                </a:rPr>
                <a:t>  (Aim 2)</a:t>
              </a:r>
            </a:p>
          </p:txBody>
        </p:sp>
        <p:sp>
          <p:nvSpPr>
            <p:cNvPr id="256" name="Results 1 text"/>
            <p:cNvSpPr txBox="1"/>
            <p:nvPr/>
          </p:nvSpPr>
          <p:spPr>
            <a:xfrm>
              <a:off x="25104808" y="22880883"/>
              <a:ext cx="17224291" cy="2325765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2900" b="1" dirty="0">
                  <a:solidFill>
                    <a:srgbClr val="7B3FA0"/>
                  </a:solidFill>
                </a:rPr>
                <a:t>Tag</a:t>
              </a:r>
              <a:r>
                <a:rPr sz="2900" b="0" dirty="0">
                  <a:solidFill>
                    <a:srgbClr val="222222"/>
                  </a:solidFill>
                </a:rPr>
                <a:t> (harmonics 1–4): occipital Nonwords &gt; Words (dz = −.88, p &lt; .001), following their larger letter area on screen; left-temporal Words ≈ Nonwords (|dz| &lt; .5, TOST p = .03, BF01 = 4.2). </a:t>
              </a:r>
              <a:r>
                <a:rPr sz="2900" b="1" dirty="0">
                  <a:solidFill>
                    <a:srgbClr val="2A9D8F"/>
                  </a:solidFill>
                </a:rPr>
                <a:t>Evoked</a:t>
              </a:r>
              <a:r>
                <a:rPr sz="2900" b="0" dirty="0">
                  <a:solidFill>
                    <a:srgbClr val="222222"/>
                  </a:solidFill>
                </a:rPr>
                <a:t> 250–600 ms, the reverse: left-temporal W &gt; NW (dz = 1.04, p &lt; .001), occipital n.s.</a:t>
              </a:r>
            </a:p>
            <a:p>
              <a:pPr>
                <a:spcAft>
                  <a:spcPts val="400"/>
                </a:spcAft>
              </a:pPr>
              <a:r>
                <a:rPr sz="2800" b="0" dirty="0">
                  <a:solidFill>
                    <a:srgbClr val="555555"/>
                  </a:solidFill>
                </a:rPr>
                <a:t>N = 20 (sensor cohort), same epochs for both measures; per-word SNR, 2.83 s FFT, 3 neighbours/side; diamonds = mean ± 95 % CI; Tag × Wordness n.s.</a:t>
              </a:r>
            </a:p>
          </p:txBody>
        </p:sp>
      </p:grpSp>
      <p:sp>
        <p:nvSpPr>
          <p:cNvPr id="9" name="Pitfalls we hit">
            <a:extLst>
              <a:ext uri="{FF2B5EF4-FFF2-40B4-BE49-F238E27FC236}">
                <a16:creationId xmlns:a16="http://schemas.microsoft.com/office/drawing/2014/main" id="{E22D39AE-0BCC-6307-03E4-8C5E8DEA47F0}"/>
              </a:ext>
            </a:extLst>
          </p:cNvPr>
          <p:cNvSpPr/>
          <p:nvPr/>
        </p:nvSpPr>
        <p:spPr>
          <a:xfrm>
            <a:off x="18645004" y="21251572"/>
            <a:ext cx="4381500" cy="6232119"/>
          </a:xfrm>
          <a:prstGeom prst="roundRect">
            <a:avLst>
              <a:gd name="adj" fmla="val 4000"/>
            </a:avLst>
          </a:prstGeom>
          <a:solidFill>
            <a:srgbClr val="FBF7EE"/>
          </a:solidFill>
          <a:ln w="25400">
            <a:solidFill>
              <a:srgbClr val="C8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45720" rtlCol="0" anchor="t"/>
          <a:lstStyle/>
          <a:p>
            <a:pPr>
              <a:spcAft>
                <a:spcPts val="600"/>
              </a:spcAft>
            </a:pPr>
            <a:r>
              <a:rPr lang="en-GB" sz="3200" b="1" dirty="0">
                <a:solidFill>
                  <a:srgbClr val="A06200"/>
                </a:solidFill>
              </a:rPr>
              <a:t>Notes</a:t>
            </a:r>
          </a:p>
          <a:p>
            <a:pPr marL="180975" indent="-180975" algn="l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chemeClr val="tx1"/>
                </a:solidFill>
                <a:effectLst/>
                <a:latin typeface="-apple-system"/>
              </a:rPr>
              <a:t>Tags off by one FFT bin. 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-apple-system"/>
              </a:rPr>
              <a:t>The display ran ~0.5 % slow (</a:t>
            </a:r>
            <a:r>
              <a:rPr lang="en-GB" sz="2800" dirty="0">
                <a:solidFill>
                  <a:schemeClr val="tx1"/>
                </a:solidFill>
                <a:latin typeface="-apple-system"/>
              </a:rPr>
              <a:t>photodiode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-apple-system"/>
              </a:rPr>
              <a:t>: 5.965 / 7.024 Hz): read the SNR at the measured bin.</a:t>
            </a:r>
          </a:p>
          <a:p>
            <a:pPr marL="180975" indent="-180975" algn="l">
              <a:buFont typeface="Arial" panose="020B0604020202020204" pitchFamily="34" charset="0"/>
              <a:buChar char="•"/>
            </a:pPr>
            <a:endParaRPr lang="en-GB" sz="2800" b="0" i="0" dirty="0">
              <a:solidFill>
                <a:schemeClr val="tx1"/>
              </a:solidFill>
              <a:effectLst/>
              <a:latin typeface="-apple-system"/>
            </a:endParaRPr>
          </a:p>
          <a:p>
            <a:pPr marL="180975" indent="-180975" algn="l">
              <a:buFont typeface="Arial" panose="020B0604020202020204" pitchFamily="34" charset="0"/>
              <a:buChar char="•"/>
            </a:pPr>
            <a:r>
              <a:rPr lang="fr-FR" sz="2800" b="1" i="0" dirty="0">
                <a:solidFill>
                  <a:schemeClr val="tx1"/>
                </a:solidFill>
                <a:effectLst/>
                <a:latin typeface="-apple-system"/>
              </a:rPr>
              <a:t>No gap between words. </a:t>
            </a:r>
            <a:r>
              <a:rPr lang="fr-FR" sz="2800" b="0" i="0" dirty="0">
                <a:solidFill>
                  <a:schemeClr val="tx1"/>
                </a:solidFill>
                <a:effectLst/>
                <a:latin typeface="-apple-system"/>
              </a:rPr>
              <a:t>The pre-stimulus </a:t>
            </a:r>
            <a:r>
              <a:rPr lang="fr-FR" sz="2800" b="0" i="0" dirty="0" err="1">
                <a:solidFill>
                  <a:schemeClr val="tx1"/>
                </a:solidFill>
                <a:effectLst/>
                <a:latin typeface="-apple-system"/>
              </a:rPr>
              <a:t>window</a:t>
            </a:r>
            <a:r>
              <a:rPr lang="fr-FR" sz="2800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fr-FR" sz="2800" b="0" i="0" dirty="0" err="1">
                <a:solidFill>
                  <a:schemeClr val="tx1"/>
                </a:solidFill>
                <a:effectLst/>
                <a:latin typeface="-apple-system"/>
              </a:rPr>
              <a:t>contains</a:t>
            </a:r>
            <a:r>
              <a:rPr lang="fr-FR" sz="2800" b="0" i="0" dirty="0">
                <a:solidFill>
                  <a:schemeClr val="tx1"/>
                </a:solidFill>
                <a:effectLst/>
                <a:latin typeface="-apple-system"/>
              </a:rPr>
              <a:t> the previous word: </a:t>
            </a:r>
            <a:r>
              <a:rPr lang="fr-FR" sz="2800" b="0" i="0" dirty="0" err="1">
                <a:solidFill>
                  <a:schemeClr val="tx1"/>
                </a:solidFill>
                <a:effectLst/>
                <a:latin typeface="-apple-system"/>
              </a:rPr>
              <a:t>baseline</a:t>
            </a:r>
            <a:r>
              <a:rPr lang="fr-FR" sz="2800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fr-FR" sz="2800" b="0" i="0" dirty="0" err="1">
                <a:solidFill>
                  <a:schemeClr val="tx1"/>
                </a:solidFill>
                <a:effectLst/>
                <a:latin typeface="-apple-system"/>
              </a:rPr>
              <a:t>during</a:t>
            </a:r>
            <a:r>
              <a:rPr lang="fr-FR" sz="2800" b="0" i="0" dirty="0">
                <a:solidFill>
                  <a:schemeClr val="tx1"/>
                </a:solidFill>
                <a:effectLst/>
                <a:latin typeface="-apple-system"/>
              </a:rPr>
              <a:t> fixation </a:t>
            </a:r>
            <a:r>
              <a:rPr lang="fr-FR" sz="2800" b="0" i="0" dirty="0" err="1">
                <a:solidFill>
                  <a:schemeClr val="tx1"/>
                </a:solidFill>
                <a:effectLst/>
                <a:latin typeface="-apple-system"/>
              </a:rPr>
              <a:t>instead</a:t>
            </a:r>
            <a:r>
              <a:rPr lang="fr-FR" sz="2800" b="0" i="0" dirty="0">
                <a:solidFill>
                  <a:schemeClr val="tx1"/>
                </a:solidFill>
                <a:effectLst/>
                <a:latin typeface="-apple-system"/>
              </a:rPr>
              <a:t>.</a:t>
            </a:r>
          </a:p>
        </p:txBody>
      </p: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B4CDADF2-36C4-0637-CB3B-8D57D381A98F}"/>
              </a:ext>
            </a:extLst>
          </p:cNvPr>
          <p:cNvGrpSpPr>
            <a:grpSpLocks noChangeAspect="1"/>
          </p:cNvGrpSpPr>
          <p:nvPr/>
        </p:nvGrpSpPr>
        <p:grpSpPr>
          <a:xfrm>
            <a:off x="7178607" y="17613071"/>
            <a:ext cx="16907621" cy="3242947"/>
            <a:chOff x="8430768" y="28876752"/>
            <a:chExt cx="15416784" cy="1280160"/>
          </a:xfrm>
        </p:grpSpPr>
        <p:sp>
          <p:nvSpPr>
            <p:cNvPr id="37" name="Preprocessing box">
              <a:extLst>
                <a:ext uri="{FF2B5EF4-FFF2-40B4-BE49-F238E27FC236}">
                  <a16:creationId xmlns:a16="http://schemas.microsoft.com/office/drawing/2014/main" id="{5455BAE8-ADEA-89A7-1740-20B817A4721B}"/>
                </a:ext>
              </a:extLst>
            </p:cNvPr>
            <p:cNvSpPr/>
            <p:nvPr/>
          </p:nvSpPr>
          <p:spPr>
            <a:xfrm>
              <a:off x="8430768" y="28876752"/>
              <a:ext cx="15416784" cy="1280160"/>
            </a:xfrm>
            <a:prstGeom prst="roundRect">
              <a:avLst>
                <a:gd name="adj" fmla="val 12000"/>
              </a:avLst>
            </a:prstGeom>
            <a:solidFill>
              <a:srgbClr val="FBEBEA"/>
            </a:solidFill>
            <a:ln w="1905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1" name="Preprocessing header">
              <a:extLst>
                <a:ext uri="{FF2B5EF4-FFF2-40B4-BE49-F238E27FC236}">
                  <a16:creationId xmlns:a16="http://schemas.microsoft.com/office/drawing/2014/main" id="{896D1A1C-5857-06C1-2425-D201B4F50C55}"/>
                </a:ext>
              </a:extLst>
            </p:cNvPr>
            <p:cNvSpPr txBox="1"/>
            <p:nvPr/>
          </p:nvSpPr>
          <p:spPr>
            <a:xfrm>
              <a:off x="8595360" y="28913328"/>
              <a:ext cx="15087600" cy="345318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2800" b="1" dirty="0">
                  <a:solidFill>
                    <a:srgbClr val="C0392B"/>
                  </a:solidFill>
                </a:rPr>
                <a:t>PREPROCESSING</a:t>
              </a:r>
              <a:r>
                <a:rPr sz="2400" b="0" dirty="0">
                  <a:solidFill>
                    <a:srgbClr val="C0392B"/>
                  </a:solidFill>
                </a:rPr>
                <a:t>   all subjects · no ICA · MNE-BIDS-Pipeline</a:t>
              </a:r>
              <a:r>
                <a:rPr lang="fr-CH" sz="2400" b="0" dirty="0">
                  <a:solidFill>
                    <a:srgbClr val="C0392B"/>
                  </a:solidFill>
                </a:rPr>
                <a:t> </a:t>
              </a:r>
              <a:r>
                <a:rPr lang="fr-CH" sz="2000" b="0" dirty="0">
                  <a:solidFill>
                    <a:srgbClr val="C0392B"/>
                  </a:solidFill>
                </a:rPr>
                <a:t>(MNE-Python 1.10.2  |  MNE-BIDS-Pipeline 1.10.1  |  </a:t>
              </a:r>
              <a:r>
                <a:rPr lang="fr-CH" sz="2000" b="0" dirty="0" err="1">
                  <a:solidFill>
                    <a:srgbClr val="C0392B"/>
                  </a:solidFill>
                </a:rPr>
                <a:t>FreeSurfer</a:t>
              </a:r>
              <a:r>
                <a:rPr lang="fr-CH" sz="2000" b="0" dirty="0">
                  <a:solidFill>
                    <a:srgbClr val="C0392B"/>
                  </a:solidFill>
                </a:rPr>
                <a:t> 7.1.2)</a:t>
              </a:r>
              <a:endParaRPr lang="fr-CH" sz="2400" b="0" dirty="0">
                <a:solidFill>
                  <a:srgbClr val="C0392B"/>
                </a:solidFill>
              </a:endParaRPr>
            </a:p>
          </p:txBody>
        </p:sp>
        <p:sp>
          <p:nvSpPr>
            <p:cNvPr id="45" name="Preprocessing step 1">
              <a:extLst>
                <a:ext uri="{FF2B5EF4-FFF2-40B4-BE49-F238E27FC236}">
                  <a16:creationId xmlns:a16="http://schemas.microsoft.com/office/drawing/2014/main" id="{0293C036-030E-3F7A-E025-08917F4F0FD7}"/>
                </a:ext>
              </a:extLst>
            </p:cNvPr>
            <p:cNvSpPr/>
            <p:nvPr/>
          </p:nvSpPr>
          <p:spPr>
            <a:xfrm>
              <a:off x="8549639" y="29288232"/>
              <a:ext cx="3208422" cy="786384"/>
            </a:xfrm>
            <a:prstGeom prst="homePlate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2800" b="1" dirty="0" err="1">
                  <a:solidFill>
                    <a:srgbClr val="C0392B"/>
                  </a:solidFill>
                </a:rPr>
                <a:t>Maxfilter</a:t>
              </a:r>
              <a:endParaRPr sz="2800" b="1" dirty="0">
                <a:solidFill>
                  <a:srgbClr val="C0392B"/>
                </a:solidFill>
              </a:endParaRPr>
            </a:p>
            <a:p>
              <a:pPr algn="ctr"/>
              <a:r>
                <a:rPr sz="2800" b="0" dirty="0">
                  <a:solidFill>
                    <a:srgbClr val="222222"/>
                  </a:solidFill>
                </a:rPr>
                <a:t>fine-</a:t>
              </a:r>
              <a:r>
                <a:rPr sz="2800" b="0" dirty="0" err="1">
                  <a:solidFill>
                    <a:srgbClr val="222222"/>
                  </a:solidFill>
                </a:rPr>
                <a:t>cal</a:t>
              </a:r>
              <a:r>
                <a:rPr sz="2800" b="0" dirty="0">
                  <a:solidFill>
                    <a:srgbClr val="222222"/>
                  </a:solidFill>
                </a:rPr>
                <a:t> + cross-talk, SSS order 8, movement comp.</a:t>
              </a:r>
            </a:p>
          </p:txBody>
        </p:sp>
        <p:sp>
          <p:nvSpPr>
            <p:cNvPr id="49" name="Preprocessing step 2">
              <a:extLst>
                <a:ext uri="{FF2B5EF4-FFF2-40B4-BE49-F238E27FC236}">
                  <a16:creationId xmlns:a16="http://schemas.microsoft.com/office/drawing/2014/main" id="{16367D77-65A7-057C-FDF9-25E6EE9EDB95}"/>
                </a:ext>
              </a:extLst>
            </p:cNvPr>
            <p:cNvSpPr/>
            <p:nvPr/>
          </p:nvSpPr>
          <p:spPr>
            <a:xfrm>
              <a:off x="11208226" y="29288232"/>
              <a:ext cx="3531868" cy="786384"/>
            </a:xfrm>
            <a:prstGeom prst="chevron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2800" b="1" dirty="0">
                  <a:solidFill>
                    <a:srgbClr val="C0392B"/>
                  </a:solidFill>
                </a:rPr>
                <a:t>Filter</a:t>
              </a:r>
            </a:p>
            <a:p>
              <a:pPr algn="ctr"/>
              <a:r>
                <a:rPr sz="2800" b="0" dirty="0">
                  <a:solidFill>
                    <a:srgbClr val="222222"/>
                  </a:solidFill>
                </a:rPr>
                <a:t>notch 50/100Hz · band-pass 0.1–120Hz (evoked: 40Hz low-pass)</a:t>
              </a:r>
            </a:p>
          </p:txBody>
        </p:sp>
        <p:sp>
          <p:nvSpPr>
            <p:cNvPr id="51" name="Preprocessing step 3">
              <a:extLst>
                <a:ext uri="{FF2B5EF4-FFF2-40B4-BE49-F238E27FC236}">
                  <a16:creationId xmlns:a16="http://schemas.microsoft.com/office/drawing/2014/main" id="{01236F5D-5AE6-2657-4D41-573108CFD8B9}"/>
                </a:ext>
              </a:extLst>
            </p:cNvPr>
            <p:cNvSpPr/>
            <p:nvPr/>
          </p:nvSpPr>
          <p:spPr>
            <a:xfrm>
              <a:off x="14113802" y="29288232"/>
              <a:ext cx="2494265" cy="786384"/>
            </a:xfrm>
            <a:prstGeom prst="chevron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2800" b="1" dirty="0">
                  <a:solidFill>
                    <a:srgbClr val="C0392B"/>
                  </a:solidFill>
                </a:rPr>
                <a:t>Resample</a:t>
              </a:r>
            </a:p>
            <a:p>
              <a:pPr algn="ctr"/>
              <a:r>
                <a:rPr sz="2800" b="0" dirty="0">
                  <a:solidFill>
                    <a:srgbClr val="222222"/>
                  </a:solidFill>
                </a:rPr>
                <a:t>1 kHz</a:t>
              </a:r>
            </a:p>
          </p:txBody>
        </p:sp>
        <p:sp>
          <p:nvSpPr>
            <p:cNvPr id="53" name="Preprocessing step 4">
              <a:extLst>
                <a:ext uri="{FF2B5EF4-FFF2-40B4-BE49-F238E27FC236}">
                  <a16:creationId xmlns:a16="http://schemas.microsoft.com/office/drawing/2014/main" id="{3E4B8D30-33ED-5146-EEDA-7E23C5B4EFFA}"/>
                </a:ext>
              </a:extLst>
            </p:cNvPr>
            <p:cNvSpPr/>
            <p:nvPr/>
          </p:nvSpPr>
          <p:spPr>
            <a:xfrm>
              <a:off x="16182428" y="29288232"/>
              <a:ext cx="2816233" cy="786384"/>
            </a:xfrm>
            <a:prstGeom prst="chevron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2800" b="1" dirty="0">
                  <a:solidFill>
                    <a:srgbClr val="C0392B"/>
                  </a:solidFill>
                </a:rPr>
                <a:t>Epochs</a:t>
              </a:r>
            </a:p>
            <a:p>
              <a:pPr algn="ctr"/>
              <a:r>
                <a:rPr sz="2800" b="0" dirty="0">
                  <a:solidFill>
                    <a:srgbClr val="222222"/>
                  </a:solidFill>
                </a:rPr>
                <a:t>mini-block 28.33s  word −0.2–1s</a:t>
              </a:r>
            </a:p>
          </p:txBody>
        </p:sp>
        <p:sp>
          <p:nvSpPr>
            <p:cNvPr id="55" name="Preprocessing step 5">
              <a:extLst>
                <a:ext uri="{FF2B5EF4-FFF2-40B4-BE49-F238E27FC236}">
                  <a16:creationId xmlns:a16="http://schemas.microsoft.com/office/drawing/2014/main" id="{19D759CA-8272-3895-CB02-5403EC23B985}"/>
                </a:ext>
              </a:extLst>
            </p:cNvPr>
            <p:cNvSpPr/>
            <p:nvPr/>
          </p:nvSpPr>
          <p:spPr>
            <a:xfrm>
              <a:off x="18518009" y="29288232"/>
              <a:ext cx="2509180" cy="786384"/>
            </a:xfrm>
            <a:prstGeom prst="chevron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2800" b="1" dirty="0">
                  <a:solidFill>
                    <a:srgbClr val="C0392B"/>
                  </a:solidFill>
                </a:rPr>
                <a:t>Baseline</a:t>
              </a:r>
            </a:p>
            <a:p>
              <a:pPr algn="ctr"/>
              <a:r>
                <a:rPr sz="2800" b="0" dirty="0">
                  <a:solidFill>
                    <a:srgbClr val="222222"/>
                  </a:solidFill>
                </a:rPr>
                <a:t>fixation (flicker-free rest)</a:t>
              </a:r>
            </a:p>
          </p:txBody>
        </p:sp>
        <p:sp>
          <p:nvSpPr>
            <p:cNvPr id="57" name="Preprocessing step 6">
              <a:extLst>
                <a:ext uri="{FF2B5EF4-FFF2-40B4-BE49-F238E27FC236}">
                  <a16:creationId xmlns:a16="http://schemas.microsoft.com/office/drawing/2014/main" id="{0CA298C3-FFFF-EAB2-7AD7-85DDC102C2F0}"/>
                </a:ext>
              </a:extLst>
            </p:cNvPr>
            <p:cNvSpPr/>
            <p:nvPr/>
          </p:nvSpPr>
          <p:spPr>
            <a:xfrm>
              <a:off x="20506055" y="29288232"/>
              <a:ext cx="3220889" cy="786384"/>
            </a:xfrm>
            <a:prstGeom prst="chevron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2800" b="1" dirty="0">
                  <a:solidFill>
                    <a:srgbClr val="C0392B"/>
                  </a:solidFill>
                </a:rPr>
                <a:t>Rejection</a:t>
              </a:r>
            </a:p>
            <a:p>
              <a:pPr algn="ctr"/>
              <a:r>
                <a:rPr sz="2800" b="0" dirty="0">
                  <a:solidFill>
                    <a:srgbClr val="222222"/>
                  </a:solidFill>
                </a:rPr>
                <a:t>PTP mag 4000 </a:t>
              </a:r>
              <a:r>
                <a:rPr sz="2800" b="0" dirty="0" err="1">
                  <a:solidFill>
                    <a:srgbClr val="222222"/>
                  </a:solidFill>
                </a:rPr>
                <a:t>fT</a:t>
              </a:r>
              <a:r>
                <a:rPr sz="2800" b="0" dirty="0">
                  <a:solidFill>
                    <a:srgbClr val="222222"/>
                  </a:solidFill>
                </a:rPr>
                <a:t> · grad 4000 </a:t>
              </a:r>
              <a:r>
                <a:rPr sz="2800" b="0" dirty="0" err="1">
                  <a:solidFill>
                    <a:srgbClr val="222222"/>
                  </a:solidFill>
                </a:rPr>
                <a:t>fT</a:t>
              </a:r>
              <a:r>
                <a:rPr sz="2800" b="0" dirty="0">
                  <a:solidFill>
                    <a:srgbClr val="222222"/>
                  </a:solidFill>
                </a:rPr>
                <a:t>/cm → equal trials</a:t>
              </a:r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A658540C-4727-682A-5EB9-2ED59199FC20}"/>
              </a:ext>
            </a:extLst>
          </p:cNvPr>
          <p:cNvGrpSpPr/>
          <p:nvPr/>
        </p:nvGrpSpPr>
        <p:grpSpPr>
          <a:xfrm>
            <a:off x="24794061" y="11062746"/>
            <a:ext cx="17039591" cy="5394960"/>
            <a:chOff x="25059089" y="12264056"/>
            <a:chExt cx="17039591" cy="5394960"/>
          </a:xfrm>
        </p:grpSpPr>
        <p:sp>
          <p:nvSpPr>
            <p:cNvPr id="262" name="Results 3 title"/>
            <p:cNvSpPr txBox="1"/>
            <p:nvPr/>
          </p:nvSpPr>
          <p:spPr>
            <a:xfrm>
              <a:off x="25104809" y="12264056"/>
              <a:ext cx="16413480" cy="566309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3200" b="1" dirty="0">
                  <a:solidFill>
                    <a:srgbClr val="00539B"/>
                  </a:solidFill>
                </a:rPr>
                <a:t>2 · Source space: Word &gt; Nonword, maximal and sustained in anterior temporal cortex  (Aim 1)</a:t>
              </a:r>
            </a:p>
          </p:txBody>
        </p:sp>
        <p:grpSp>
          <p:nvGrpSpPr>
            <p:cNvPr id="318" name="Group 317">
              <a:extLst>
                <a:ext uri="{FF2B5EF4-FFF2-40B4-BE49-F238E27FC236}">
                  <a16:creationId xmlns:a16="http://schemas.microsoft.com/office/drawing/2014/main" id="{B2C3F9A8-CBB5-5E8F-8719-2C3012129DD4}"/>
                </a:ext>
              </a:extLst>
            </p:cNvPr>
            <p:cNvGrpSpPr/>
            <p:nvPr/>
          </p:nvGrpSpPr>
          <p:grpSpPr>
            <a:xfrm>
              <a:off x="25059089" y="12753058"/>
              <a:ext cx="17039591" cy="4905958"/>
              <a:chOff x="25059089" y="12753058"/>
              <a:chExt cx="17039591" cy="4905958"/>
            </a:xfrm>
          </p:grpSpPr>
          <p:pic>
            <p:nvPicPr>
              <p:cNvPr id="245" name="Fig block 3 gradient forest + brain (SVG)" descr="block3_brain.png">
                <a:extLst>
                  <a:ext uri="{FF2B5EF4-FFF2-40B4-BE49-F238E27FC236}">
                    <a16:creationId xmlns:a16="http://schemas.microsoft.com/office/drawing/2014/main" id="{30E2A7A2-E2F4-073A-CD37-B41BA70638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5059089" y="12982602"/>
                <a:ext cx="11521440" cy="4446871"/>
              </a:xfrm>
              <a:prstGeom prst="rect">
                <a:avLst/>
              </a:prstGeom>
            </p:spPr>
          </p:pic>
          <p:sp>
            <p:nvSpPr>
              <p:cNvPr id="247" name="Results 3 text">
                <a:extLst>
                  <a:ext uri="{FF2B5EF4-FFF2-40B4-BE49-F238E27FC236}">
                    <a16:creationId xmlns:a16="http://schemas.microsoft.com/office/drawing/2014/main" id="{F02A82F4-3505-6407-1FA1-14D986FA5426}"/>
                  </a:ext>
                </a:extLst>
              </p:cNvPr>
              <p:cNvSpPr txBox="1"/>
              <p:nvPr/>
            </p:nvSpPr>
            <p:spPr>
              <a:xfrm>
                <a:off x="36336456" y="12753058"/>
                <a:ext cx="5762224" cy="4905958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>
                <a:spAutoFit/>
              </a:bodyPr>
              <a:lstStyle/>
              <a:p>
                <a:pPr>
                  <a:spcAft>
                    <a:spcPts val="400"/>
                  </a:spcAft>
                </a:pPr>
                <a:r>
                  <a:rPr sz="2800" b="1" dirty="0">
                    <a:solidFill>
                      <a:srgbClr val="222222"/>
                    </a:solidFill>
                  </a:rPr>
                  <a:t>Ventral stream</a:t>
                </a:r>
                <a:r>
                  <a:rPr sz="2800" b="0" dirty="0">
                    <a:solidFill>
                      <a:srgbClr val="222222"/>
                    </a:solidFill>
                  </a:rPr>
                  <a:t>: no whole-epoch effect after FDR (FFC / VWFA dz = .34 / .45).</a:t>
                </a:r>
              </a:p>
              <a:p>
                <a:pPr>
                  <a:spcAft>
                    <a:spcPts val="400"/>
                  </a:spcAft>
                </a:pPr>
                <a:r>
                  <a:rPr sz="2800" b="1" dirty="0">
                    <a:solidFill>
                      <a:srgbClr val="222222"/>
                    </a:solidFill>
                  </a:rPr>
                  <a:t>Temporal cortex</a:t>
                </a:r>
                <a:r>
                  <a:rPr sz="2800" b="0" dirty="0">
                    <a:solidFill>
                      <a:srgbClr val="222222"/>
                    </a:solidFill>
                  </a:rPr>
                  <a:t>: Word &gt; Nonword in all 6 ROIs, maximal anteriorly (slope t(21) = 4.81, p &lt; .001).</a:t>
                </a:r>
              </a:p>
              <a:p>
                <a:pPr>
                  <a:spcAft>
                    <a:spcPts val="400"/>
                  </a:spcAft>
                </a:pPr>
                <a:r>
                  <a:rPr sz="2800" b="1" dirty="0">
                    <a:solidFill>
                      <a:srgbClr val="222222"/>
                    </a:solidFill>
                  </a:rPr>
                  <a:t>Anterior part sustained</a:t>
                </a:r>
                <a:r>
                  <a:rPr sz="2800" b="0" dirty="0">
                    <a:solidFill>
                      <a:srgbClr val="222222"/>
                    </a:solidFill>
                  </a:rPr>
                  <a:t>: present before word onset (consistent with a block-level state).</a:t>
                </a:r>
              </a:p>
              <a:p>
                <a:pPr>
                  <a:spcAft>
                    <a:spcPts val="400"/>
                  </a:spcAft>
                </a:pPr>
                <a:r>
                  <a:rPr sz="2000" b="0" dirty="0">
                    <a:solidFill>
                      <a:srgbClr val="555555"/>
                    </a:solidFill>
                  </a:rPr>
                  <a:t>(a) log(Word / Nonword) over the word epoch, 95 % CI, * p_FDR &lt; .05; (b) same effect (dz), fsaverage (V1 medial). N = 22, dSPM, equal counts, fixation baseline. Leakage, late vOT effect: QR.</a:t>
                </a:r>
              </a:p>
            </p:txBody>
          </p:sp>
        </p:grpSp>
      </p:grpSp>
      <p:sp>
        <p:nvSpPr>
          <p:cNvPr id="270" name="Cohort line"/>
          <p:cNvSpPr txBox="1"/>
          <p:nvPr/>
        </p:nvSpPr>
        <p:spPr>
          <a:xfrm>
            <a:off x="7178607" y="28066388"/>
            <a:ext cx="13657147" cy="7407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400"/>
              </a:spcAft>
            </a:pPr>
            <a:r>
              <a:rPr sz="2000" b="1" dirty="0">
                <a:solidFill>
                  <a:srgbClr val="222222"/>
                </a:solidFill>
              </a:rPr>
              <a:t>Cohort  </a:t>
            </a:r>
            <a:r>
              <a:rPr sz="2000" b="0" dirty="0">
                <a:solidFill>
                  <a:srgbClr val="222222"/>
                </a:solidFill>
              </a:rPr>
              <a:t>30 recorded; each panel states </a:t>
            </a:r>
            <a:r>
              <a:rPr lang="en-US" sz="2000" dirty="0">
                <a:solidFill>
                  <a:srgbClr val="222222"/>
                </a:solidFill>
              </a:rPr>
              <a:t># participants entered in the analysis .</a:t>
            </a:r>
            <a:r>
              <a:rPr sz="2000" b="0" dirty="0">
                <a:solidFill>
                  <a:srgbClr val="222222"/>
                </a:solidFill>
              </a:rPr>
              <a:t> Excluded:</a:t>
            </a:r>
            <a:r>
              <a:rPr lang="en-US" sz="2000" dirty="0">
                <a:solidFill>
                  <a:srgbClr val="222222"/>
                </a:solidFill>
              </a:rPr>
              <a:t> </a:t>
            </a:r>
            <a:r>
              <a:rPr lang="en-GB" sz="2000" dirty="0">
                <a:solidFill>
                  <a:srgbClr val="222222"/>
                </a:solidFill>
              </a:rPr>
              <a:t>see the l</a:t>
            </a:r>
            <a:r>
              <a:rPr sz="2000" b="0" dirty="0" err="1">
                <a:solidFill>
                  <a:srgbClr val="222222"/>
                </a:solidFill>
              </a:rPr>
              <a:t>ist</a:t>
            </a:r>
            <a:r>
              <a:rPr sz="2000" b="0" dirty="0">
                <a:solidFill>
                  <a:srgbClr val="222222"/>
                </a:solidFill>
              </a:rPr>
              <a:t> via QR.</a:t>
            </a:r>
          </a:p>
          <a:p>
            <a:pPr>
              <a:spcAft>
                <a:spcPts val="400"/>
              </a:spcAft>
            </a:pPr>
            <a:r>
              <a:rPr sz="2000" b="1" dirty="0">
                <a:solidFill>
                  <a:srgbClr val="222222"/>
                </a:solidFill>
              </a:rPr>
              <a:t>A priori  </a:t>
            </a:r>
            <a:r>
              <a:rPr sz="2000" b="0" dirty="0">
                <a:solidFill>
                  <a:srgbClr val="555555"/>
                </a:solidFill>
              </a:rPr>
              <a:t>Word vs Nonword at the tag and in the evoked cascade windows (80–130, 150–225, 250–600 </a:t>
            </a:r>
            <a:r>
              <a:rPr sz="2000" b="0" dirty="0" err="1">
                <a:solidFill>
                  <a:srgbClr val="555555"/>
                </a:solidFill>
              </a:rPr>
              <a:t>ms</a:t>
            </a:r>
            <a:r>
              <a:rPr sz="2000" b="0" dirty="0">
                <a:solidFill>
                  <a:srgbClr val="555555"/>
                </a:solidFill>
              </a:rPr>
              <a:t>), left-temporal sensors. </a:t>
            </a:r>
            <a:endParaRPr sz="2000" b="0" dirty="0">
              <a:solidFill>
                <a:srgbClr val="555555"/>
              </a:solidFill>
              <a:ea typeface="Calibri"/>
              <a:cs typeface="Calibri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B5A9B94-296F-1576-78C8-6E00F6F52864}"/>
              </a:ext>
            </a:extLst>
          </p:cNvPr>
          <p:cNvGrpSpPr/>
          <p:nvPr/>
        </p:nvGrpSpPr>
        <p:grpSpPr>
          <a:xfrm>
            <a:off x="1546182" y="18792745"/>
            <a:ext cx="3749040" cy="3508410"/>
            <a:chOff x="1469082" y="18805000"/>
            <a:chExt cx="3749040" cy="3508410"/>
          </a:xfrm>
        </p:grpSpPr>
        <p:sp>
          <p:nvSpPr>
            <p:cNvPr id="15" name="QR code placeholder (replace with your QR image)">
              <a:extLst>
                <a:ext uri="{FF2B5EF4-FFF2-40B4-BE49-F238E27FC236}">
                  <a16:creationId xmlns:a16="http://schemas.microsoft.com/office/drawing/2014/main" id="{887F999D-8F55-4E3A-BBD5-7123D726FF9B}"/>
                </a:ext>
              </a:extLst>
            </p:cNvPr>
            <p:cNvSpPr/>
            <p:nvPr/>
          </p:nvSpPr>
          <p:spPr>
            <a:xfrm>
              <a:off x="1469082" y="18805000"/>
              <a:ext cx="3749040" cy="3508410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bIns="73152" rtlCol="0" anchor="b"/>
            <a:lstStyle/>
            <a:p>
              <a:pPr algn="ctr"/>
              <a:r>
                <a:rPr sz="1600" b="1" dirty="0">
                  <a:solidFill>
                    <a:srgbClr val="555555"/>
                  </a:solidFill>
                </a:rPr>
                <a:t>Code · supplementary figures S1–S4 · cohort</a:t>
              </a:r>
            </a:p>
            <a:p>
              <a:pPr algn="ctr"/>
              <a:r>
                <a:rPr sz="1300" b="0" dirty="0">
                  <a:solidFill>
                    <a:srgbClr val="555555"/>
                  </a:solidFill>
                </a:rPr>
                <a:t>github.com/Orion212-lab/snl2026-ft-word-pathway</a:t>
              </a:r>
            </a:p>
          </p:txBody>
        </p:sp>
        <p:pic>
          <p:nvPicPr>
            <p:cNvPr id="271" name="QR code (repo)" descr="qr_repo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98519" y="19148818"/>
              <a:ext cx="2131492" cy="2131492"/>
            </a:xfrm>
            <a:prstGeom prst="rect">
              <a:avLst/>
            </a:prstGeom>
          </p:spPr>
        </p:pic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ED54AC27-2381-F572-8E35-4A5B8E22E8E5}"/>
              </a:ext>
            </a:extLst>
          </p:cNvPr>
          <p:cNvGrpSpPr/>
          <p:nvPr/>
        </p:nvGrpSpPr>
        <p:grpSpPr>
          <a:xfrm>
            <a:off x="7178607" y="21251572"/>
            <a:ext cx="11167875" cy="3097894"/>
            <a:chOff x="8508448" y="21068261"/>
            <a:chExt cx="11167875" cy="3097894"/>
          </a:xfrm>
        </p:grpSpPr>
        <p:sp>
          <p:nvSpPr>
            <p:cNvPr id="273" name="Readout card: Tag response (FT)"/>
            <p:cNvSpPr/>
            <p:nvPr/>
          </p:nvSpPr>
          <p:spPr>
            <a:xfrm>
              <a:off x="8508448" y="21068261"/>
              <a:ext cx="11167875" cy="3097894"/>
            </a:xfrm>
            <a:prstGeom prst="roundRect">
              <a:avLst>
                <a:gd name="adj" fmla="val 6000"/>
              </a:avLst>
            </a:prstGeom>
            <a:solidFill>
              <a:srgbClr val="F1EAF6"/>
            </a:solidFill>
            <a:ln w="25400">
              <a:solidFill>
                <a:srgbClr val="7B3F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8645609" y="21123125"/>
              <a:ext cx="4650697" cy="4924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GB" sz="2600" b="1" dirty="0">
                  <a:solidFill>
                    <a:srgbClr val="7B3FA0"/>
                  </a:solidFill>
                </a:rPr>
                <a:t>Frequency t</a:t>
              </a:r>
              <a:r>
                <a:rPr sz="2600" b="1" dirty="0">
                  <a:solidFill>
                    <a:srgbClr val="7B3FA0"/>
                  </a:solidFill>
                </a:rPr>
                <a:t>ag</a:t>
              </a:r>
              <a:r>
                <a:rPr lang="en-GB" sz="2600" b="1" dirty="0">
                  <a:solidFill>
                    <a:srgbClr val="7B3FA0"/>
                  </a:solidFill>
                </a:rPr>
                <a:t>ging</a:t>
              </a:r>
              <a:r>
                <a:rPr sz="2600" b="1" dirty="0">
                  <a:solidFill>
                    <a:srgbClr val="7B3FA0"/>
                  </a:solidFill>
                </a:rPr>
                <a:t> response (FT)</a:t>
              </a:r>
            </a:p>
          </p:txBody>
        </p:sp>
        <p:pic>
          <p:nvPicPr>
            <p:cNvPr id="275" name="Picture 274" descr="icon_tag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798658" y="21535738"/>
              <a:ext cx="4497648" cy="2556872"/>
            </a:xfrm>
            <a:prstGeom prst="rect">
              <a:avLst/>
            </a:prstGeom>
          </p:spPr>
        </p:pic>
        <p:sp>
          <p:nvSpPr>
            <p:cNvPr id="277" name="TextBox 276"/>
            <p:cNvSpPr txBox="1"/>
            <p:nvPr/>
          </p:nvSpPr>
          <p:spPr>
            <a:xfrm>
              <a:off x="13652739" y="21442527"/>
              <a:ext cx="5667151" cy="23493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0" dirty="0"/>
                <a:t>Power at the flicker rate (6 or 7.06 Hz, and harmonics) relative to </a:t>
              </a:r>
              <a:r>
                <a:rPr lang="en-GB" sz="2800" b="0" dirty="0"/>
                <a:t>the </a:t>
              </a:r>
              <a:r>
                <a:rPr sz="2800" b="0" dirty="0" err="1"/>
                <a:t>neighbouring</a:t>
              </a:r>
              <a:r>
                <a:rPr sz="2800" b="0" dirty="0"/>
                <a:t> frequencies (SNR). </a:t>
              </a:r>
              <a:r>
                <a:rPr sz="2800" b="1" dirty="0">
                  <a:solidFill>
                    <a:srgbClr val="7B3FA0"/>
                  </a:solidFill>
                </a:rPr>
                <a:t>Follows the flicker, cycle after cycle.</a:t>
              </a:r>
            </a:p>
            <a:p>
              <a:pPr>
                <a:spcBef>
                  <a:spcPts val="800"/>
                </a:spcBef>
              </a:pPr>
              <a:r>
                <a:rPr sz="2800" b="0" dirty="0"/>
                <a:t>Word vs Non-word: SNR difference.</a:t>
              </a: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B965F58E-EDA5-2814-9E14-0FFD45E8C711}"/>
              </a:ext>
            </a:extLst>
          </p:cNvPr>
          <p:cNvGrpSpPr/>
          <p:nvPr/>
        </p:nvGrpSpPr>
        <p:grpSpPr>
          <a:xfrm>
            <a:off x="7178607" y="24745020"/>
            <a:ext cx="11167875" cy="3097894"/>
            <a:chOff x="8505079" y="24318270"/>
            <a:chExt cx="11167875" cy="3097894"/>
          </a:xfrm>
        </p:grpSpPr>
        <p:sp>
          <p:nvSpPr>
            <p:cNvPr id="278" name="Readout card: Word-locked response (evoked)"/>
            <p:cNvSpPr/>
            <p:nvPr/>
          </p:nvSpPr>
          <p:spPr>
            <a:xfrm>
              <a:off x="8505079" y="24318270"/>
              <a:ext cx="11167875" cy="3097894"/>
            </a:xfrm>
            <a:prstGeom prst="roundRect">
              <a:avLst>
                <a:gd name="adj" fmla="val 6000"/>
              </a:avLst>
            </a:prstGeom>
            <a:solidFill>
              <a:srgbClr val="E4F3F1"/>
            </a:solidFill>
            <a:ln w="25400">
              <a:solidFill>
                <a:srgbClr val="2A9D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8642239" y="24373134"/>
              <a:ext cx="2502095" cy="4924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GB" sz="2600" b="1" dirty="0">
                  <a:solidFill>
                    <a:srgbClr val="2A9D8F"/>
                  </a:solidFill>
                </a:rPr>
                <a:t>Evoked </a:t>
              </a:r>
              <a:r>
                <a:rPr sz="2600" b="1" dirty="0">
                  <a:solidFill>
                    <a:srgbClr val="2A9D8F"/>
                  </a:solidFill>
                </a:rPr>
                <a:t>response</a:t>
              </a:r>
            </a:p>
          </p:txBody>
        </p:sp>
        <p:pic>
          <p:nvPicPr>
            <p:cNvPr id="280" name="Picture 279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709029" y="24881013"/>
              <a:ext cx="3698142" cy="2413523"/>
            </a:xfrm>
            <a:prstGeom prst="rect">
              <a:avLst/>
            </a:prstGeom>
          </p:spPr>
        </p:pic>
        <p:sp>
          <p:nvSpPr>
            <p:cNvPr id="282" name="TextBox 281"/>
            <p:cNvSpPr txBox="1"/>
            <p:nvPr/>
          </p:nvSpPr>
          <p:spPr>
            <a:xfrm>
              <a:off x="13296306" y="25128537"/>
              <a:ext cx="5901578" cy="19184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0" dirty="0"/>
                <a:t>MEG field averaged across words, time-locked to </a:t>
              </a:r>
              <a:r>
                <a:rPr sz="2800" b="1" dirty="0">
                  <a:solidFill>
                    <a:srgbClr val="2A9D8F"/>
                  </a:solidFill>
                </a:rPr>
                <a:t>each word (every 2.83s).</a:t>
              </a:r>
            </a:p>
            <a:p>
              <a:pPr>
                <a:spcBef>
                  <a:spcPts val="800"/>
                </a:spcBef>
              </a:pPr>
              <a:r>
                <a:rPr sz="2800" b="0" dirty="0"/>
                <a:t>Word vs Nonword: amplitude difference across the word epoch.</a:t>
              </a:r>
            </a:p>
          </p:txBody>
        </p:sp>
      </p:grpSp>
      <p:pic>
        <p:nvPicPr>
          <p:cNvPr id="52" name="Picture 5" descr="image.png">
            <a:extLst>
              <a:ext uri="{FF2B5EF4-FFF2-40B4-BE49-F238E27FC236}">
                <a16:creationId xmlns:a16="http://schemas.microsoft.com/office/drawing/2014/main" id="{526E3FD8-C9DF-6454-1DED-38041E06EB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411070" y="7797789"/>
            <a:ext cx="147369" cy="356318"/>
          </a:xfrm>
          <a:prstGeom prst="rect">
            <a:avLst/>
          </a:prstGeom>
        </p:spPr>
      </p:pic>
      <p:grpSp>
        <p:nvGrpSpPr>
          <p:cNvPr id="230" name="Group 229">
            <a:extLst>
              <a:ext uri="{FF2B5EF4-FFF2-40B4-BE49-F238E27FC236}">
                <a16:creationId xmlns:a16="http://schemas.microsoft.com/office/drawing/2014/main" id="{303A4451-3796-DB7B-1424-D7545164D320}"/>
              </a:ext>
            </a:extLst>
          </p:cNvPr>
          <p:cNvGrpSpPr/>
          <p:nvPr/>
        </p:nvGrpSpPr>
        <p:grpSpPr>
          <a:xfrm>
            <a:off x="18819813" y="6392698"/>
            <a:ext cx="2561307" cy="3938544"/>
            <a:chOff x="18908035" y="8662751"/>
            <a:chExt cx="2561307" cy="3938544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13B639D5-FEB2-C45A-A6FD-FA0287A883D2}"/>
                </a:ext>
              </a:extLst>
            </p:cNvPr>
            <p:cNvGrpSpPr/>
            <p:nvPr/>
          </p:nvGrpSpPr>
          <p:grpSpPr>
            <a:xfrm>
              <a:off x="18908035" y="8662751"/>
              <a:ext cx="2561307" cy="3938544"/>
              <a:chOff x="18908035" y="8662751"/>
              <a:chExt cx="2561307" cy="3938544"/>
            </a:xfrm>
          </p:grpSpPr>
          <p:sp>
            <p:nvSpPr>
              <p:cNvPr id="50" name="Rounded Rectangle 2">
                <a:extLst>
                  <a:ext uri="{FF2B5EF4-FFF2-40B4-BE49-F238E27FC236}">
                    <a16:creationId xmlns:a16="http://schemas.microsoft.com/office/drawing/2014/main" id="{A0E0BA0D-9DCC-E25A-0B64-9B737339EC42}"/>
                  </a:ext>
                </a:extLst>
              </p:cNvPr>
              <p:cNvSpPr/>
              <p:nvPr/>
            </p:nvSpPr>
            <p:spPr>
              <a:xfrm>
                <a:off x="18908035" y="8662751"/>
                <a:ext cx="2561307" cy="3938544"/>
              </a:xfrm>
              <a:prstGeom prst="roundRect">
                <a:avLst>
                  <a:gd name="adj" fmla="val 5626"/>
                </a:avLst>
              </a:prstGeom>
              <a:solidFill>
                <a:srgbClr val="F8FAFC"/>
              </a:solidFill>
              <a:ln w="19050">
                <a:solidFill>
                  <a:srgbClr val="E2E8F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GB" sz="2000" noProof="0" dirty="0"/>
              </a:p>
            </p:txBody>
          </p:sp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D3B2DE41-C952-9AF1-9A88-F3C709F18AE5}"/>
                  </a:ext>
                </a:extLst>
              </p:cNvPr>
              <p:cNvGrpSpPr/>
              <p:nvPr/>
            </p:nvGrpSpPr>
            <p:grpSpPr>
              <a:xfrm>
                <a:off x="19683300" y="8928445"/>
                <a:ext cx="1010777" cy="889169"/>
                <a:chOff x="19674662" y="8928445"/>
                <a:chExt cx="1010777" cy="889169"/>
              </a:xfrm>
            </p:grpSpPr>
            <p:pic>
              <p:nvPicPr>
                <p:cNvPr id="54" name="Picture 7" descr="image.png">
                  <a:extLst>
                    <a:ext uri="{FF2B5EF4-FFF2-40B4-BE49-F238E27FC236}">
                      <a16:creationId xmlns:a16="http://schemas.microsoft.com/office/drawing/2014/main" id="{77258044-E73E-6343-7082-0FEC369DDD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674662" y="8928445"/>
                  <a:ext cx="1010777" cy="889169"/>
                </a:xfrm>
                <a:prstGeom prst="rect">
                  <a:avLst/>
                </a:prstGeom>
              </p:spPr>
            </p:pic>
            <p:pic>
              <p:nvPicPr>
                <p:cNvPr id="56" name="Picture 8" descr="image.png">
                  <a:extLst>
                    <a:ext uri="{FF2B5EF4-FFF2-40B4-BE49-F238E27FC236}">
                      <a16:creationId xmlns:a16="http://schemas.microsoft.com/office/drawing/2014/main" id="{4F3BDF97-95C8-F2D8-257E-EA120715A8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698587" y="9179088"/>
                  <a:ext cx="962927" cy="436544"/>
                </a:xfrm>
                <a:prstGeom prst="rect">
                  <a:avLst/>
                </a:prstGeom>
              </p:spPr>
            </p:pic>
          </p:grpSp>
        </p:grpSp>
        <p:sp>
          <p:nvSpPr>
            <p:cNvPr id="69" name="TextBox 14">
              <a:extLst>
                <a:ext uri="{FF2B5EF4-FFF2-40B4-BE49-F238E27FC236}">
                  <a16:creationId xmlns:a16="http://schemas.microsoft.com/office/drawing/2014/main" id="{5F1A9723-0ED0-E867-2C25-DBD820E752B4}"/>
                </a:ext>
              </a:extLst>
            </p:cNvPr>
            <p:cNvSpPr txBox="1"/>
            <p:nvPr/>
          </p:nvSpPr>
          <p:spPr>
            <a:xfrm>
              <a:off x="19075444" y="10050511"/>
              <a:ext cx="2234017" cy="378588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GB" sz="2800" b="1" i="0" u="none" noProof="0" dirty="0">
                  <a:solidFill>
                    <a:srgbClr val="0F172A"/>
                  </a:solidFill>
                  <a:latin typeface="Inter"/>
                </a:rPr>
                <a:t>2. The Response</a:t>
              </a:r>
            </a:p>
          </p:txBody>
        </p:sp>
      </p:grpSp>
      <p:sp>
        <p:nvSpPr>
          <p:cNvPr id="70" name="TextBox 15">
            <a:extLst>
              <a:ext uri="{FF2B5EF4-FFF2-40B4-BE49-F238E27FC236}">
                <a16:creationId xmlns:a16="http://schemas.microsoft.com/office/drawing/2014/main" id="{7906A941-CE34-5819-64CD-9232BB90D1C2}"/>
              </a:ext>
            </a:extLst>
          </p:cNvPr>
          <p:cNvSpPr txBox="1"/>
          <p:nvPr/>
        </p:nvSpPr>
        <p:spPr>
          <a:xfrm>
            <a:off x="18768445" y="8154107"/>
            <a:ext cx="2671908" cy="19879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2800" b="0" i="0" u="none" noProof="0" dirty="0">
                <a:solidFill>
                  <a:srgbClr val="475569"/>
                </a:solidFill>
                <a:latin typeface="Inter"/>
              </a:rPr>
              <a:t>Visual cortex follows the flicker </a:t>
            </a:r>
            <a:r>
              <a:rPr lang="en-GB" sz="2800" b="1" i="0" u="none" noProof="0" dirty="0">
                <a:solidFill>
                  <a:srgbClr val="7B3FA0"/>
                </a:solidFill>
                <a:latin typeface="Inter"/>
              </a:rPr>
              <a:t>steady-state visual evoked field (SSVEF)</a:t>
            </a:r>
            <a:endParaRPr lang="en-GB" sz="2800" b="0" i="0" u="none" noProof="0" dirty="0">
              <a:solidFill>
                <a:srgbClr val="475569"/>
              </a:solidFill>
              <a:latin typeface="Inter"/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CF1BD54-3262-9024-E9F8-605D5561DB0A}"/>
              </a:ext>
            </a:extLst>
          </p:cNvPr>
          <p:cNvGrpSpPr/>
          <p:nvPr/>
        </p:nvGrpSpPr>
        <p:grpSpPr>
          <a:xfrm>
            <a:off x="16066167" y="6392698"/>
            <a:ext cx="2711954" cy="3938544"/>
            <a:chOff x="5981173" y="1651259"/>
            <a:chExt cx="3505677" cy="3369089"/>
          </a:xfrm>
        </p:grpSpPr>
        <p:sp>
          <p:nvSpPr>
            <p:cNvPr id="35" name="Rounded Rectangle 1">
              <a:extLst>
                <a:ext uri="{FF2B5EF4-FFF2-40B4-BE49-F238E27FC236}">
                  <a16:creationId xmlns:a16="http://schemas.microsoft.com/office/drawing/2014/main" id="{54EDE0E6-04C4-9CD4-2716-5027CDD7D361}"/>
                </a:ext>
              </a:extLst>
            </p:cNvPr>
            <p:cNvSpPr/>
            <p:nvPr/>
          </p:nvSpPr>
          <p:spPr>
            <a:xfrm>
              <a:off x="6045200" y="1651259"/>
              <a:ext cx="3223488" cy="3369089"/>
            </a:xfrm>
            <a:prstGeom prst="roundRect">
              <a:avLst>
                <a:gd name="adj" fmla="val 5626"/>
              </a:avLst>
            </a:prstGeom>
            <a:solidFill>
              <a:srgbClr val="F8FAFC"/>
            </a:solidFill>
            <a:ln w="19050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GB" sz="2000" noProof="0" dirty="0"/>
            </a:p>
          </p:txBody>
        </p:sp>
        <p:pic>
          <p:nvPicPr>
            <p:cNvPr id="39" name="Picture 4" descr="image.png">
              <a:extLst>
                <a:ext uri="{FF2B5EF4-FFF2-40B4-BE49-F238E27FC236}">
                  <a16:creationId xmlns:a16="http://schemas.microsoft.com/office/drawing/2014/main" id="{C57D50B9-1DF2-E1E3-EC56-74BF9EAF9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296350" y="2853195"/>
              <a:ext cx="190500" cy="304800"/>
            </a:xfrm>
            <a:prstGeom prst="rect">
              <a:avLst/>
            </a:prstGeom>
          </p:spPr>
        </p:pic>
        <p:pic>
          <p:nvPicPr>
            <p:cNvPr id="43" name="Picture 6" descr="image.png">
              <a:extLst>
                <a:ext uri="{FF2B5EF4-FFF2-40B4-BE49-F238E27FC236}">
                  <a16:creationId xmlns:a16="http://schemas.microsoft.com/office/drawing/2014/main" id="{638C0D04-F83D-62AE-199B-D31739903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146705" y="2513272"/>
              <a:ext cx="984145" cy="228600"/>
            </a:xfrm>
            <a:prstGeom prst="rect">
              <a:avLst/>
            </a:prstGeom>
          </p:spPr>
        </p:pic>
        <p:sp>
          <p:nvSpPr>
            <p:cNvPr id="46" name="TextBox 12">
              <a:extLst>
                <a:ext uri="{FF2B5EF4-FFF2-40B4-BE49-F238E27FC236}">
                  <a16:creationId xmlns:a16="http://schemas.microsoft.com/office/drawing/2014/main" id="{1CFB4DE7-A8C8-64ED-481F-84096C01B2FE}"/>
                </a:ext>
              </a:extLst>
            </p:cNvPr>
            <p:cNvSpPr txBox="1"/>
            <p:nvPr/>
          </p:nvSpPr>
          <p:spPr>
            <a:xfrm>
              <a:off x="6371518" y="2844062"/>
              <a:ext cx="2625327" cy="3238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GB" sz="2800" b="1" i="0" u="none" noProof="0" dirty="0">
                  <a:solidFill>
                    <a:srgbClr val="0F172A"/>
                  </a:solidFill>
                  <a:latin typeface="Inter"/>
                </a:rPr>
                <a:t>1. The Stimulus</a:t>
              </a:r>
            </a:p>
          </p:txBody>
        </p:sp>
        <p:sp>
          <p:nvSpPr>
            <p:cNvPr id="47" name="TextBox 13">
              <a:extLst>
                <a:ext uri="{FF2B5EF4-FFF2-40B4-BE49-F238E27FC236}">
                  <a16:creationId xmlns:a16="http://schemas.microsoft.com/office/drawing/2014/main" id="{EA6D791B-4493-E867-7DF7-B8FB2DAD79D8}"/>
                </a:ext>
              </a:extLst>
            </p:cNvPr>
            <p:cNvSpPr txBox="1"/>
            <p:nvPr/>
          </p:nvSpPr>
          <p:spPr>
            <a:xfrm>
              <a:off x="5981173" y="3258258"/>
              <a:ext cx="3306564" cy="15402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lang="en-GB" sz="2800" dirty="0">
                  <a:solidFill>
                    <a:srgbClr val="475569"/>
                  </a:solidFill>
                  <a:latin typeface="Inter"/>
                </a:rPr>
                <a:t>'Cosmetic'</a:t>
              </a:r>
              <a:r>
                <a:rPr lang="en-GB" sz="2800" b="0" i="0" u="none" noProof="0" dirty="0">
                  <a:solidFill>
                    <a:srgbClr val="475569"/>
                  </a:solidFill>
                  <a:latin typeface="Inter"/>
                </a:rPr>
                <a:t> flicker at a fixed rate </a:t>
              </a:r>
            </a:p>
            <a:p>
              <a:pPr algn="ctr"/>
              <a:r>
                <a:rPr lang="en-GB" sz="2800" b="0" i="0" u="none" noProof="0" dirty="0">
                  <a:solidFill>
                    <a:srgbClr val="475569"/>
                  </a:solidFill>
                  <a:latin typeface="Inter"/>
                </a:rPr>
                <a:t>(6.00 or 7.0</a:t>
              </a:r>
              <a:r>
                <a:rPr lang="en-GB" sz="2800" dirty="0">
                  <a:solidFill>
                    <a:srgbClr val="475569"/>
                  </a:solidFill>
                  <a:latin typeface="Inter"/>
                </a:rPr>
                <a:t>6</a:t>
              </a:r>
              <a:r>
                <a:rPr lang="en-GB" sz="2800" b="0" i="0" u="none" noProof="0" dirty="0">
                  <a:solidFill>
                    <a:srgbClr val="475569"/>
                  </a:solidFill>
                  <a:latin typeface="Inter"/>
                </a:rPr>
                <a:t> Hz)</a:t>
              </a:r>
            </a:p>
          </p:txBody>
        </p:sp>
        <p:sp>
          <p:nvSpPr>
            <p:cNvPr id="48" name="TextBox 18">
              <a:extLst>
                <a:ext uri="{FF2B5EF4-FFF2-40B4-BE49-F238E27FC236}">
                  <a16:creationId xmlns:a16="http://schemas.microsoft.com/office/drawing/2014/main" id="{781C5D87-469B-B9D5-498F-864FDB656A23}"/>
                </a:ext>
              </a:extLst>
            </p:cNvPr>
            <p:cNvSpPr txBox="1"/>
            <p:nvPr/>
          </p:nvSpPr>
          <p:spPr>
            <a:xfrm>
              <a:off x="7055295" y="2122747"/>
              <a:ext cx="1136514" cy="364031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GB" sz="2800" b="1" i="0" u="none" noProof="0" dirty="0">
                  <a:solidFill>
                    <a:srgbClr val="0F172A"/>
                  </a:solidFill>
                </a:rPr>
                <a:t>(NON)WORD</a:t>
              </a: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239FC95-B71E-EDC7-0916-5ED4BBC2BC54}"/>
              </a:ext>
            </a:extLst>
          </p:cNvPr>
          <p:cNvGrpSpPr/>
          <p:nvPr/>
        </p:nvGrpSpPr>
        <p:grpSpPr>
          <a:xfrm>
            <a:off x="21649879" y="6203403"/>
            <a:ext cx="2488639" cy="4446871"/>
            <a:chOff x="13199103" y="1489332"/>
            <a:chExt cx="3217003" cy="3803920"/>
          </a:xfrm>
        </p:grpSpPr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443A2B32-EB37-37E9-09A1-4B40A3445800}"/>
                </a:ext>
              </a:extLst>
            </p:cNvPr>
            <p:cNvGrpSpPr/>
            <p:nvPr/>
          </p:nvGrpSpPr>
          <p:grpSpPr>
            <a:xfrm>
              <a:off x="13258229" y="1489332"/>
              <a:ext cx="3098751" cy="3803920"/>
              <a:chOff x="13258229" y="1489332"/>
              <a:chExt cx="3098751" cy="3803920"/>
            </a:xfrm>
          </p:grpSpPr>
          <p:sp>
            <p:nvSpPr>
              <p:cNvPr id="29" name="Rounded Rectangle 3">
                <a:extLst>
                  <a:ext uri="{FF2B5EF4-FFF2-40B4-BE49-F238E27FC236}">
                    <a16:creationId xmlns:a16="http://schemas.microsoft.com/office/drawing/2014/main" id="{588EFFAC-C076-83D9-EDA2-7819D2C63AE6}"/>
                  </a:ext>
                </a:extLst>
              </p:cNvPr>
              <p:cNvSpPr/>
              <p:nvPr/>
            </p:nvSpPr>
            <p:spPr>
              <a:xfrm>
                <a:off x="13258229" y="1489332"/>
                <a:ext cx="3098751" cy="3803920"/>
              </a:xfrm>
              <a:prstGeom prst="roundRect">
                <a:avLst>
                  <a:gd name="adj" fmla="val 5025"/>
                </a:avLst>
              </a:prstGeom>
              <a:solidFill>
                <a:srgbClr val="F0F9FF"/>
              </a:solidFill>
              <a:ln w="19050">
                <a:solidFill>
                  <a:srgbClr val="BAE6F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GB" sz="2000" noProof="0" dirty="0"/>
              </a:p>
            </p:txBody>
          </p:sp>
          <p:pic>
            <p:nvPicPr>
              <p:cNvPr id="31" name="Picture 9" descr="image.png">
                <a:extLst>
                  <a:ext uri="{FF2B5EF4-FFF2-40B4-BE49-F238E27FC236}">
                    <a16:creationId xmlns:a16="http://schemas.microsoft.com/office/drawing/2014/main" id="{0237C0D7-ECD4-D7E1-959A-93626FBD8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234027" y="1725497"/>
                <a:ext cx="1118472" cy="599383"/>
              </a:xfrm>
              <a:prstGeom prst="rect">
                <a:avLst/>
              </a:prstGeom>
            </p:spPr>
          </p:pic>
          <p:sp>
            <p:nvSpPr>
              <p:cNvPr id="33" name="TextBox 17">
                <a:extLst>
                  <a:ext uri="{FF2B5EF4-FFF2-40B4-BE49-F238E27FC236}">
                    <a16:creationId xmlns:a16="http://schemas.microsoft.com/office/drawing/2014/main" id="{0D225E36-F953-6599-3082-C93852093DD2}"/>
                  </a:ext>
                </a:extLst>
              </p:cNvPr>
              <p:cNvSpPr txBox="1"/>
              <p:nvPr/>
            </p:nvSpPr>
            <p:spPr>
              <a:xfrm>
                <a:off x="13280498" y="3064432"/>
                <a:ext cx="3063813" cy="21863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/>
                <a:r>
                  <a:rPr lang="en-GB" sz="2800" b="0" i="0" u="none" noProof="0" dirty="0">
                    <a:solidFill>
                      <a:srgbClr val="475569"/>
                    </a:solidFill>
                    <a:latin typeface="Inter"/>
                  </a:rPr>
                  <a:t>Can </a:t>
                </a:r>
                <a:r>
                  <a:rPr lang="en-GB" sz="2800" dirty="0">
                    <a:solidFill>
                      <a:srgbClr val="475569"/>
                    </a:solidFill>
                    <a:latin typeface="Inter"/>
                  </a:rPr>
                  <a:t>the frequency  </a:t>
                </a:r>
                <a:r>
                  <a:rPr lang="en-GB" sz="2800" b="0" i="0" u="none" noProof="0" dirty="0">
                    <a:solidFill>
                      <a:srgbClr val="475569"/>
                    </a:solidFill>
                    <a:latin typeface="Inter"/>
                  </a:rPr>
                  <a:t>tag response map the visual word-processing pathway?</a:t>
                </a:r>
              </a:p>
            </p:txBody>
          </p:sp>
        </p:grpSp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1A085EFA-1F61-EAE4-5BA6-528184BAB2ED}"/>
                </a:ext>
              </a:extLst>
            </p:cNvPr>
            <p:cNvSpPr txBox="1"/>
            <p:nvPr/>
          </p:nvSpPr>
          <p:spPr>
            <a:xfrm>
              <a:off x="13199103" y="2710947"/>
              <a:ext cx="3217003" cy="3643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ctr"/>
              <a:r>
                <a:rPr lang="en-GB" sz="2800" b="1" i="0" u="none" noProof="0" dirty="0">
                  <a:solidFill>
                    <a:srgbClr val="0F172A"/>
                  </a:solidFill>
                  <a:latin typeface="Inter"/>
                </a:rPr>
                <a:t>3. The Test</a:t>
              </a:r>
            </a:p>
          </p:txBody>
        </p:sp>
      </p:grpSp>
      <p:sp>
        <p:nvSpPr>
          <p:cNvPr id="283" name="Conference line"/>
          <p:cNvSpPr txBox="1"/>
          <p:nvPr/>
        </p:nvSpPr>
        <p:spPr>
          <a:xfrm>
            <a:off x="34611874" y="287267"/>
            <a:ext cx="71702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dirty="0">
                <a:solidFill>
                  <a:srgbClr val="0B3D6E"/>
                </a:solidFill>
              </a:rPr>
              <a:t>SNL 2026 · Geneva</a:t>
            </a:r>
          </a:p>
          <a:p>
            <a:pPr algn="r"/>
            <a:r>
              <a:rPr sz="2400" b="0" dirty="0">
                <a:solidFill>
                  <a:srgbClr val="555555"/>
                </a:solidFill>
              </a:rPr>
              <a:t>Poster F52 · Session F · Fri 2 Oct, 2:45–4:45 pm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DDD479B-BFC0-B25D-284A-825D4C6BAF67}"/>
              </a:ext>
            </a:extLst>
          </p:cNvPr>
          <p:cNvGrpSpPr/>
          <p:nvPr/>
        </p:nvGrpSpPr>
        <p:grpSpPr>
          <a:xfrm>
            <a:off x="7178603" y="7066615"/>
            <a:ext cx="10848678" cy="3462919"/>
            <a:chOff x="8779167" y="8895212"/>
            <a:chExt cx="15740353" cy="2545535"/>
          </a:xfrm>
        </p:grpSpPr>
        <p:grpSp>
          <p:nvGrpSpPr>
            <p:cNvPr id="103" name="Groupe 81">
              <a:extLst>
                <a:ext uri="{FF2B5EF4-FFF2-40B4-BE49-F238E27FC236}">
                  <a16:creationId xmlns:a16="http://schemas.microsoft.com/office/drawing/2014/main" id="{065B37CD-5466-8BD1-0496-9A159578CFBF}"/>
                </a:ext>
              </a:extLst>
            </p:cNvPr>
            <p:cNvGrpSpPr>
              <a:grpSpLocks/>
            </p:cNvGrpSpPr>
            <p:nvPr/>
          </p:nvGrpSpPr>
          <p:grpSpPr>
            <a:xfrm>
              <a:off x="8779167" y="8895212"/>
              <a:ext cx="6453435" cy="2497529"/>
              <a:chOff x="1333500" y="2919412"/>
              <a:chExt cx="4893382" cy="1900514"/>
            </a:xfrm>
          </p:grpSpPr>
          <p:pic>
            <p:nvPicPr>
              <p:cNvPr id="166" name="Picture 4" descr="image.png">
                <a:extLst>
                  <a:ext uri="{FF2B5EF4-FFF2-40B4-BE49-F238E27FC236}">
                    <a16:creationId xmlns:a16="http://schemas.microsoft.com/office/drawing/2014/main" id="{E7AE1A27-448F-9F50-68EE-AF284101A1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3500" y="2919412"/>
                <a:ext cx="4893382" cy="457199"/>
              </a:xfrm>
              <a:prstGeom prst="rect">
                <a:avLst/>
              </a:prstGeom>
            </p:spPr>
          </p:pic>
          <p:sp>
            <p:nvSpPr>
              <p:cNvPr id="167" name="TextBox 8">
                <a:extLst>
                  <a:ext uri="{FF2B5EF4-FFF2-40B4-BE49-F238E27FC236}">
                    <a16:creationId xmlns:a16="http://schemas.microsoft.com/office/drawing/2014/main" id="{42C2BD2B-D0DD-6C71-5A39-272238E3C4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3500" y="3508170"/>
                <a:ext cx="2002990" cy="74945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GB" sz="3200" b="1" i="0" u="none" noProof="0" dirty="0">
                    <a:solidFill>
                      <a:srgbClr val="0F172A"/>
                    </a:solidFill>
                  </a:rPr>
                  <a:t>Vision </a:t>
                </a:r>
              </a:p>
              <a:p>
                <a:pPr algn="l"/>
                <a:r>
                  <a:rPr lang="en-GB" sz="3200" b="1" i="0" u="none" noProof="0" dirty="0">
                    <a:solidFill>
                      <a:srgbClr val="0F172A"/>
                    </a:solidFill>
                  </a:rPr>
                  <a:t>(~100 ms)</a:t>
                </a:r>
              </a:p>
            </p:txBody>
          </p:sp>
          <p:sp>
            <p:nvSpPr>
              <p:cNvPr id="168" name="TextBox 9">
                <a:extLst>
                  <a:ext uri="{FF2B5EF4-FFF2-40B4-BE49-F238E27FC236}">
                    <a16:creationId xmlns:a16="http://schemas.microsoft.com/office/drawing/2014/main" id="{F7384326-879E-D180-8AEA-312E9BC8B7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3500" y="4389184"/>
                <a:ext cx="2896013" cy="43074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GB" sz="2800" b="0" i="0" u="none" noProof="0" dirty="0">
                    <a:solidFill>
                      <a:srgbClr val="475569"/>
                    </a:solidFill>
                    <a:latin typeface="Inter"/>
                  </a:rPr>
                  <a:t>Visual area (V1) detects low level features.</a:t>
                </a:r>
              </a:p>
            </p:txBody>
          </p:sp>
        </p:grpSp>
        <p:grpSp>
          <p:nvGrpSpPr>
            <p:cNvPr id="105" name="Groupe 82">
              <a:extLst>
                <a:ext uri="{FF2B5EF4-FFF2-40B4-BE49-F238E27FC236}">
                  <a16:creationId xmlns:a16="http://schemas.microsoft.com/office/drawing/2014/main" id="{A4A367F0-BB10-2DFC-F926-DA6A6929AF0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835750" y="8895214"/>
              <a:ext cx="5029196" cy="2497529"/>
              <a:chOff x="4736573" y="2919412"/>
              <a:chExt cx="3813440" cy="1900514"/>
            </a:xfrm>
          </p:grpSpPr>
          <p:pic>
            <p:nvPicPr>
              <p:cNvPr id="162" name="Picture 5" descr="image.png">
                <a:extLst>
                  <a:ext uri="{FF2B5EF4-FFF2-40B4-BE49-F238E27FC236}">
                    <a16:creationId xmlns:a16="http://schemas.microsoft.com/office/drawing/2014/main" id="{6A73F168-E547-DBB5-598F-8F81663498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6573" y="2919412"/>
                <a:ext cx="3813440" cy="457200"/>
              </a:xfrm>
              <a:prstGeom prst="rect">
                <a:avLst/>
              </a:prstGeom>
            </p:spPr>
          </p:pic>
          <p:sp>
            <p:nvSpPr>
              <p:cNvPr id="164" name="TextBox 10">
                <a:extLst>
                  <a:ext uri="{FF2B5EF4-FFF2-40B4-BE49-F238E27FC236}">
                    <a16:creationId xmlns:a16="http://schemas.microsoft.com/office/drawing/2014/main" id="{FA0FE70B-30FF-FB35-A19C-A21D427A8C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6573" y="3508170"/>
                <a:ext cx="2887436" cy="55091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GB" sz="3200" b="1" i="0" u="none" noProof="0" dirty="0">
                    <a:solidFill>
                      <a:srgbClr val="0F172A"/>
                    </a:solidFill>
                    <a:latin typeface="Inter"/>
                  </a:rPr>
                  <a:t>Letters/Words (~150-225 ms)</a:t>
                </a:r>
              </a:p>
            </p:txBody>
          </p:sp>
          <p:sp>
            <p:nvSpPr>
              <p:cNvPr id="165" name="TextBox 11">
                <a:extLst>
                  <a:ext uri="{FF2B5EF4-FFF2-40B4-BE49-F238E27FC236}">
                    <a16:creationId xmlns:a16="http://schemas.microsoft.com/office/drawing/2014/main" id="{B01519FC-A163-54AF-31F6-E1689178A9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6574" y="4389184"/>
                <a:ext cx="3616743" cy="43074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GB" sz="2800" b="0" i="0" u="none" noProof="0" dirty="0">
                    <a:solidFill>
                      <a:srgbClr val="475569"/>
                    </a:solidFill>
                    <a:latin typeface="Inter"/>
                  </a:rPr>
                  <a:t>Left ventral regions (vOT/VWFA) identify letter strings.</a:t>
                </a:r>
              </a:p>
            </p:txBody>
          </p:sp>
        </p:grpSp>
        <p:grpSp>
          <p:nvGrpSpPr>
            <p:cNvPr id="108" name="Groupe 83">
              <a:extLst>
                <a:ext uri="{FF2B5EF4-FFF2-40B4-BE49-F238E27FC236}">
                  <a16:creationId xmlns:a16="http://schemas.microsoft.com/office/drawing/2014/main" id="{AB245A3C-3905-AA95-B92B-84AC7DD103C2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842838" y="8895213"/>
              <a:ext cx="6676682" cy="2545534"/>
              <a:chOff x="8251471" y="2919412"/>
              <a:chExt cx="5062663" cy="1855764"/>
            </a:xfrm>
          </p:grpSpPr>
          <p:pic>
            <p:nvPicPr>
              <p:cNvPr id="127" name="Picture 6" descr="image.png">
                <a:extLst>
                  <a:ext uri="{FF2B5EF4-FFF2-40B4-BE49-F238E27FC236}">
                    <a16:creationId xmlns:a16="http://schemas.microsoft.com/office/drawing/2014/main" id="{9A9F542B-028B-D447-A76B-D226DBB904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51471" y="2919412"/>
                <a:ext cx="5062663" cy="457200"/>
              </a:xfrm>
              <a:prstGeom prst="rect">
                <a:avLst/>
              </a:prstGeom>
            </p:spPr>
          </p:pic>
          <p:sp>
            <p:nvSpPr>
              <p:cNvPr id="128" name="TextBox 12">
                <a:extLst>
                  <a:ext uri="{FF2B5EF4-FFF2-40B4-BE49-F238E27FC236}">
                    <a16:creationId xmlns:a16="http://schemas.microsoft.com/office/drawing/2014/main" id="{69A3EE3E-734B-A7D9-FE63-2233FCF51E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51472" y="3493057"/>
                <a:ext cx="2758409" cy="5277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GB" sz="3200" b="1" dirty="0">
                    <a:solidFill>
                      <a:srgbClr val="0F172A"/>
                    </a:solidFill>
                    <a:latin typeface="Inter"/>
                  </a:rPr>
                  <a:t>Meaning </a:t>
                </a:r>
              </a:p>
              <a:p>
                <a:r>
                  <a:rPr lang="en-GB" sz="3200" b="1" dirty="0">
                    <a:solidFill>
                      <a:srgbClr val="0F172A"/>
                    </a:solidFill>
                    <a:latin typeface="Inter"/>
                  </a:rPr>
                  <a:t>(~250-600 </a:t>
                </a:r>
                <a:r>
                  <a:rPr lang="en-GB" sz="3200" b="1" i="0" u="none" noProof="0" dirty="0">
                    <a:solidFill>
                      <a:srgbClr val="0F172A"/>
                    </a:solidFill>
                    <a:latin typeface="Inter"/>
                  </a:rPr>
                  <a:t>ms)</a:t>
                </a:r>
              </a:p>
            </p:txBody>
          </p:sp>
          <p:sp>
            <p:nvSpPr>
              <p:cNvPr id="129" name="TextBox 13">
                <a:extLst>
                  <a:ext uri="{FF2B5EF4-FFF2-40B4-BE49-F238E27FC236}">
                    <a16:creationId xmlns:a16="http://schemas.microsoft.com/office/drawing/2014/main" id="{2DD0986C-7810-4F5D-DBC6-483E79CFFA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51474" y="4327511"/>
                <a:ext cx="3162470" cy="4476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GB" sz="2800" b="0" i="0" u="none" noProof="0" dirty="0">
                    <a:solidFill>
                      <a:srgbClr val="475569"/>
                    </a:solidFill>
                    <a:latin typeface="Inter"/>
                  </a:rPr>
                  <a:t>Left Temporal network extracts meaning.</a:t>
                </a:r>
              </a:p>
            </p:txBody>
          </p:sp>
        </p:grpSp>
      </p:grp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E3D56E4-1FCA-6B4C-8A15-8DE29F9727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78607" y="12850091"/>
            <a:ext cx="2443232" cy="63916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sz="4800" dirty="0"/>
              <a:t>Methods</a:t>
            </a:r>
            <a:endParaRPr lang="en-GB" sz="4800" noProof="0" dirty="0"/>
          </a:p>
        </p:txBody>
      </p: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211FF31E-2353-868F-5875-F1B04E1DCA15}"/>
              </a:ext>
            </a:extLst>
          </p:cNvPr>
          <p:cNvGrpSpPr/>
          <p:nvPr/>
        </p:nvGrpSpPr>
        <p:grpSpPr>
          <a:xfrm>
            <a:off x="7178607" y="13544503"/>
            <a:ext cx="16986823" cy="3690894"/>
            <a:chOff x="7266829" y="15814556"/>
            <a:chExt cx="16986823" cy="3690894"/>
          </a:xfrm>
        </p:grpSpPr>
        <p:grpSp>
          <p:nvGrpSpPr>
            <p:cNvPr id="12" name="Methods strip 1 - paradigm (editable)"/>
            <p:cNvGrpSpPr>
              <a:grpSpLocks noChangeAspect="1"/>
            </p:cNvGrpSpPr>
            <p:nvPr/>
          </p:nvGrpSpPr>
          <p:grpSpPr>
            <a:xfrm>
              <a:off x="7266829" y="15814556"/>
              <a:ext cx="16986823" cy="3690894"/>
              <a:chOff x="8503920" y="16998696"/>
              <a:chExt cx="15271394" cy="2889504"/>
            </a:xfrm>
          </p:grpSpPr>
          <p:sp>
            <p:nvSpPr>
              <p:cNvPr id="115" name="Rounded Rectangle 114"/>
              <p:cNvSpPr/>
              <p:nvPr/>
            </p:nvSpPr>
            <p:spPr>
              <a:xfrm>
                <a:off x="8503920" y="16998696"/>
                <a:ext cx="3429000" cy="2880360"/>
              </a:xfrm>
              <a:prstGeom prst="roundRect">
                <a:avLst>
                  <a:gd name="adj" fmla="val 3809"/>
                </a:avLst>
              </a:prstGeom>
              <a:solidFill>
                <a:srgbClr val="EAF1F8"/>
              </a:solidFill>
              <a:ln w="27940">
                <a:solidFill>
                  <a:srgbClr val="00539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/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8686800" y="17156088"/>
                <a:ext cx="3234155" cy="57828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400" b="1" dirty="0">
                    <a:solidFill>
                      <a:srgbClr val="00539B"/>
                    </a:solidFill>
                  </a:rPr>
                  <a:t>1  STIMULUS</a:t>
                </a:r>
                <a:r>
                  <a:rPr lang="en-GB" sz="2400" b="1" dirty="0">
                    <a:solidFill>
                      <a:srgbClr val="00539B"/>
                    </a:solidFill>
                  </a:rPr>
                  <a:t> (word or </a:t>
                </a:r>
                <a:br>
                  <a:rPr lang="en-GB" sz="2400" b="1" dirty="0">
                    <a:solidFill>
                      <a:srgbClr val="00539B"/>
                    </a:solidFill>
                  </a:rPr>
                </a:br>
                <a:r>
                  <a:rPr lang="en-GB" sz="2400" b="1" dirty="0">
                    <a:solidFill>
                      <a:srgbClr val="00539B"/>
                    </a:solidFill>
                  </a:rPr>
                  <a:t>nonword=consonant string)</a:t>
                </a:r>
                <a:endParaRPr sz="2400" b="1" dirty="0">
                  <a:solidFill>
                    <a:srgbClr val="00539B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9410699" y="19621907"/>
                <a:ext cx="1779821" cy="2308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500" b="0" dirty="0"/>
                  <a:t>one tag per mini-block</a:t>
                </a:r>
              </a:p>
            </p:txBody>
          </p:sp>
          <p:sp>
            <p:nvSpPr>
              <p:cNvPr id="118" name="Rounded Rectangle 117"/>
              <p:cNvSpPr/>
              <p:nvPr/>
            </p:nvSpPr>
            <p:spPr>
              <a:xfrm>
                <a:off x="12451385" y="17007840"/>
                <a:ext cx="3520645" cy="2880360"/>
              </a:xfrm>
              <a:prstGeom prst="roundRect">
                <a:avLst>
                  <a:gd name="adj" fmla="val 3809"/>
                </a:avLst>
              </a:prstGeom>
              <a:solidFill>
                <a:srgbClr val="EAF1F8"/>
              </a:solidFill>
              <a:ln w="27940">
                <a:solidFill>
                  <a:srgbClr val="00539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12634265" y="17155877"/>
                <a:ext cx="1684677" cy="2891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400" b="1" dirty="0">
                    <a:solidFill>
                      <a:srgbClr val="00539B"/>
                    </a:solidFill>
                  </a:rPr>
                  <a:t>2  TIMING</a:t>
                </a: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12591121" y="17476396"/>
                <a:ext cx="3339197" cy="2891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2400" b="0" dirty="0"/>
                  <a:t>240 Hz frame-locked, 2 blocks</a:t>
                </a:r>
              </a:p>
            </p:txBody>
          </p:sp>
          <p:sp>
            <p:nvSpPr>
              <p:cNvPr id="121" name="Rounded Rectangle 120"/>
              <p:cNvSpPr/>
              <p:nvPr/>
            </p:nvSpPr>
            <p:spPr>
              <a:xfrm>
                <a:off x="16398849" y="17007840"/>
                <a:ext cx="3540914" cy="2880360"/>
              </a:xfrm>
              <a:prstGeom prst="roundRect">
                <a:avLst>
                  <a:gd name="adj" fmla="val 3809"/>
                </a:avLst>
              </a:prstGeom>
              <a:solidFill>
                <a:srgbClr val="EAF1F8"/>
              </a:solidFill>
              <a:ln w="27940">
                <a:solidFill>
                  <a:srgbClr val="00539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16581730" y="17155877"/>
                <a:ext cx="918300" cy="2891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400" b="1" dirty="0">
                    <a:solidFill>
                      <a:srgbClr val="00539B"/>
                    </a:solidFill>
                  </a:rPr>
                  <a:t>3  TASK</a:t>
                </a: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16581730" y="17479254"/>
                <a:ext cx="3074087" cy="33733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r>
                  <a:rPr lang="fr-FR" sz="2800" dirty="0"/>
                  <a:t> </a:t>
                </a:r>
                <a:r>
                  <a:rPr lang="fr-FR" sz="2800" dirty="0" err="1"/>
                  <a:t>behavioral</a:t>
                </a:r>
                <a:r>
                  <a:rPr lang="fr-FR" sz="2800" dirty="0"/>
                  <a:t> catch-</a:t>
                </a:r>
                <a:r>
                  <a:rPr lang="fr-FR" sz="2800" dirty="0" err="1"/>
                  <a:t>query</a:t>
                </a:r>
                <a:endParaRPr sz="2800" b="0" dirty="0">
                  <a:solidFill>
                    <a:srgbClr val="555555"/>
                  </a:solidFill>
                </a:endParaRPr>
              </a:p>
            </p:txBody>
          </p:sp>
          <p:sp>
            <p:nvSpPr>
              <p:cNvPr id="124" name="Rounded Rectangle 123"/>
              <p:cNvSpPr/>
              <p:nvPr/>
            </p:nvSpPr>
            <p:spPr>
              <a:xfrm>
                <a:off x="20346314" y="17007840"/>
                <a:ext cx="3429000" cy="2880360"/>
              </a:xfrm>
              <a:prstGeom prst="roundRect">
                <a:avLst>
                  <a:gd name="adj" fmla="val 3809"/>
                </a:avLst>
              </a:prstGeom>
              <a:solidFill>
                <a:srgbClr val="EAF1F8"/>
              </a:solidFill>
              <a:ln w="27940">
                <a:solidFill>
                  <a:srgbClr val="00539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20529194" y="17155877"/>
                <a:ext cx="1970677" cy="2891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400" b="1" dirty="0">
                    <a:solidFill>
                      <a:srgbClr val="00539B"/>
                    </a:solidFill>
                  </a:rPr>
                  <a:t>4  PARTICIPANTS</a:t>
                </a: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20546245" y="17476396"/>
                <a:ext cx="3209169" cy="481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000" b="0" dirty="0"/>
                  <a:t>MEG 306 ch. 2 kHz + eye tracker</a:t>
                </a:r>
                <a:endParaRPr lang="fr-CH" sz="2000" b="0" dirty="0"/>
              </a:p>
              <a:p>
                <a:pPr algn="l"/>
                <a:r>
                  <a:rPr lang="fr-CH" sz="2000" dirty="0"/>
                  <a:t>S</a:t>
                </a:r>
                <a:r>
                  <a:rPr sz="2000" b="0" dirty="0" err="1"/>
                  <a:t>tructural</a:t>
                </a:r>
                <a:r>
                  <a:rPr sz="2000" b="0" dirty="0"/>
                  <a:t> T1 MRI</a:t>
                </a:r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9182100" y="17876520"/>
                <a:ext cx="2476500" cy="1104900"/>
              </a:xfrm>
              <a:prstGeom prst="roundRect">
                <a:avLst>
                  <a:gd name="adj" fmla="val 4285"/>
                </a:avLst>
              </a:prstGeom>
              <a:solidFill>
                <a:srgbClr val="1E1E1E"/>
              </a:solidFill>
              <a:ln w="25400">
                <a:solidFill>
                  <a:srgbClr val="00539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lang="fr-CH" sz="2100" b="1" dirty="0" err="1">
                    <a:solidFill>
                      <a:srgbClr val="FFFFFF"/>
                    </a:solidFill>
                  </a:rPr>
                  <a:t>wary</a:t>
                </a:r>
                <a:r>
                  <a:rPr sz="2100" b="1" dirty="0">
                    <a:solidFill>
                      <a:srgbClr val="FFFFFF"/>
                    </a:solidFill>
                  </a:rPr>
                  <a:t> </a:t>
                </a:r>
                <a:endParaRPr lang="en-US" dirty="0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9294876" y="17996916"/>
                <a:ext cx="109728" cy="10972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Rounded Rectangle 131"/>
              <p:cNvSpPr/>
              <p:nvPr/>
            </p:nvSpPr>
            <p:spPr>
              <a:xfrm>
                <a:off x="8793480" y="19125934"/>
                <a:ext cx="1371600" cy="457200"/>
              </a:xfrm>
              <a:prstGeom prst="roundRect">
                <a:avLst>
                  <a:gd name="adj" fmla="val 16000"/>
                </a:avLst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600" b="1" dirty="0">
                    <a:solidFill>
                      <a:srgbClr val="FFFFFF"/>
                    </a:solidFill>
                  </a:rPr>
                  <a:t>F1  6.00 Hz</a:t>
                </a:r>
              </a:p>
            </p:txBody>
          </p:sp>
          <p:sp>
            <p:nvSpPr>
              <p:cNvPr id="133" name="Rounded Rectangle 132"/>
              <p:cNvSpPr/>
              <p:nvPr/>
            </p:nvSpPr>
            <p:spPr>
              <a:xfrm>
                <a:off x="10302240" y="19125934"/>
                <a:ext cx="1371600" cy="457200"/>
              </a:xfrm>
              <a:prstGeom prst="roundRect">
                <a:avLst>
                  <a:gd name="adj" fmla="val 16000"/>
                </a:avLst>
              </a:prstGeom>
              <a:solidFill>
                <a:srgbClr val="D982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600" b="1" dirty="0">
                    <a:solidFill>
                      <a:srgbClr val="FFFFFF"/>
                    </a:solidFill>
                  </a:rPr>
                  <a:t>F2  7.06 Hz</a:t>
                </a:r>
              </a:p>
            </p:txBody>
          </p:sp>
          <p:sp>
            <p:nvSpPr>
              <p:cNvPr id="13" name="Freeform 12"/>
              <p:cNvSpPr/>
              <p:nvPr/>
            </p:nvSpPr>
            <p:spPr>
              <a:xfrm>
                <a:off x="12725705" y="17949672"/>
                <a:ext cx="2880360" cy="356616"/>
              </a:xfrm>
              <a:custGeom>
                <a:avLst/>
                <a:gdLst/>
                <a:ahLst/>
                <a:cxnLst/>
                <a:rect l="l" t="t" r="r" b="b"/>
                <a:pathLst>
                  <a:path w="2880360" h="356616">
                    <a:moveTo>
                      <a:pt x="0" y="356616"/>
                    </a:moveTo>
                    <a:lnTo>
                      <a:pt x="0" y="0"/>
                    </a:lnTo>
                    <a:lnTo>
                      <a:pt x="360045" y="0"/>
                    </a:lnTo>
                    <a:lnTo>
                      <a:pt x="360045" y="356616"/>
                    </a:lnTo>
                    <a:lnTo>
                      <a:pt x="720090" y="356616"/>
                    </a:lnTo>
                    <a:lnTo>
                      <a:pt x="720090" y="0"/>
                    </a:lnTo>
                    <a:lnTo>
                      <a:pt x="1080135" y="0"/>
                    </a:lnTo>
                    <a:lnTo>
                      <a:pt x="1080135" y="356616"/>
                    </a:lnTo>
                    <a:lnTo>
                      <a:pt x="1440180" y="356616"/>
                    </a:lnTo>
                    <a:lnTo>
                      <a:pt x="1440180" y="0"/>
                    </a:lnTo>
                    <a:lnTo>
                      <a:pt x="1800225" y="0"/>
                    </a:lnTo>
                    <a:lnTo>
                      <a:pt x="1800225" y="356616"/>
                    </a:lnTo>
                    <a:lnTo>
                      <a:pt x="2160270" y="356616"/>
                    </a:lnTo>
                    <a:lnTo>
                      <a:pt x="2160270" y="0"/>
                    </a:lnTo>
                    <a:lnTo>
                      <a:pt x="2520315" y="0"/>
                    </a:lnTo>
                    <a:lnTo>
                      <a:pt x="2520315" y="356616"/>
                    </a:lnTo>
                    <a:lnTo>
                      <a:pt x="2880360" y="356616"/>
                    </a:lnTo>
                  </a:path>
                </a:pathLst>
              </a:custGeom>
              <a:noFill/>
              <a:ln w="40640">
                <a:solidFill>
                  <a:srgbClr val="00539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Rectangle 133"/>
              <p:cNvSpPr/>
              <p:nvPr/>
            </p:nvSpPr>
            <p:spPr>
              <a:xfrm>
                <a:off x="12725705" y="18635472"/>
                <a:ext cx="246888" cy="292608"/>
              </a:xfrm>
              <a:prstGeom prst="rect">
                <a:avLst/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Rectangle 134"/>
              <p:cNvSpPr/>
              <p:nvPr/>
            </p:nvSpPr>
            <p:spPr>
              <a:xfrm>
                <a:off x="13018313" y="18635472"/>
                <a:ext cx="246888" cy="292608"/>
              </a:xfrm>
              <a:prstGeom prst="rect">
                <a:avLst/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6" name="Rectangle 135"/>
              <p:cNvSpPr/>
              <p:nvPr/>
            </p:nvSpPr>
            <p:spPr>
              <a:xfrm>
                <a:off x="13310921" y="18635472"/>
                <a:ext cx="246888" cy="292608"/>
              </a:xfrm>
              <a:prstGeom prst="rect">
                <a:avLst/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Rectangle 136"/>
              <p:cNvSpPr/>
              <p:nvPr/>
            </p:nvSpPr>
            <p:spPr>
              <a:xfrm>
                <a:off x="13603529" y="18635472"/>
                <a:ext cx="246888" cy="292608"/>
              </a:xfrm>
              <a:prstGeom prst="rect">
                <a:avLst/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Rectangle 137"/>
              <p:cNvSpPr/>
              <p:nvPr/>
            </p:nvSpPr>
            <p:spPr>
              <a:xfrm>
                <a:off x="13896137" y="18635472"/>
                <a:ext cx="246888" cy="292608"/>
              </a:xfrm>
              <a:prstGeom prst="rect">
                <a:avLst/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Rectangle 138"/>
              <p:cNvSpPr/>
              <p:nvPr/>
            </p:nvSpPr>
            <p:spPr>
              <a:xfrm>
                <a:off x="14188745" y="18635472"/>
                <a:ext cx="246888" cy="292608"/>
              </a:xfrm>
              <a:prstGeom prst="rect">
                <a:avLst/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14481353" y="18635472"/>
                <a:ext cx="246888" cy="292608"/>
              </a:xfrm>
              <a:prstGeom prst="rect">
                <a:avLst/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Rectangle 140"/>
              <p:cNvSpPr/>
              <p:nvPr/>
            </p:nvSpPr>
            <p:spPr>
              <a:xfrm>
                <a:off x="14773961" y="18635472"/>
                <a:ext cx="246888" cy="292608"/>
              </a:xfrm>
              <a:prstGeom prst="rect">
                <a:avLst/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Rectangle 141"/>
              <p:cNvSpPr/>
              <p:nvPr/>
            </p:nvSpPr>
            <p:spPr>
              <a:xfrm>
                <a:off x="15066569" y="18635472"/>
                <a:ext cx="246888" cy="292608"/>
              </a:xfrm>
              <a:prstGeom prst="rect">
                <a:avLst/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Rectangle 142"/>
              <p:cNvSpPr/>
              <p:nvPr/>
            </p:nvSpPr>
            <p:spPr>
              <a:xfrm>
                <a:off x="15359177" y="18635472"/>
                <a:ext cx="246888" cy="292608"/>
              </a:xfrm>
              <a:prstGeom prst="rect">
                <a:avLst/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12996708" y="19014287"/>
                <a:ext cx="2338355" cy="2891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2400" b="1" dirty="0">
                    <a:solidFill>
                      <a:srgbClr val="222222"/>
                    </a:solidFill>
                  </a:rPr>
                  <a:t>10 words = 28.33 s</a:t>
                </a:r>
              </a:p>
            </p:txBody>
          </p:sp>
          <p:sp>
            <p:nvSpPr>
              <p:cNvPr id="145" name="TextBox 144"/>
              <p:cNvSpPr txBox="1"/>
              <p:nvPr/>
            </p:nvSpPr>
            <p:spPr>
              <a:xfrm>
                <a:off x="12859089" y="19339200"/>
                <a:ext cx="2613593" cy="481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2000" b="0" dirty="0">
                    <a:solidFill>
                      <a:srgbClr val="555555"/>
                    </a:solidFill>
                  </a:rPr>
                  <a:t>1 word = 680 frames</a:t>
                </a:r>
              </a:p>
              <a:p>
                <a:pPr algn="ctr"/>
                <a:r>
                  <a:rPr sz="2000" b="0" dirty="0">
                    <a:solidFill>
                      <a:srgbClr val="555555"/>
                    </a:solidFill>
                  </a:rPr>
                  <a:t>17 cycles F1  |  20 cycles F2</a:t>
                </a:r>
              </a:p>
            </p:txBody>
          </p:sp>
          <p:sp>
            <p:nvSpPr>
              <p:cNvPr id="146" name="Rounded Rectangle 145"/>
              <p:cNvSpPr/>
              <p:nvPr/>
            </p:nvSpPr>
            <p:spPr>
              <a:xfrm>
                <a:off x="16581730" y="17876520"/>
                <a:ext cx="548640" cy="685800"/>
              </a:xfrm>
              <a:prstGeom prst="roundRect">
                <a:avLst>
                  <a:gd name="adj" fmla="val 13333"/>
                </a:avLst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2600" b="1" dirty="0">
                    <a:solidFill>
                      <a:srgbClr val="FFFFFF"/>
                    </a:solidFill>
                  </a:rPr>
                  <a:t>+</a:t>
                </a:r>
              </a:p>
            </p:txBody>
          </p:sp>
          <p:sp>
            <p:nvSpPr>
              <p:cNvPr id="147" name="Rounded Rectangle 146"/>
              <p:cNvSpPr/>
              <p:nvPr/>
            </p:nvSpPr>
            <p:spPr>
              <a:xfrm>
                <a:off x="17358970" y="17876520"/>
                <a:ext cx="1234440" cy="685800"/>
              </a:xfrm>
              <a:prstGeom prst="roundRect">
                <a:avLst>
                  <a:gd name="adj" fmla="val 10666"/>
                </a:avLst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600" b="1" dirty="0">
                    <a:solidFill>
                      <a:srgbClr val="FFFFFF"/>
                    </a:solidFill>
                  </a:rPr>
                  <a:t>10 words</a:t>
                </a:r>
              </a:p>
            </p:txBody>
          </p:sp>
          <p:sp>
            <p:nvSpPr>
              <p:cNvPr id="148" name="Rounded Rectangle 147"/>
              <p:cNvSpPr/>
              <p:nvPr/>
            </p:nvSpPr>
            <p:spPr>
              <a:xfrm>
                <a:off x="18822010" y="17876520"/>
                <a:ext cx="914400" cy="685800"/>
              </a:xfrm>
              <a:prstGeom prst="roundRect">
                <a:avLst>
                  <a:gd name="adj" fmla="val 10666"/>
                </a:avLst>
              </a:prstGeom>
              <a:solidFill>
                <a:srgbClr val="D982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600" b="1" dirty="0">
                    <a:solidFill>
                      <a:srgbClr val="FFFFFF"/>
                    </a:solidFill>
                  </a:rPr>
                  <a:t>seen?</a:t>
                </a:r>
              </a:p>
            </p:txBody>
          </p:sp>
          <p:sp>
            <p:nvSpPr>
              <p:cNvPr id="149" name="Right Arrow 148"/>
              <p:cNvSpPr/>
              <p:nvPr/>
            </p:nvSpPr>
            <p:spPr>
              <a:xfrm>
                <a:off x="17148658" y="18127980"/>
                <a:ext cx="192024" cy="182880"/>
              </a:xfrm>
              <a:prstGeom prst="rightArrow">
                <a:avLst>
                  <a:gd name="adj1" fmla="val 40000"/>
                  <a:gd name="adj2" fmla="val 50000"/>
                </a:avLst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Right Arrow 149"/>
              <p:cNvSpPr/>
              <p:nvPr/>
            </p:nvSpPr>
            <p:spPr>
              <a:xfrm>
                <a:off x="18611698" y="18127980"/>
                <a:ext cx="192024" cy="182880"/>
              </a:xfrm>
              <a:prstGeom prst="rightArrow">
                <a:avLst>
                  <a:gd name="adj1" fmla="val 40000"/>
                  <a:gd name="adj2" fmla="val 50000"/>
                </a:avLst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Rounded Rectangle 153"/>
              <p:cNvSpPr/>
              <p:nvPr/>
            </p:nvSpPr>
            <p:spPr>
              <a:xfrm>
                <a:off x="16810330" y="19156680"/>
                <a:ext cx="1188720" cy="502920"/>
              </a:xfrm>
              <a:prstGeom prst="roundRect">
                <a:avLst>
                  <a:gd name="adj" fmla="val 14545"/>
                </a:avLst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800" b="1" dirty="0">
                    <a:solidFill>
                      <a:srgbClr val="FFFFFF"/>
                    </a:solidFill>
                  </a:rPr>
                  <a:t>YES</a:t>
                </a:r>
              </a:p>
            </p:txBody>
          </p:sp>
          <p:sp>
            <p:nvSpPr>
              <p:cNvPr id="155" name="Rounded Rectangle 154"/>
              <p:cNvSpPr/>
              <p:nvPr/>
            </p:nvSpPr>
            <p:spPr>
              <a:xfrm>
                <a:off x="18227650" y="19156680"/>
                <a:ext cx="1188720" cy="502920"/>
              </a:xfrm>
              <a:prstGeom prst="roundRect">
                <a:avLst>
                  <a:gd name="adj" fmla="val 14545"/>
                </a:avLst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1800" b="1" dirty="0">
                    <a:solidFill>
                      <a:srgbClr val="FFFFFF"/>
                    </a:solidFill>
                  </a:rPr>
                  <a:t>NO</a:t>
                </a: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20594970" y="18000149"/>
                <a:ext cx="941977" cy="40011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600" b="1" dirty="0">
                    <a:solidFill>
                      <a:srgbClr val="00539B"/>
                    </a:solidFill>
                  </a:rPr>
                  <a:t>N = 30</a:t>
                </a:r>
              </a:p>
            </p:txBody>
          </p:sp>
          <p:sp>
            <p:nvSpPr>
              <p:cNvPr id="157" name="TextBox 156"/>
              <p:cNvSpPr txBox="1"/>
              <p:nvPr/>
            </p:nvSpPr>
            <p:spPr>
              <a:xfrm>
                <a:off x="21919081" y="17911492"/>
                <a:ext cx="1159922" cy="24095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000" b="0" dirty="0">
                    <a:solidFill>
                      <a:srgbClr val="222222"/>
                    </a:solidFill>
                  </a:rPr>
                  <a:t>19 female</a:t>
                </a: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21508053" y="18186920"/>
                <a:ext cx="2221747" cy="24095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000" b="0" dirty="0">
                    <a:solidFill>
                      <a:srgbClr val="222222"/>
                    </a:solidFill>
                  </a:rPr>
                  <a:t>age 24.9 ± 6.9 y (n = </a:t>
                </a:r>
                <a:r>
                  <a:rPr lang="en-US" sz="2000" b="0" dirty="0">
                    <a:solidFill>
                      <a:srgbClr val="222222"/>
                    </a:solidFill>
                  </a:rPr>
                  <a:t>30</a:t>
                </a:r>
                <a:r>
                  <a:rPr sz="2000" b="0" dirty="0">
                    <a:solidFill>
                      <a:srgbClr val="222222"/>
                    </a:solidFill>
                  </a:rPr>
                  <a:t>)</a:t>
                </a:r>
              </a:p>
            </p:txBody>
          </p:sp>
          <p:sp>
            <p:nvSpPr>
              <p:cNvPr id="159" name="Rounded Rectangle 158"/>
              <p:cNvSpPr/>
              <p:nvPr/>
            </p:nvSpPr>
            <p:spPr>
              <a:xfrm>
                <a:off x="20529194" y="18580608"/>
                <a:ext cx="3063240" cy="502920"/>
              </a:xfrm>
              <a:prstGeom prst="roundRect">
                <a:avLst>
                  <a:gd name="adj" fmla="val 14545"/>
                </a:avLst>
              </a:prstGeom>
              <a:solidFill>
                <a:srgbClr val="0053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2000" b="1" dirty="0">
                    <a:solidFill>
                      <a:srgbClr val="FFFFFF"/>
                    </a:solidFill>
                  </a:rPr>
                  <a:t>right-handed</a:t>
                </a:r>
              </a:p>
              <a:p>
                <a:pPr algn="ctr"/>
                <a:r>
                  <a:rPr sz="2000" b="1" dirty="0">
                    <a:solidFill>
                      <a:srgbClr val="FFFFFF"/>
                    </a:solidFill>
                  </a:rPr>
                  <a:t>native English speakers</a:t>
                </a:r>
              </a:p>
            </p:txBody>
          </p:sp>
          <p:sp>
            <p:nvSpPr>
              <p:cNvPr id="160" name="Rounded Rectangle 159"/>
              <p:cNvSpPr/>
              <p:nvPr/>
            </p:nvSpPr>
            <p:spPr>
              <a:xfrm>
                <a:off x="20529194" y="19156680"/>
                <a:ext cx="3063240" cy="502920"/>
              </a:xfrm>
              <a:prstGeom prst="roundRect">
                <a:avLst>
                  <a:gd name="adj" fmla="val 14545"/>
                </a:avLst>
              </a:prstGeom>
              <a:solidFill>
                <a:srgbClr val="D982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sz="2000" b="1" dirty="0">
                    <a:solidFill>
                      <a:srgbClr val="FFFFFF"/>
                    </a:solidFill>
                  </a:rPr>
                  <a:t>normal or corrected vision</a:t>
                </a:r>
              </a:p>
              <a:p>
                <a:pPr algn="ctr"/>
                <a:r>
                  <a:rPr sz="2000" b="1" dirty="0">
                    <a:solidFill>
                      <a:srgbClr val="FFFFFF"/>
                    </a:solidFill>
                  </a:rPr>
                  <a:t>no neurological history</a:t>
                </a:r>
              </a:p>
            </p:txBody>
          </p:sp>
        </p:grp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6F278846-E2BE-90EF-78DB-09B3635A1AE5}"/>
                </a:ext>
              </a:extLst>
            </p:cNvPr>
            <p:cNvSpPr txBox="1"/>
            <p:nvPr/>
          </p:nvSpPr>
          <p:spPr>
            <a:xfrm>
              <a:off x="16319500" y="17909000"/>
              <a:ext cx="3714750" cy="343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2s                 28.33s               1s + 4 x 2.83s</a:t>
              </a:r>
              <a:endParaRPr lang="en-CH" dirty="0"/>
            </a:p>
          </p:txBody>
        </p:sp>
      </p:grpSp>
      <p:grpSp>
        <p:nvGrpSpPr>
          <p:cNvPr id="301" name="Groupe 58">
            <a:extLst>
              <a:ext uri="{FF2B5EF4-FFF2-40B4-BE49-F238E27FC236}">
                <a16:creationId xmlns:a16="http://schemas.microsoft.com/office/drawing/2014/main" id="{1A79D63E-5090-A49E-ABE3-065B322D46BC}"/>
              </a:ext>
            </a:extLst>
          </p:cNvPr>
          <p:cNvGrpSpPr>
            <a:grpSpLocks noChangeAspect="1"/>
          </p:cNvGrpSpPr>
          <p:nvPr/>
        </p:nvGrpSpPr>
        <p:grpSpPr>
          <a:xfrm>
            <a:off x="24794061" y="24610279"/>
            <a:ext cx="17370617" cy="5372075"/>
            <a:chOff x="25100280" y="27614880"/>
            <a:chExt cx="16413480" cy="2370023"/>
          </a:xfrm>
        </p:grpSpPr>
        <p:sp>
          <p:nvSpPr>
            <p:cNvPr id="302" name="synth label stage">
              <a:extLst>
                <a:ext uri="{FF2B5EF4-FFF2-40B4-BE49-F238E27FC236}">
                  <a16:creationId xmlns:a16="http://schemas.microsoft.com/office/drawing/2014/main" id="{E14BEC75-1A19-FC53-5E49-953D8BA90413}"/>
                </a:ext>
              </a:extLst>
            </p:cNvPr>
            <p:cNvSpPr txBox="1"/>
            <p:nvPr/>
          </p:nvSpPr>
          <p:spPr>
            <a:xfrm>
              <a:off x="25100280" y="27614880"/>
              <a:ext cx="2057400" cy="566309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3200" b="1" dirty="0">
                  <a:solidFill>
                    <a:srgbClr val="222222"/>
                  </a:solidFill>
                </a:rPr>
                <a:t>Stage</a:t>
              </a:r>
            </a:p>
          </p:txBody>
        </p:sp>
        <p:sp>
          <p:nvSpPr>
            <p:cNvPr id="303" name="synth label FT">
              <a:extLst>
                <a:ext uri="{FF2B5EF4-FFF2-40B4-BE49-F238E27FC236}">
                  <a16:creationId xmlns:a16="http://schemas.microsoft.com/office/drawing/2014/main" id="{4199C4DD-B4CF-A4DA-6A63-8815AB60E202}"/>
                </a:ext>
              </a:extLst>
            </p:cNvPr>
            <p:cNvSpPr txBox="1"/>
            <p:nvPr/>
          </p:nvSpPr>
          <p:spPr>
            <a:xfrm>
              <a:off x="25100280" y="28785312"/>
              <a:ext cx="2057400" cy="566309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3200" b="1">
                  <a:solidFill>
                    <a:srgbClr val="7B3FA0"/>
                  </a:solidFill>
                </a:rPr>
                <a:t>Tag (FT)</a:t>
              </a:r>
            </a:p>
          </p:txBody>
        </p:sp>
        <p:sp>
          <p:nvSpPr>
            <p:cNvPr id="304" name="synth label evoked">
              <a:extLst>
                <a:ext uri="{FF2B5EF4-FFF2-40B4-BE49-F238E27FC236}">
                  <a16:creationId xmlns:a16="http://schemas.microsoft.com/office/drawing/2014/main" id="{9E51F480-45D9-EA72-F130-FAF874EC54D1}"/>
                </a:ext>
              </a:extLst>
            </p:cNvPr>
            <p:cNvSpPr txBox="1"/>
            <p:nvPr/>
          </p:nvSpPr>
          <p:spPr>
            <a:xfrm>
              <a:off x="25100280" y="28254960"/>
              <a:ext cx="2057400" cy="566309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3200" b="1">
                  <a:solidFill>
                    <a:srgbClr val="2A9D8F"/>
                  </a:solidFill>
                </a:rPr>
                <a:t>Evoked</a:t>
              </a:r>
            </a:p>
          </p:txBody>
        </p:sp>
        <p:sp>
          <p:nvSpPr>
            <p:cNvPr id="305" name="synth stage 1">
              <a:extLst>
                <a:ext uri="{FF2B5EF4-FFF2-40B4-BE49-F238E27FC236}">
                  <a16:creationId xmlns:a16="http://schemas.microsoft.com/office/drawing/2014/main" id="{0AED9A81-E839-B1F3-7A12-B65E6ED60216}"/>
                </a:ext>
              </a:extLst>
            </p:cNvPr>
            <p:cNvSpPr/>
            <p:nvPr/>
          </p:nvSpPr>
          <p:spPr>
            <a:xfrm>
              <a:off x="27249120" y="27614880"/>
              <a:ext cx="3326130" cy="566928"/>
            </a:xfrm>
            <a:prstGeom prst="roundRect">
              <a:avLst>
                <a:gd name="adj" fmla="val 25000"/>
              </a:avLst>
            </a:prstGeom>
            <a:solidFill>
              <a:srgbClr val="E8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2800" b="1" dirty="0">
                  <a:solidFill>
                    <a:srgbClr val="00539B"/>
                  </a:solidFill>
                </a:rPr>
                <a:t>V1 </a:t>
              </a:r>
              <a:endParaRPr lang="en-US" sz="2800" b="1" dirty="0">
                <a:solidFill>
                  <a:srgbClr val="00539B"/>
                </a:solidFill>
              </a:endParaRPr>
            </a:p>
            <a:p>
              <a:pPr algn="ctr"/>
              <a:r>
                <a:rPr sz="2800" b="1" dirty="0">
                  <a:solidFill>
                    <a:srgbClr val="00539B"/>
                  </a:solidFill>
                </a:rPr>
                <a:t> ~100 ms</a:t>
              </a:r>
            </a:p>
          </p:txBody>
        </p:sp>
        <p:sp>
          <p:nvSpPr>
            <p:cNvPr id="306" name="synth arrow 1">
              <a:extLst>
                <a:ext uri="{FF2B5EF4-FFF2-40B4-BE49-F238E27FC236}">
                  <a16:creationId xmlns:a16="http://schemas.microsoft.com/office/drawing/2014/main" id="{6740A694-8864-A097-D358-555373457EE9}"/>
                </a:ext>
              </a:extLst>
            </p:cNvPr>
            <p:cNvSpPr/>
            <p:nvPr/>
          </p:nvSpPr>
          <p:spPr>
            <a:xfrm>
              <a:off x="30620969" y="27761184"/>
              <a:ext cx="228600" cy="274320"/>
            </a:xfrm>
            <a:prstGeom prst="rightArrow">
              <a:avLst/>
            </a:prstGeom>
            <a:solidFill>
              <a:srgbClr val="0053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07" name="synth evoked 1">
              <a:extLst>
                <a:ext uri="{FF2B5EF4-FFF2-40B4-BE49-F238E27FC236}">
                  <a16:creationId xmlns:a16="http://schemas.microsoft.com/office/drawing/2014/main" id="{D5DE66D3-5797-3AD8-8BE5-E3A0A56502F3}"/>
                </a:ext>
              </a:extLst>
            </p:cNvPr>
            <p:cNvSpPr/>
            <p:nvPr/>
          </p:nvSpPr>
          <p:spPr>
            <a:xfrm>
              <a:off x="27249120" y="28254960"/>
              <a:ext cx="3503412" cy="457200"/>
            </a:xfrm>
            <a:prstGeom prst="roundRect">
              <a:avLst>
                <a:gd name="adj" fmla="val 25000"/>
              </a:avLst>
            </a:prstGeom>
            <a:solidFill>
              <a:srgbClr val="EEEE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r>
                <a:rPr sz="2800" b="0" dirty="0">
                  <a:solidFill>
                    <a:srgbClr val="555555"/>
                  </a:solidFill>
                </a:rPr>
                <a:t>✗ no Word ≠ Non-word</a:t>
              </a:r>
            </a:p>
          </p:txBody>
        </p:sp>
        <p:sp>
          <p:nvSpPr>
            <p:cNvPr id="308" name="synth stage 2">
              <a:extLst>
                <a:ext uri="{FF2B5EF4-FFF2-40B4-BE49-F238E27FC236}">
                  <a16:creationId xmlns:a16="http://schemas.microsoft.com/office/drawing/2014/main" id="{2D0317AF-81F8-D87F-DCA7-201FC04ADD46}"/>
                </a:ext>
              </a:extLst>
            </p:cNvPr>
            <p:cNvSpPr/>
            <p:nvPr/>
          </p:nvSpPr>
          <p:spPr>
            <a:xfrm>
              <a:off x="30895290" y="27614880"/>
              <a:ext cx="3326130" cy="566928"/>
            </a:xfrm>
            <a:prstGeom prst="roundRect">
              <a:avLst>
                <a:gd name="adj" fmla="val 25000"/>
              </a:avLst>
            </a:prstGeom>
            <a:solidFill>
              <a:srgbClr val="E8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2800" b="1" dirty="0" err="1">
                  <a:solidFill>
                    <a:srgbClr val="00539B"/>
                  </a:solidFill>
                </a:rPr>
                <a:t>vOT</a:t>
              </a:r>
              <a:r>
                <a:rPr sz="2800" b="1" dirty="0">
                  <a:solidFill>
                    <a:srgbClr val="00539B"/>
                  </a:solidFill>
                </a:rPr>
                <a:t> / VWFA </a:t>
              </a:r>
              <a:endParaRPr lang="en-US" sz="2800" b="1" dirty="0">
                <a:solidFill>
                  <a:srgbClr val="00539B"/>
                </a:solidFill>
              </a:endParaRPr>
            </a:p>
            <a:p>
              <a:pPr algn="ctr"/>
              <a:r>
                <a:rPr sz="2800" b="1" dirty="0">
                  <a:solidFill>
                    <a:srgbClr val="00539B"/>
                  </a:solidFill>
                </a:rPr>
                <a:t> ~150–225 ms</a:t>
              </a:r>
            </a:p>
          </p:txBody>
        </p:sp>
        <p:sp>
          <p:nvSpPr>
            <p:cNvPr id="309" name="synth arrow 2">
              <a:extLst>
                <a:ext uri="{FF2B5EF4-FFF2-40B4-BE49-F238E27FC236}">
                  <a16:creationId xmlns:a16="http://schemas.microsoft.com/office/drawing/2014/main" id="{5E943948-3275-9658-92D2-2DE92EBAE317}"/>
                </a:ext>
              </a:extLst>
            </p:cNvPr>
            <p:cNvSpPr/>
            <p:nvPr/>
          </p:nvSpPr>
          <p:spPr>
            <a:xfrm>
              <a:off x="34267140" y="27761184"/>
              <a:ext cx="228600" cy="274320"/>
            </a:xfrm>
            <a:prstGeom prst="rightArrow">
              <a:avLst/>
            </a:prstGeom>
            <a:solidFill>
              <a:srgbClr val="0053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10" name="synth evoked 2">
              <a:extLst>
                <a:ext uri="{FF2B5EF4-FFF2-40B4-BE49-F238E27FC236}">
                  <a16:creationId xmlns:a16="http://schemas.microsoft.com/office/drawing/2014/main" id="{1E29956D-E5FC-AC38-85FD-95E4D6B22E59}"/>
                </a:ext>
              </a:extLst>
            </p:cNvPr>
            <p:cNvSpPr/>
            <p:nvPr/>
          </p:nvSpPr>
          <p:spPr>
            <a:xfrm>
              <a:off x="30895290" y="28254960"/>
              <a:ext cx="3326130" cy="457200"/>
            </a:xfrm>
            <a:prstGeom prst="roundRect">
              <a:avLst>
                <a:gd name="adj" fmla="val 25000"/>
              </a:avLst>
            </a:prstGeom>
            <a:solidFill>
              <a:srgbClr val="EEEE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2800" b="0" dirty="0">
                  <a:solidFill>
                    <a:srgbClr val="555555"/>
                  </a:solidFill>
                </a:rPr>
                <a:t>✗ 150–225 ms </a:t>
              </a:r>
              <a:endParaRPr lang="en-US" sz="2800" dirty="0">
                <a:solidFill>
                  <a:srgbClr val="555555"/>
                </a:solidFill>
              </a:endParaRPr>
            </a:p>
            <a:p>
              <a:pPr algn="ctr"/>
              <a:r>
                <a:rPr sz="2800" b="0" dirty="0">
                  <a:solidFill>
                    <a:srgbClr val="555555"/>
                  </a:solidFill>
                </a:rPr>
                <a:t>late &amp; fragile</a:t>
              </a:r>
            </a:p>
          </p:txBody>
        </p:sp>
        <p:sp>
          <p:nvSpPr>
            <p:cNvPr id="311" name="synth stage 3">
              <a:extLst>
                <a:ext uri="{FF2B5EF4-FFF2-40B4-BE49-F238E27FC236}">
                  <a16:creationId xmlns:a16="http://schemas.microsoft.com/office/drawing/2014/main" id="{1A0B9601-C18C-5E72-EAE5-FBD2BE585604}"/>
                </a:ext>
              </a:extLst>
            </p:cNvPr>
            <p:cNvSpPr/>
            <p:nvPr/>
          </p:nvSpPr>
          <p:spPr>
            <a:xfrm>
              <a:off x="34541460" y="27614880"/>
              <a:ext cx="3326130" cy="566928"/>
            </a:xfrm>
            <a:prstGeom prst="roundRect">
              <a:avLst>
                <a:gd name="adj" fmla="val 25000"/>
              </a:avLst>
            </a:prstGeom>
            <a:solidFill>
              <a:srgbClr val="E8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2800" b="1" dirty="0">
                  <a:solidFill>
                    <a:srgbClr val="00539B"/>
                  </a:solidFill>
                </a:rPr>
                <a:t>Post. temporal  ~250–600 ms</a:t>
              </a:r>
            </a:p>
          </p:txBody>
        </p:sp>
        <p:sp>
          <p:nvSpPr>
            <p:cNvPr id="312" name="synth arrow 3">
              <a:extLst>
                <a:ext uri="{FF2B5EF4-FFF2-40B4-BE49-F238E27FC236}">
                  <a16:creationId xmlns:a16="http://schemas.microsoft.com/office/drawing/2014/main" id="{B28AA5C1-BCD4-C8FE-4BD7-B245278E3ECB}"/>
                </a:ext>
              </a:extLst>
            </p:cNvPr>
            <p:cNvSpPr/>
            <p:nvPr/>
          </p:nvSpPr>
          <p:spPr>
            <a:xfrm>
              <a:off x="37913310" y="27761184"/>
              <a:ext cx="228600" cy="274320"/>
            </a:xfrm>
            <a:prstGeom prst="rightArrow">
              <a:avLst/>
            </a:prstGeom>
            <a:solidFill>
              <a:srgbClr val="0053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13" name="synth evoked 3">
              <a:extLst>
                <a:ext uri="{FF2B5EF4-FFF2-40B4-BE49-F238E27FC236}">
                  <a16:creationId xmlns:a16="http://schemas.microsoft.com/office/drawing/2014/main" id="{BEF0585A-BDC4-3225-380E-52092C3BDC1D}"/>
                </a:ext>
              </a:extLst>
            </p:cNvPr>
            <p:cNvSpPr/>
            <p:nvPr/>
          </p:nvSpPr>
          <p:spPr>
            <a:xfrm>
              <a:off x="34541460" y="28254960"/>
              <a:ext cx="3326130" cy="457200"/>
            </a:xfrm>
            <a:prstGeom prst="roundRect">
              <a:avLst>
                <a:gd name="adj" fmla="val 25000"/>
              </a:avLst>
            </a:prstGeom>
            <a:solidFill>
              <a:srgbClr val="DDF1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2800" b="1" dirty="0">
                  <a:solidFill>
                    <a:srgbClr val="2A9D8F"/>
                  </a:solidFill>
                </a:rPr>
                <a:t>✓ Word &gt; Nonword</a:t>
              </a:r>
            </a:p>
          </p:txBody>
        </p:sp>
        <p:sp>
          <p:nvSpPr>
            <p:cNvPr id="314" name="synth stage 4">
              <a:extLst>
                <a:ext uri="{FF2B5EF4-FFF2-40B4-BE49-F238E27FC236}">
                  <a16:creationId xmlns:a16="http://schemas.microsoft.com/office/drawing/2014/main" id="{621AF979-38E6-67A0-0D38-603B55974E34}"/>
                </a:ext>
              </a:extLst>
            </p:cNvPr>
            <p:cNvSpPr/>
            <p:nvPr/>
          </p:nvSpPr>
          <p:spPr>
            <a:xfrm>
              <a:off x="38187630" y="27614880"/>
              <a:ext cx="3326130" cy="566928"/>
            </a:xfrm>
            <a:prstGeom prst="roundRect">
              <a:avLst>
                <a:gd name="adj" fmla="val 25000"/>
              </a:avLst>
            </a:prstGeom>
            <a:solidFill>
              <a:srgbClr val="E8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2800" b="1" dirty="0">
                  <a:solidFill>
                    <a:srgbClr val="00539B"/>
                  </a:solidFill>
                </a:rPr>
                <a:t>Ant. temporal  sustained</a:t>
              </a:r>
            </a:p>
          </p:txBody>
        </p:sp>
        <p:sp>
          <p:nvSpPr>
            <p:cNvPr id="315" name="synth evoked 4">
              <a:extLst>
                <a:ext uri="{FF2B5EF4-FFF2-40B4-BE49-F238E27FC236}">
                  <a16:creationId xmlns:a16="http://schemas.microsoft.com/office/drawing/2014/main" id="{C9EEF5BC-6ED5-3B7C-F716-028D72CC5786}"/>
                </a:ext>
              </a:extLst>
            </p:cNvPr>
            <p:cNvSpPr/>
            <p:nvPr/>
          </p:nvSpPr>
          <p:spPr>
            <a:xfrm>
              <a:off x="38187630" y="28254960"/>
              <a:ext cx="3326130" cy="457200"/>
            </a:xfrm>
            <a:prstGeom prst="roundRect">
              <a:avLst>
                <a:gd name="adj" fmla="val 25000"/>
              </a:avLst>
            </a:prstGeom>
            <a:solidFill>
              <a:srgbClr val="DDF1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2800" b="1" dirty="0">
                  <a:solidFill>
                    <a:srgbClr val="2A9D8F"/>
                  </a:solidFill>
                </a:rPr>
                <a:t>✓ Word &gt; Nonword, sustained</a:t>
              </a:r>
            </a:p>
          </p:txBody>
        </p:sp>
        <p:sp>
          <p:nvSpPr>
            <p:cNvPr id="316" name="synth FT row">
              <a:extLst>
                <a:ext uri="{FF2B5EF4-FFF2-40B4-BE49-F238E27FC236}">
                  <a16:creationId xmlns:a16="http://schemas.microsoft.com/office/drawing/2014/main" id="{890EF3A0-E98D-A72B-23A0-E7C3F86A7688}"/>
                </a:ext>
              </a:extLst>
            </p:cNvPr>
            <p:cNvSpPr/>
            <p:nvPr/>
          </p:nvSpPr>
          <p:spPr>
            <a:xfrm>
              <a:off x="27249120" y="28785312"/>
              <a:ext cx="14264640" cy="457200"/>
            </a:xfrm>
            <a:prstGeom prst="roundRect">
              <a:avLst>
                <a:gd name="adj" fmla="val 25000"/>
              </a:avLst>
            </a:prstGeom>
            <a:solidFill>
              <a:srgbClr val="F1E9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2800" b="0" dirty="0">
                  <a:solidFill>
                    <a:srgbClr val="7B3FA0"/>
                  </a:solidFill>
                </a:rPr>
                <a:t>✓ follows the visual input (occipital: consonant strings &gt; words, visual complexity)</a:t>
              </a:r>
              <a:endParaRPr lang="en-US" sz="2800" b="0" dirty="0">
                <a:solidFill>
                  <a:srgbClr val="7B3FA0"/>
                </a:solidFill>
              </a:endParaRPr>
            </a:p>
            <a:p>
              <a:pPr algn="ctr"/>
              <a:r>
                <a:rPr sz="2800" b="0" dirty="0">
                  <a:solidFill>
                    <a:srgbClr val="7B3FA0"/>
                  </a:solidFill>
                </a:rPr>
                <a:t>✗ left-temporal: Words ≈ Non-words (|dz| &lt; .5, BF01 = 4.2)</a:t>
              </a:r>
            </a:p>
          </p:txBody>
        </p:sp>
        <p:sp>
          <p:nvSpPr>
            <p:cNvPr id="317" name="synth aims line">
              <a:extLst>
                <a:ext uri="{FF2B5EF4-FFF2-40B4-BE49-F238E27FC236}">
                  <a16:creationId xmlns:a16="http://schemas.microsoft.com/office/drawing/2014/main" id="{CC261B58-A7B0-1F5E-11B4-14A451116D3D}"/>
                </a:ext>
              </a:extLst>
            </p:cNvPr>
            <p:cNvSpPr txBox="1"/>
            <p:nvPr/>
          </p:nvSpPr>
          <p:spPr>
            <a:xfrm>
              <a:off x="25100280" y="29361384"/>
              <a:ext cx="14215848" cy="623519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3200" b="1" dirty="0">
                  <a:solidFill>
                    <a:srgbClr val="00539B"/>
                  </a:solidFill>
                </a:rPr>
                <a:t>Aim 1 — partly: </a:t>
              </a:r>
              <a:r>
                <a:rPr sz="3200" b="0" dirty="0">
                  <a:solidFill>
                    <a:srgbClr val="00539B"/>
                  </a:solidFill>
                </a:rPr>
                <a:t>temporal stages replicated, </a:t>
              </a:r>
              <a:r>
                <a:rPr sz="3200" b="0" dirty="0" err="1">
                  <a:solidFill>
                    <a:srgbClr val="00539B"/>
                  </a:solidFill>
                </a:rPr>
                <a:t>vOT</a:t>
              </a:r>
              <a:r>
                <a:rPr sz="3200" b="0" dirty="0">
                  <a:solidFill>
                    <a:srgbClr val="00539B"/>
                  </a:solidFill>
                </a:rPr>
                <a:t> only late and fragile, latency order </a:t>
              </a:r>
              <a:r>
                <a:rPr sz="3200" b="0" dirty="0" err="1">
                  <a:solidFill>
                    <a:srgbClr val="00539B"/>
                  </a:solidFill>
                </a:rPr>
                <a:t>n.s</a:t>
              </a:r>
              <a:r>
                <a:rPr sz="3200" b="0" dirty="0">
                  <a:solidFill>
                    <a:srgbClr val="00539B"/>
                  </a:solidFill>
                </a:rPr>
                <a:t>.  </a:t>
              </a:r>
              <a:endParaRPr lang="en-US" sz="3200" b="0" dirty="0">
                <a:solidFill>
                  <a:srgbClr val="00539B"/>
                </a:solidFill>
              </a:endParaRPr>
            </a:p>
            <a:p>
              <a:pPr>
                <a:spcAft>
                  <a:spcPts val="400"/>
                </a:spcAft>
              </a:pPr>
              <a:r>
                <a:rPr sz="3200" b="1" dirty="0">
                  <a:solidFill>
                    <a:srgbClr val="00539B"/>
                  </a:solidFill>
                </a:rPr>
                <a:t>Aim 2 — no: </a:t>
              </a:r>
              <a:r>
                <a:rPr sz="3200" b="0" dirty="0">
                  <a:solidFill>
                    <a:srgbClr val="00539B"/>
                  </a:solidFill>
                </a:rPr>
                <a:t>the tag indexes visual input, not </a:t>
              </a:r>
              <a:r>
                <a:rPr sz="3200" b="0" dirty="0" err="1">
                  <a:solidFill>
                    <a:srgbClr val="00539B"/>
                  </a:solidFill>
                </a:rPr>
                <a:t>wordness</a:t>
              </a:r>
              <a:r>
                <a:rPr sz="3200" b="0" dirty="0">
                  <a:solidFill>
                    <a:srgbClr val="00539B"/>
                  </a:solidFill>
                </a:rPr>
                <a:t>; the word-locked response does.</a:t>
              </a:r>
            </a:p>
          </p:txBody>
        </p:sp>
      </p:grpSp>
      <p:sp>
        <p:nvSpPr>
          <p:cNvPr id="323" name="Rectangle 322">
            <a:extLst>
              <a:ext uri="{FF2B5EF4-FFF2-40B4-BE49-F238E27FC236}">
                <a16:creationId xmlns:a16="http://schemas.microsoft.com/office/drawing/2014/main" id="{EC47B470-10E3-1650-65E1-F6A215E6814A}"/>
              </a:ext>
            </a:extLst>
          </p:cNvPr>
          <p:cNvSpPr/>
          <p:nvPr/>
        </p:nvSpPr>
        <p:spPr>
          <a:xfrm>
            <a:off x="697832" y="1203158"/>
            <a:ext cx="5549213" cy="3348187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62DBE00-2325-A59D-4DDF-39D92A430FFF}"/>
              </a:ext>
            </a:extLst>
          </p:cNvPr>
          <p:cNvGrpSpPr/>
          <p:nvPr/>
        </p:nvGrpSpPr>
        <p:grpSpPr>
          <a:xfrm>
            <a:off x="-185162" y="-231553"/>
            <a:ext cx="7315200" cy="3284375"/>
            <a:chOff x="-164369" y="5981429"/>
            <a:chExt cx="7315200" cy="3284375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1670686-BD4D-8C49-56E7-B3E364032E52}"/>
                </a:ext>
              </a:extLst>
            </p:cNvPr>
            <p:cNvSpPr/>
            <p:nvPr/>
          </p:nvSpPr>
          <p:spPr>
            <a:xfrm>
              <a:off x="15782" y="6211649"/>
              <a:ext cx="6954898" cy="28239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A4A6948F-A4CA-A6A9-7D7A-1D24D1109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-164369" y="5981429"/>
              <a:ext cx="7315200" cy="3284375"/>
            </a:xfrm>
            <a:prstGeom prst="rect">
              <a:avLst/>
            </a:prstGeom>
          </p:spPr>
        </p:pic>
      </p:grpSp>
      <p:pic>
        <p:nvPicPr>
          <p:cNvPr id="325" name="Picture 324">
            <a:extLst>
              <a:ext uri="{FF2B5EF4-FFF2-40B4-BE49-F238E27FC236}">
                <a16:creationId xmlns:a16="http://schemas.microsoft.com/office/drawing/2014/main" id="{021EA0B0-E2BD-92A3-2DAD-B149E8CD122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2237" y="3076869"/>
            <a:ext cx="6056929" cy="3421043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B738E0AE-3227-99C0-06DB-8CD9F6F84001}"/>
              </a:ext>
            </a:extLst>
          </p:cNvPr>
          <p:cNvGrpSpPr/>
          <p:nvPr/>
        </p:nvGrpSpPr>
        <p:grpSpPr>
          <a:xfrm>
            <a:off x="-292781" y="6779884"/>
            <a:ext cx="6920396" cy="2367292"/>
            <a:chOff x="-328025" y="8371623"/>
            <a:chExt cx="6920396" cy="236729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397F747-C153-3225-1B11-B4A90A993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1822"/>
            <a:stretch>
              <a:fillRect/>
            </a:stretch>
          </p:blipFill>
          <p:spPr>
            <a:xfrm>
              <a:off x="-328025" y="8371623"/>
              <a:ext cx="2916262" cy="2367292"/>
            </a:xfrm>
            <a:prstGeom prst="rect">
              <a:avLst/>
            </a:prstGeom>
          </p:spPr>
        </p:pic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50684A6E-A690-4B01-F7B2-9D0D85198B98}"/>
                </a:ext>
              </a:extLst>
            </p:cNvPr>
            <p:cNvSpPr txBox="1"/>
            <p:nvPr/>
          </p:nvSpPr>
          <p:spPr>
            <a:xfrm>
              <a:off x="2225120" y="9279655"/>
              <a:ext cx="43672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Kishen Senziani </a:t>
              </a:r>
              <a:r>
                <a:rPr lang="en-US" sz="4800" baseline="30000" dirty="0">
                  <a:solidFill>
                    <a:schemeClr val="bg1"/>
                  </a:solidFill>
                </a:rPr>
                <a:t>1</a:t>
              </a:r>
              <a:endParaRPr lang="en-CH" sz="4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94F116F-B923-DD76-CB82-79A98E3BA0B8}"/>
              </a:ext>
            </a:extLst>
          </p:cNvPr>
          <p:cNvGrpSpPr/>
          <p:nvPr/>
        </p:nvGrpSpPr>
        <p:grpSpPr>
          <a:xfrm>
            <a:off x="99702" y="12371699"/>
            <a:ext cx="6527913" cy="2451044"/>
            <a:chOff x="64458" y="13963438"/>
            <a:chExt cx="6527913" cy="245104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9167833-415F-E8E5-A227-9A2831BE4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/>
            <a:stretch>
              <a:fillRect/>
            </a:stretch>
          </p:blipFill>
          <p:spPr>
            <a:xfrm>
              <a:off x="64458" y="13963438"/>
              <a:ext cx="3156389" cy="2451044"/>
            </a:xfrm>
            <a:prstGeom prst="rect">
              <a:avLst/>
            </a:prstGeom>
          </p:spPr>
        </p:pic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55E9D895-5A22-0E98-A6C0-2DDA85329333}"/>
                </a:ext>
              </a:extLst>
            </p:cNvPr>
            <p:cNvSpPr txBox="1"/>
            <p:nvPr/>
          </p:nvSpPr>
          <p:spPr>
            <a:xfrm>
              <a:off x="2225120" y="14696116"/>
              <a:ext cx="436725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Nina </a:t>
              </a:r>
              <a:r>
                <a:rPr lang="en-US" sz="4800" dirty="0" err="1">
                  <a:solidFill>
                    <a:schemeClr val="bg1"/>
                  </a:solidFill>
                </a:rPr>
                <a:t>Kazanina</a:t>
              </a:r>
              <a:r>
                <a:rPr lang="en-US" sz="4800" dirty="0">
                  <a:solidFill>
                    <a:schemeClr val="bg1"/>
                  </a:solidFill>
                </a:rPr>
                <a:t> </a:t>
              </a:r>
              <a:r>
                <a:rPr lang="en-US" sz="4800" baseline="30000" dirty="0">
                  <a:solidFill>
                    <a:schemeClr val="bg1"/>
                  </a:solidFill>
                </a:rPr>
                <a:t>1</a:t>
              </a:r>
            </a:p>
            <a:p>
              <a:r>
                <a:rPr lang="en-US" sz="4800" baseline="30000" dirty="0" err="1">
                  <a:solidFill>
                    <a:schemeClr val="bg1"/>
                  </a:solidFill>
                </a:rPr>
                <a:t>Neurolingo</a:t>
              </a:r>
              <a:r>
                <a:rPr lang="en-US" sz="4800" baseline="30000" dirty="0">
                  <a:solidFill>
                    <a:schemeClr val="bg1"/>
                  </a:solidFill>
                </a:rPr>
                <a:t> lab </a:t>
              </a:r>
              <a:endParaRPr lang="en-CH" sz="4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B6409D7-F7DA-2408-79F1-B54E343CB860}"/>
              </a:ext>
            </a:extLst>
          </p:cNvPr>
          <p:cNvGrpSpPr/>
          <p:nvPr/>
        </p:nvGrpSpPr>
        <p:grpSpPr>
          <a:xfrm>
            <a:off x="99702" y="9618652"/>
            <a:ext cx="5972146" cy="2367292"/>
            <a:chOff x="64458" y="11210391"/>
            <a:chExt cx="5972146" cy="2367292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E2374C2-2CBE-47D5-98CA-F7CFA50BB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64458" y="11210391"/>
              <a:ext cx="2367292" cy="2367292"/>
            </a:xfrm>
            <a:prstGeom prst="rect">
              <a:avLst/>
            </a:prstGeom>
          </p:spPr>
        </p:pic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96583E6D-3EAD-89B0-5E1B-A0B0371796E3}"/>
                </a:ext>
              </a:extLst>
            </p:cNvPr>
            <p:cNvSpPr txBox="1"/>
            <p:nvPr/>
          </p:nvSpPr>
          <p:spPr>
            <a:xfrm>
              <a:off x="2225120" y="11987886"/>
              <a:ext cx="38114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Berk </a:t>
              </a:r>
              <a:r>
                <a:rPr lang="en-US" sz="4800" dirty="0" err="1">
                  <a:solidFill>
                    <a:schemeClr val="bg1"/>
                  </a:solidFill>
                </a:rPr>
                <a:t>Gercek</a:t>
              </a:r>
              <a:r>
                <a:rPr lang="en-US" sz="4800" dirty="0">
                  <a:solidFill>
                    <a:schemeClr val="bg1"/>
                  </a:solidFill>
                </a:rPr>
                <a:t> </a:t>
              </a:r>
              <a:r>
                <a:rPr lang="en-US" sz="4800" baseline="30000" dirty="0">
                  <a:solidFill>
                    <a:schemeClr val="bg1"/>
                  </a:solidFill>
                </a:rPr>
                <a:t>1</a:t>
              </a:r>
              <a:endParaRPr lang="en-CH" sz="4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7" name="Fig block 3 tag vs evoked, both ROIs (SVG)" descr="block1_4cond_violin.png">
            <a:extLst>
              <a:ext uri="{FF2B5EF4-FFF2-40B4-BE49-F238E27FC236}">
                <a16:creationId xmlns:a16="http://schemas.microsoft.com/office/drawing/2014/main" id="{0F0A5D1F-5C60-33C7-C9BE-CA2BE2572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4794061" y="17653746"/>
            <a:ext cx="17083221" cy="413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6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042899D-FE96-44FB-95CC-FE2207095593}" vid="{414AA121-51B8-4E35-8B8B-99A786789BA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937435873F324D9C1C66E8A995ECE3" ma:contentTypeVersion="11" ma:contentTypeDescription="Crée un document." ma:contentTypeScope="" ma:versionID="34c73f8e670870552eddaf05babda7f1">
  <xsd:schema xmlns:xsd="http://www.w3.org/2001/XMLSchema" xmlns:xs="http://www.w3.org/2001/XMLSchema" xmlns:p="http://schemas.microsoft.com/office/2006/metadata/properties" xmlns:ns3="60e03e87-a2d2-47b8-8f66-1160894e83bb" targetNamespace="http://schemas.microsoft.com/office/2006/metadata/properties" ma:root="true" ma:fieldsID="08b65ff0434a3338a231c36b9de3a013" ns3:_="">
    <xsd:import namespace="60e03e87-a2d2-47b8-8f66-1160894e83b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03e87-a2d2-47b8-8f66-1160894e83b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0e03e87-a2d2-47b8-8f66-1160894e83bb" xsi:nil="true"/>
  </documentManagement>
</p:properties>
</file>

<file path=customXml/itemProps1.xml><?xml version="1.0" encoding="utf-8"?>
<ds:datastoreItem xmlns:ds="http://schemas.openxmlformats.org/officeDocument/2006/customXml" ds:itemID="{326C1905-452F-4568-94F2-18EDE93A3B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e03e87-a2d2-47b8-8f66-1160894e83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03E07C-EAEB-409E-A375-5063B6E11F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522692-5B41-40FB-84DE-34E1550CD18F}">
  <ds:schemaRefs>
    <ds:schemaRef ds:uri="60e03e87-a2d2-47b8-8f66-1160894e83bb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NCCR_Poster_Template</Template>
  <TotalTime>1604</TotalTime>
  <Words>1382</Words>
  <Application>Microsoft Office PowerPoint</Application>
  <PresentationFormat>Custom</PresentationFormat>
  <Paragraphs>129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-apple-system</vt:lpstr>
      <vt:lpstr>Aptos</vt:lpstr>
      <vt:lpstr>Aptos Display</vt:lpstr>
      <vt:lpstr>Arial</vt:lpstr>
      <vt:lpstr>Calibri</vt:lpstr>
      <vt:lpstr>Calibri Light</vt:lpstr>
      <vt:lpstr>Inter</vt:lpstr>
      <vt:lpstr>Ubuntu</vt:lpstr>
      <vt:lpstr>Office Theme</vt:lpstr>
      <vt:lpstr>Custom Design</vt:lpstr>
      <vt:lpstr>Characterizing word processing pathway using frequency tagging​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Célia Sophie Bernadette Lazzarotto</dc:creator>
  <cp:lastModifiedBy>Kishen Senziani</cp:lastModifiedBy>
  <cp:revision>94</cp:revision>
  <cp:lastPrinted>2026-09-29T13:12:11Z</cp:lastPrinted>
  <dcterms:created xsi:type="dcterms:W3CDTF">2026-09-11T08:43:29Z</dcterms:created>
  <dcterms:modified xsi:type="dcterms:W3CDTF">2026-09-29T13:42:42Z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0x0101004D937435873F324D9C1C66E8A995ECE3</vt:lpwstr>
  </property>
  <property fmtid="{D5CDD505-2E9C-101B-9397-08002B2CF9AE}" pid="3" name="MediaServiceImageTags">
    <vt:lpwstr/>
  </property>
</Properties>
</file>